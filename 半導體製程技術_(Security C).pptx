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8288000" cy="10287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Shape 15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59" name="Shape 15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MOSFET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顧名思義就是</a:t>
            </a:r>
            <a:endParaRPr>
              <a:latin typeface="+mn-lt"/>
              <a:ea typeface="+mn-ea"/>
              <a:cs typeface="+mn-cs"/>
              <a:sym typeface="Helvetica"/>
            </a:endParaRPr>
          </a:p>
          <a:p>
            <a:pPr/>
            <a:r>
              <a:t>-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金屬</a:t>
            </a:r>
            <a:endParaRPr>
              <a:latin typeface="+mn-lt"/>
              <a:ea typeface="+mn-ea"/>
              <a:cs typeface="+mn-cs"/>
              <a:sym typeface="Helvetica"/>
            </a:endParaRPr>
          </a:p>
          <a:p>
            <a:pPr/>
            <a:r>
              <a:t>-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氧化物</a:t>
            </a:r>
            <a:endParaRPr>
              <a:latin typeface="+mn-lt"/>
              <a:ea typeface="+mn-ea"/>
              <a:cs typeface="+mn-cs"/>
              <a:sym typeface="Helvetica"/>
            </a:endParaRPr>
          </a:p>
          <a:p>
            <a:pPr/>
            <a:r>
              <a:t>-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半導體</a:t>
            </a:r>
            <a:endParaRPr>
              <a:latin typeface="+mn-lt"/>
              <a:ea typeface="+mn-ea"/>
              <a:cs typeface="+mn-cs"/>
              <a:sym typeface="Helvetica"/>
            </a:endParaRPr>
          </a:p>
          <a:p>
            <a:pPr/>
            <a:endParaRPr>
              <a:latin typeface="+mn-lt"/>
              <a:ea typeface="+mn-ea"/>
              <a:cs typeface="+mn-cs"/>
              <a:sym typeface="Helvetica"/>
            </a:endParaRPr>
          </a:p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它的</a:t>
            </a:r>
            <a:r>
              <a:t>3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個端點，可以這麼說</a:t>
            </a:r>
            <a:endParaRPr>
              <a:latin typeface="+mn-lt"/>
              <a:ea typeface="+mn-ea"/>
              <a:cs typeface="+mn-cs"/>
              <a:sym typeface="Helvetica"/>
            </a:endParaRPr>
          </a:p>
          <a:p>
            <a:pPr/>
            <a:r>
              <a:t>Source: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多數載子來源</a:t>
            </a:r>
            <a:endParaRPr>
              <a:latin typeface="+mn-lt"/>
              <a:ea typeface="+mn-ea"/>
              <a:cs typeface="+mn-cs"/>
              <a:sym typeface="Helvetica"/>
            </a:endParaRPr>
          </a:p>
          <a:p>
            <a:pPr/>
            <a:r>
              <a:t>Drain: 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多數載子流向哪裡</a:t>
            </a:r>
            <a:endParaRPr>
              <a:latin typeface="+mn-lt"/>
              <a:ea typeface="+mn-ea"/>
              <a:cs typeface="+mn-cs"/>
              <a:sym typeface="Helvetica"/>
            </a:endParaRPr>
          </a:p>
          <a:p>
            <a:pPr/>
            <a:r>
              <a:t>Gate : 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控制門要不要開</a:t>
            </a:r>
            <a:endParaRPr>
              <a:latin typeface="+mn-lt"/>
              <a:ea typeface="+mn-ea"/>
              <a:cs typeface="+mn-cs"/>
              <a:sym typeface="Helvetica"/>
            </a:endParaRPr>
          </a:p>
          <a:p>
            <a:pPr/>
            <a:endParaRPr>
              <a:latin typeface="+mn-lt"/>
              <a:ea typeface="+mn-ea"/>
              <a:cs typeface="+mn-cs"/>
              <a:sym typeface="Helvetica"/>
            </a:endParaRPr>
          </a:p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另外</a:t>
            </a:r>
            <a:r>
              <a:t>Bulk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端則是避免基底效應的產生，防止</a:t>
            </a:r>
            <a:r>
              <a:t>MOS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需要加上更大的電壓才能倒通。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Shape 22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28" name="Shape 22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•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低介電質材料</a:t>
            </a:r>
            <a:endParaRPr>
              <a:latin typeface="+mn-lt"/>
              <a:ea typeface="+mn-ea"/>
              <a:cs typeface="+mn-cs"/>
              <a:sym typeface="Helvetica"/>
            </a:endParaRPr>
          </a:p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由於先進製程不斷縮小電路尺寸，晶片內部的線與線之間的距離不斷縮小，容易產生寄生電容，而且會讓高頻訊號偶合到其他導線。</a:t>
            </a:r>
            <a:endParaRPr>
              <a:latin typeface="+mn-lt"/>
              <a:ea typeface="+mn-ea"/>
              <a:cs typeface="+mn-cs"/>
              <a:sym typeface="Helvetica"/>
            </a:endParaRPr>
          </a:p>
          <a:p>
            <a:pPr/>
            <a:endParaRPr>
              <a:latin typeface="+mn-lt"/>
              <a:ea typeface="+mn-ea"/>
              <a:cs typeface="+mn-cs"/>
              <a:sym typeface="Helvetica"/>
            </a:endParaRPr>
          </a:p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解決辦法主要是使用低界電值的材料來改善。</a:t>
            </a:r>
            <a:endParaRPr>
              <a:latin typeface="+mn-lt"/>
              <a:ea typeface="+mn-ea"/>
              <a:cs typeface="+mn-cs"/>
              <a:sym typeface="Helvetica"/>
            </a:endParaRPr>
          </a:p>
          <a:p>
            <a:pPr/>
            <a:endParaRPr>
              <a:latin typeface="+mn-lt"/>
              <a:ea typeface="+mn-ea"/>
              <a:cs typeface="+mn-cs"/>
              <a:sym typeface="Helvetica"/>
            </a:endParaRPr>
          </a:p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右下圖中電容，兩金屬板的距離</a:t>
            </a:r>
            <a:r>
              <a:t>d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越靠近，</a:t>
            </a:r>
            <a:r>
              <a:t>C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也會上升，所以就必須降低介電值去改善容值。</a:t>
            </a:r>
            <a:endParaRPr>
              <a:latin typeface="+mn-lt"/>
              <a:ea typeface="+mn-ea"/>
              <a:cs typeface="+mn-cs"/>
              <a:sym typeface="Helvetica"/>
            </a:endParaRPr>
          </a:p>
          <a:p>
            <a:pPr/>
            <a:endParaRPr>
              <a:latin typeface="+mn-lt"/>
              <a:ea typeface="+mn-ea"/>
              <a:cs typeface="+mn-cs"/>
              <a:sym typeface="Helvetica"/>
            </a:endParaRPr>
          </a:p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寄生電組寄生電容，可以由</a:t>
            </a:r>
            <a:r>
              <a:t>Q=IT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、</a:t>
            </a:r>
            <a:r>
              <a:t>V=IR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，帶入</a:t>
            </a:r>
            <a:r>
              <a:t>Q=CV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中得知，消去</a:t>
            </a:r>
            <a:r>
              <a:t>I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後，得到</a:t>
            </a:r>
            <a:r>
              <a:t>t=RC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，所以電容、電阻會對電路運作的速度有很大的影響。</a:t>
            </a:r>
            <a:endParaRPr>
              <a:latin typeface="+mn-lt"/>
              <a:ea typeface="+mn-ea"/>
              <a:cs typeface="+mn-cs"/>
              <a:sym typeface="Helvetica"/>
            </a:endParaRPr>
          </a:p>
          <a:p>
            <a:pPr/>
            <a:endParaRPr>
              <a:latin typeface="+mn-lt"/>
              <a:ea typeface="+mn-ea"/>
              <a:cs typeface="+mn-cs"/>
              <a:sym typeface="Helvetica"/>
            </a:endParaRPr>
          </a:p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高介電質材料  </a:t>
            </a:r>
            <a:r>
              <a:t>(High-K) </a:t>
            </a:r>
          </a:p>
          <a:p>
            <a:pPr/>
            <a:r>
              <a:t>-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漏電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Shape 24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41" name="Shape 24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MOS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的功能製造這邊，我看到</a:t>
            </a:r>
            <a:r>
              <a:t>youtube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上看到的樂高解釋</a:t>
            </a:r>
            <a:r>
              <a:t>MOS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，感覺很適合。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Shape 25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51" name="Shape 25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所以我用</a:t>
            </a:r>
            <a:r>
              <a:t>3D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樂高設計軟體重畫出來。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大標題文字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大標題文字</a:t>
            </a:r>
          </a:p>
        </p:txBody>
      </p:sp>
      <p:sp>
        <p:nvSpPr>
          <p:cNvPr id="12" name="內文層級一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內文層級一</a:t>
            </a:r>
          </a:p>
          <a:p>
            <a:pPr lvl="1"/>
            <a:r>
              <a:t>內文層級二</a:t>
            </a:r>
          </a:p>
          <a:p>
            <a:pPr lvl="2"/>
            <a:r>
              <a:t>內文層級三</a:t>
            </a:r>
          </a:p>
          <a:p>
            <a:pPr lvl="3"/>
            <a:r>
              <a:t>內文層級四</a:t>
            </a:r>
          </a:p>
          <a:p>
            <a:pPr lvl="4"/>
            <a:r>
              <a:t>內文層級五</a:t>
            </a:r>
          </a:p>
        </p:txBody>
      </p:sp>
      <p:sp>
        <p:nvSpPr>
          <p:cNvPr id="13" name="幻燈片編號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大標題文字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大標題文字</a:t>
            </a:r>
          </a:p>
        </p:txBody>
      </p:sp>
      <p:sp>
        <p:nvSpPr>
          <p:cNvPr id="21" name="內文層級一…"/>
          <p:cNvSpPr txBox="1"/>
          <p:nvPr>
            <p:ph type="body" sz="quarter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內文層級一</a:t>
            </a:r>
          </a:p>
          <a:p>
            <a:pPr lvl="1"/>
            <a:r>
              <a:t>內文層級二</a:t>
            </a:r>
          </a:p>
          <a:p>
            <a:pPr lvl="2"/>
            <a:r>
              <a:t>內文層級三</a:t>
            </a:r>
          </a:p>
          <a:p>
            <a:pPr lvl="3"/>
            <a:r>
              <a:t>內文層級四</a:t>
            </a:r>
          </a:p>
          <a:p>
            <a:pPr lvl="4"/>
            <a:r>
              <a:t>內文層級五</a:t>
            </a:r>
          </a:p>
        </p:txBody>
      </p:sp>
      <p:sp>
        <p:nvSpPr>
          <p:cNvPr id="22" name="幻燈片編號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大標題文字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大標題文字</a:t>
            </a:r>
          </a:p>
        </p:txBody>
      </p:sp>
      <p:sp>
        <p:nvSpPr>
          <p:cNvPr id="30" name="內文層級一…"/>
          <p:cNvSpPr txBox="1"/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內文層級一</a:t>
            </a:r>
          </a:p>
          <a:p>
            <a:pPr lvl="1"/>
            <a:r>
              <a:t>內文層級二</a:t>
            </a:r>
          </a:p>
          <a:p>
            <a:pPr lvl="2"/>
            <a:r>
              <a:t>內文層級三</a:t>
            </a:r>
          </a:p>
          <a:p>
            <a:pPr lvl="3"/>
            <a:r>
              <a:t>內文層級四</a:t>
            </a:r>
          </a:p>
          <a:p>
            <a:pPr lvl="4"/>
            <a:r>
              <a:t>內文層級五</a:t>
            </a:r>
          </a:p>
        </p:txBody>
      </p:sp>
      <p:sp>
        <p:nvSpPr>
          <p:cNvPr id="31" name="幻燈片編號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大標題文字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大標題文字</a:t>
            </a:r>
          </a:p>
        </p:txBody>
      </p:sp>
      <p:sp>
        <p:nvSpPr>
          <p:cNvPr id="39" name="內文層級一…"/>
          <p:cNvSpPr txBox="1"/>
          <p:nvPr>
            <p:ph type="body" sz="quarter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內文層級一</a:t>
            </a:r>
          </a:p>
          <a:p>
            <a:pPr lvl="1"/>
            <a:r>
              <a:t>內文層級二</a:t>
            </a:r>
          </a:p>
          <a:p>
            <a:pPr lvl="2"/>
            <a:r>
              <a:t>內文層級三</a:t>
            </a:r>
          </a:p>
          <a:p>
            <a:pPr lvl="3"/>
            <a:r>
              <a:t>內文層級四</a:t>
            </a:r>
          </a:p>
          <a:p>
            <a:pPr lvl="4"/>
            <a:r>
              <a:t>內文層級五</a:t>
            </a:r>
          </a:p>
        </p:txBody>
      </p:sp>
      <p:sp>
        <p:nvSpPr>
          <p:cNvPr id="40" name="幻燈片編號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大標題文字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大標題文字</a:t>
            </a:r>
          </a:p>
        </p:txBody>
      </p:sp>
      <p:sp>
        <p:nvSpPr>
          <p:cNvPr id="48" name="內文層級一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內文層級一</a:t>
            </a:r>
          </a:p>
          <a:p>
            <a:pPr lvl="1"/>
            <a:r>
              <a:t>內文層級二</a:t>
            </a:r>
          </a:p>
          <a:p>
            <a:pPr lvl="2"/>
            <a:r>
              <a:t>內文層級三</a:t>
            </a:r>
          </a:p>
          <a:p>
            <a:pPr lvl="3"/>
            <a:r>
              <a:t>內文層級四</a:t>
            </a:r>
          </a:p>
          <a:p>
            <a:pPr lvl="4"/>
            <a:r>
              <a:t>內文層級五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幻燈片編號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大標題文字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大標題文字</a:t>
            </a:r>
          </a:p>
        </p:txBody>
      </p:sp>
      <p:sp>
        <p:nvSpPr>
          <p:cNvPr id="58" name="幻燈片編號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幻燈片編號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大標題文字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大標題文字</a:t>
            </a:r>
          </a:p>
        </p:txBody>
      </p:sp>
      <p:sp>
        <p:nvSpPr>
          <p:cNvPr id="73" name="內文層級一…"/>
          <p:cNvSpPr txBox="1"/>
          <p:nvPr>
            <p:ph type="body" sz="quarter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內文層級一</a:t>
            </a:r>
          </a:p>
          <a:p>
            <a:pPr lvl="1"/>
            <a:r>
              <a:t>內文層級二</a:t>
            </a:r>
          </a:p>
          <a:p>
            <a:pPr lvl="2"/>
            <a:r>
              <a:t>內文層級三</a:t>
            </a:r>
          </a:p>
          <a:p>
            <a:pPr lvl="3"/>
            <a:r>
              <a:t>內文層級四</a:t>
            </a:r>
          </a:p>
          <a:p>
            <a:pPr lvl="4"/>
            <a:r>
              <a:t>內文層級五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幻燈片編號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大標題文字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大標題文字</a:t>
            </a:r>
          </a:p>
        </p:txBody>
      </p:sp>
      <p:sp>
        <p:nvSpPr>
          <p:cNvPr id="83" name="Picture Placeholder 2"/>
          <p:cNvSpPr/>
          <p:nvPr>
            <p:ph type="pic" sz="quarter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內文層級一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內文層級一</a:t>
            </a:r>
          </a:p>
          <a:p>
            <a:pPr lvl="1"/>
            <a:r>
              <a:t>內文層級二</a:t>
            </a:r>
          </a:p>
          <a:p>
            <a:pPr lvl="2"/>
            <a:r>
              <a:t>內文層級三</a:t>
            </a:r>
          </a:p>
          <a:p>
            <a:pPr lvl="3"/>
            <a:r>
              <a:t>內文層級四</a:t>
            </a:r>
          </a:p>
          <a:p>
            <a:pPr lvl="4"/>
            <a:r>
              <a:t>內文層級五</a:t>
            </a:r>
          </a:p>
        </p:txBody>
      </p:sp>
      <p:sp>
        <p:nvSpPr>
          <p:cNvPr id="85" name="幻燈片編號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大標題文字"/>
          <p:cNvSpPr txBox="1"/>
          <p:nvPr>
            <p:ph type="title"/>
          </p:nvPr>
        </p:nvSpPr>
        <p:spPr>
          <a:xfrm>
            <a:off x="914400" y="138112"/>
            <a:ext cx="16459200" cy="22621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大標題文字</a:t>
            </a:r>
          </a:p>
        </p:txBody>
      </p:sp>
      <p:sp>
        <p:nvSpPr>
          <p:cNvPr id="3" name="內文層級一…"/>
          <p:cNvSpPr txBox="1"/>
          <p:nvPr>
            <p:ph type="body" idx="1"/>
          </p:nvPr>
        </p:nvSpPr>
        <p:spPr>
          <a:xfrm>
            <a:off x="914400" y="2400300"/>
            <a:ext cx="16459200" cy="7886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內文層級一</a:t>
            </a:r>
          </a:p>
          <a:p>
            <a:pPr lvl="1"/>
            <a:r>
              <a:t>內文層級二</a:t>
            </a:r>
          </a:p>
          <a:p>
            <a:pPr lvl="2"/>
            <a:r>
              <a:t>內文層級三</a:t>
            </a:r>
          </a:p>
          <a:p>
            <a:pPr lvl="3"/>
            <a:r>
              <a:t>內文層級四</a:t>
            </a:r>
          </a:p>
          <a:p>
            <a:pPr lvl="4"/>
            <a:r>
              <a:t>內文層級五</a:t>
            </a:r>
          </a:p>
        </p:txBody>
      </p:sp>
      <p:sp>
        <p:nvSpPr>
          <p:cNvPr id="4" name="幻燈片編號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0" Type="http://schemas.openxmlformats.org/officeDocument/2006/relationships/image" Target="../media/image15.png"/><Relationship Id="rId11" Type="http://schemas.openxmlformats.org/officeDocument/2006/relationships/image" Target="../media/image16.png"/><Relationship Id="rId12" Type="http://schemas.openxmlformats.org/officeDocument/2006/relationships/image" Target="../media/image17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18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9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en.wikipedia.org/wiki/Chemical_decomposition" TargetMode="External"/><Relationship Id="rId3" Type="http://schemas.openxmlformats.org/officeDocument/2006/relationships/hyperlink" Target="https://en.wikipedia.org/wiki/Chemical_vapor_deposition" TargetMode="External"/><Relationship Id="rId4" Type="http://schemas.openxmlformats.org/officeDocument/2006/relationships/image" Target="../media/image30.png"/><Relationship Id="rId5" Type="http://schemas.openxmlformats.org/officeDocument/2006/relationships/image" Target="../media/image31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27.png"/><Relationship Id="rId4" Type="http://schemas.openxmlformats.org/officeDocument/2006/relationships/image" Target="../media/image33.png"/><Relationship Id="rId5" Type="http://schemas.openxmlformats.org/officeDocument/2006/relationships/image" Target="../media/image25.png"/><Relationship Id="rId6" Type="http://schemas.openxmlformats.org/officeDocument/2006/relationships/image" Target="../media/image34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hyperlink" Target="https://zh.wikipedia.org/wiki/%E6%9C%AC%E5%BE%81%E5%8D%8A%E5%AF%BC%E4%BD%93" TargetMode="External"/><Relationship Id="rId5" Type="http://schemas.openxmlformats.org/officeDocument/2006/relationships/image" Target="../media/image37.png"/><Relationship Id="rId6" Type="http://schemas.openxmlformats.org/officeDocument/2006/relationships/image" Target="../media/image38.png"/><Relationship Id="rId7" Type="http://schemas.openxmlformats.org/officeDocument/2006/relationships/image" Target="../media/image39.pn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3" Type="http://schemas.openxmlformats.org/officeDocument/2006/relationships/image" Target="../media/image43.png"/><Relationship Id="rId4" Type="http://schemas.openxmlformats.org/officeDocument/2006/relationships/image" Target="../media/image27.png"/><Relationship Id="rId5" Type="http://schemas.openxmlformats.org/officeDocument/2006/relationships/image" Target="../media/image25.png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image" Target="../media/image27.png"/><Relationship Id="rId5" Type="http://schemas.openxmlformats.org/officeDocument/2006/relationships/image" Target="../media/image21.png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Relationship Id="rId3" Type="http://schemas.openxmlformats.org/officeDocument/2006/relationships/image" Target="../media/image25.png"/><Relationship Id="rId4" Type="http://schemas.openxmlformats.org/officeDocument/2006/relationships/image" Target="../media/image47.png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Relationship Id="rId3" Type="http://schemas.openxmlformats.org/officeDocument/2006/relationships/image" Target="../media/image27.png"/><Relationship Id="rId4" Type="http://schemas.openxmlformats.org/officeDocument/2006/relationships/image" Target="../media/image49.png"/><Relationship Id="rId5" Type="http://schemas.openxmlformats.org/officeDocument/2006/relationships/image" Target="../media/image50.png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51.png"/><Relationship Id="rId4" Type="http://schemas.openxmlformats.org/officeDocument/2006/relationships/image" Target="../media/image52.png"/><Relationship Id="rId5" Type="http://schemas.openxmlformats.org/officeDocument/2006/relationships/hyperlink" Target="https://zh.wikipedia.org/zh-tw/%E5%8C%96%E5%AD%A6%E6%9C%BA%E6%A2%B0%E5%B9%B3%E5%9D%A6%E5%8C%96#/media/File:Cmp_prinzip.jpg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Freeform 2"/>
          <p:cNvSpPr/>
          <p:nvPr/>
        </p:nvSpPr>
        <p:spPr>
          <a:xfrm rot="19701678">
            <a:off x="12872210" y="-2776467"/>
            <a:ext cx="8774179" cy="8796169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5" name="Freeform 4"/>
          <p:cNvSpPr/>
          <p:nvPr/>
        </p:nvSpPr>
        <p:spPr>
          <a:xfrm>
            <a:off x="10463625" y="1244836"/>
            <a:ext cx="753562" cy="753561"/>
          </a:xfrm>
          <a:prstGeom prst="ellipse">
            <a:avLst/>
          </a:prstGeom>
          <a:gradFill>
            <a:gsLst>
              <a:gs pos="0">
                <a:srgbClr val="F600FE"/>
              </a:gs>
              <a:gs pos="25000">
                <a:srgbClr val="C900FE"/>
              </a:gs>
              <a:gs pos="50000">
                <a:srgbClr val="A136FF"/>
              </a:gs>
              <a:gs pos="75000">
                <a:srgbClr val="5142F0"/>
              </a:gs>
              <a:gs pos="100000">
                <a:srgbClr val="0033D9"/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6" name="Freeform 7"/>
          <p:cNvSpPr/>
          <p:nvPr/>
        </p:nvSpPr>
        <p:spPr>
          <a:xfrm>
            <a:off x="14778710" y="7667322"/>
            <a:ext cx="1578922" cy="1578922"/>
          </a:xfrm>
          <a:prstGeom prst="ellipse">
            <a:avLst/>
          </a:prstGeom>
          <a:gradFill>
            <a:gsLst>
              <a:gs pos="0">
                <a:srgbClr val="F600FE"/>
              </a:gs>
              <a:gs pos="25000">
                <a:srgbClr val="C900FE"/>
              </a:gs>
              <a:gs pos="50000">
                <a:srgbClr val="A136FF"/>
              </a:gs>
              <a:gs pos="75000">
                <a:srgbClr val="5142F0"/>
              </a:gs>
              <a:gs pos="100000">
                <a:srgbClr val="0033D9"/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7" name="TextBox 9"/>
          <p:cNvSpPr txBox="1"/>
          <p:nvPr/>
        </p:nvSpPr>
        <p:spPr>
          <a:xfrm>
            <a:off x="1028700" y="6111573"/>
            <a:ext cx="11292048" cy="29984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5900"/>
              </a:lnSpc>
              <a:defRPr b="1" sz="3500"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pPr>
            <a:r>
              <a:t>班別: 產業新尖兵 - 科技與AI應用人才培訓班 (第一梯次)</a:t>
            </a:r>
          </a:p>
          <a:p>
            <a:pPr>
              <a:lnSpc>
                <a:spcPts val="5900"/>
              </a:lnSpc>
              <a:defRPr b="1" sz="3500"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pPr>
            <a:r>
              <a:t>學號: 007</a:t>
            </a:r>
          </a:p>
          <a:p>
            <a:pPr>
              <a:lnSpc>
                <a:spcPts val="5900"/>
              </a:lnSpc>
              <a:defRPr b="1" sz="3500"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pPr>
            <a:r>
              <a:t>報告人: 王維碩</a:t>
            </a:r>
          </a:p>
          <a:p>
            <a:pPr>
              <a:lnSpc>
                <a:spcPts val="5900"/>
              </a:lnSpc>
              <a:defRPr b="1" sz="3500"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pPr>
            <a:r>
              <a:t>課堂講師: 杜岳錡、謝承利、賴柏穎</a:t>
            </a:r>
          </a:p>
        </p:txBody>
      </p:sp>
      <p:grpSp>
        <p:nvGrpSpPr>
          <p:cNvPr id="101" name="Group 10"/>
          <p:cNvGrpSpPr/>
          <p:nvPr/>
        </p:nvGrpSpPr>
        <p:grpSpPr>
          <a:xfrm>
            <a:off x="192424" y="2201353"/>
            <a:ext cx="12128325" cy="2967538"/>
            <a:chOff x="0" y="0"/>
            <a:chExt cx="12128323" cy="2967536"/>
          </a:xfrm>
        </p:grpSpPr>
        <p:sp>
          <p:nvSpPr>
            <p:cNvPr id="98" name="TextBox 11"/>
            <p:cNvSpPr txBox="1"/>
            <p:nvPr/>
          </p:nvSpPr>
          <p:spPr>
            <a:xfrm>
              <a:off x="2649232" y="575171"/>
              <a:ext cx="9093696" cy="18542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lnSpc>
                  <a:spcPts val="14000"/>
                </a:lnSpc>
                <a:defRPr b="1" sz="10000">
                  <a:latin typeface="Noto Sans T Chinese Bold"/>
                  <a:ea typeface="Noto Sans T Chinese Bold"/>
                  <a:cs typeface="Noto Sans T Chinese Bold"/>
                  <a:sym typeface="Noto Sans T Chinese Bold"/>
                </a:defRPr>
              </a:lvl1pPr>
            </a:lstStyle>
            <a:p>
              <a:pPr/>
              <a:r>
                <a:t>半導體製程技術</a:t>
              </a:r>
            </a:p>
          </p:txBody>
        </p:sp>
        <p:sp>
          <p:nvSpPr>
            <p:cNvPr id="99" name="Freeform 12"/>
            <p:cNvSpPr/>
            <p:nvPr/>
          </p:nvSpPr>
          <p:spPr>
            <a:xfrm>
              <a:off x="0" y="0"/>
              <a:ext cx="2369766" cy="2942146"/>
            </a:xfrm>
            <a:prstGeom prst="rect">
              <a:avLst/>
            </a:prstGeom>
            <a:blipFill rotWithShape="1">
              <a:blip r:embed="rId3"/>
              <a:srcRect l="0" t="0" r="0" b="0"/>
              <a:stretch>
                <a:fillRect/>
              </a:stretch>
            </a:blip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00" name="TextBox 13"/>
            <p:cNvSpPr txBox="1"/>
            <p:nvPr/>
          </p:nvSpPr>
          <p:spPr>
            <a:xfrm>
              <a:off x="2778593" y="2281746"/>
              <a:ext cx="9349731" cy="68579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lnSpc>
                  <a:spcPts val="5600"/>
                </a:lnSpc>
                <a:defRPr b="1" sz="4000">
                  <a:latin typeface="Noto Sans T Chinese Bold"/>
                  <a:ea typeface="Noto Sans T Chinese Bold"/>
                  <a:cs typeface="Noto Sans T Chinese Bold"/>
                  <a:sym typeface="Noto Sans T Chinese Bold"/>
                </a:defRPr>
              </a:lvl1pPr>
            </a:lstStyle>
            <a:p>
              <a:pPr/>
              <a:r>
                <a:t>Semiconductor Process Engineering</a:t>
              </a:r>
            </a:p>
          </p:txBody>
        </p:sp>
      </p:grpSp>
      <p:grpSp>
        <p:nvGrpSpPr>
          <p:cNvPr id="104" name="Group 14"/>
          <p:cNvGrpSpPr/>
          <p:nvPr/>
        </p:nvGrpSpPr>
        <p:grpSpPr>
          <a:xfrm>
            <a:off x="17066463" y="9457760"/>
            <a:ext cx="999914" cy="582209"/>
            <a:chOff x="0" y="0"/>
            <a:chExt cx="999912" cy="582207"/>
          </a:xfrm>
        </p:grpSpPr>
        <p:sp>
          <p:nvSpPr>
            <p:cNvPr id="102" name="TextBox 15"/>
            <p:cNvSpPr txBox="1"/>
            <p:nvPr/>
          </p:nvSpPr>
          <p:spPr>
            <a:xfrm>
              <a:off x="0" y="0"/>
              <a:ext cx="999913" cy="2702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just">
                <a:lnSpc>
                  <a:spcPts val="2200"/>
                </a:lnSpc>
                <a:defRPr b="1" spc="80" sz="1600">
                  <a:solidFill>
                    <a:srgbClr val="FF66C4"/>
                  </a:solidFill>
                  <a:latin typeface="DM Sans Bold"/>
                  <a:ea typeface="DM Sans Bold"/>
                  <a:cs typeface="DM Sans Bold"/>
                  <a:sym typeface="DM Sans Bold"/>
                </a:defRPr>
              </a:lvl1pPr>
            </a:lstStyle>
            <a:p>
              <a:pPr/>
              <a:r>
                <a:t>TIME</a:t>
              </a:r>
            </a:p>
          </p:txBody>
        </p:sp>
        <p:sp>
          <p:nvSpPr>
            <p:cNvPr id="103" name="TextBox 16"/>
            <p:cNvSpPr txBox="1"/>
            <p:nvPr/>
          </p:nvSpPr>
          <p:spPr>
            <a:xfrm>
              <a:off x="0" y="311955"/>
              <a:ext cx="999913" cy="2702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just">
                <a:lnSpc>
                  <a:spcPts val="2200"/>
                </a:lnSpc>
                <a:defRPr sz="1600">
                  <a:latin typeface="DM Sans"/>
                  <a:ea typeface="DM Sans"/>
                  <a:cs typeface="DM Sans"/>
                  <a:sym typeface="DM Sans"/>
                </a:defRPr>
              </a:lvl1pPr>
            </a:lstStyle>
            <a:p>
              <a:pPr/>
              <a:r>
                <a:t>2024-03</a:t>
              </a:r>
            </a:p>
          </p:txBody>
        </p:sp>
      </p:grpSp>
      <p:sp>
        <p:nvSpPr>
          <p:cNvPr id="105" name="TextBox 17"/>
          <p:cNvSpPr txBox="1"/>
          <p:nvPr/>
        </p:nvSpPr>
        <p:spPr>
          <a:xfrm>
            <a:off x="251784" y="9753064"/>
            <a:ext cx="7168300" cy="3428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2000">
                <a:solidFill>
                  <a:srgbClr val="0E2C4B"/>
                </a:solidFill>
                <a:latin typeface="jf-openhuninn-2.0"/>
                <a:ea typeface="jf-openhuninn-2.0"/>
                <a:cs typeface="jf-openhuninn-2.0"/>
                <a:sym typeface="jf-openhuninn-2.0"/>
              </a:defRPr>
            </a:lvl1pPr>
          </a:lstStyle>
          <a:p>
            <a:pPr/>
            <a:r>
              <a:t>Designed by Wei Shuo Wang in Kaohsiung Use Canva.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Freeform 2"/>
          <p:cNvSpPr/>
          <p:nvPr/>
        </p:nvSpPr>
        <p:spPr>
          <a:xfrm rot="19701678">
            <a:off x="12719552" y="-4023370"/>
            <a:ext cx="8774179" cy="8796169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8" name="Freeform 4"/>
          <p:cNvSpPr/>
          <p:nvPr/>
        </p:nvSpPr>
        <p:spPr>
          <a:xfrm>
            <a:off x="483487" y="2086897"/>
            <a:ext cx="6218139" cy="6218139"/>
          </a:xfrm>
          <a:prstGeom prst="ellipse">
            <a:avLst/>
          </a:prstGeom>
          <a:gradFill>
            <a:gsLst>
              <a:gs pos="0">
                <a:srgbClr val="F600FE"/>
              </a:gs>
              <a:gs pos="25000">
                <a:srgbClr val="C900FE"/>
              </a:gs>
              <a:gs pos="50000">
                <a:srgbClr val="A136FF"/>
              </a:gs>
              <a:gs pos="75000">
                <a:srgbClr val="5142F0"/>
              </a:gs>
              <a:gs pos="100000">
                <a:srgbClr val="0033D9"/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9" name="Freeform 7"/>
          <p:cNvSpPr/>
          <p:nvPr/>
        </p:nvSpPr>
        <p:spPr>
          <a:xfrm>
            <a:off x="741218" y="2363976"/>
            <a:ext cx="5685686" cy="56888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21600"/>
                </a:moveTo>
                <a:cubicBezTo>
                  <a:pt x="10724" y="21600"/>
                  <a:pt x="10673" y="21524"/>
                  <a:pt x="10673" y="21473"/>
                </a:cubicBezTo>
                <a:cubicBezTo>
                  <a:pt x="10673" y="21397"/>
                  <a:pt x="10724" y="21347"/>
                  <a:pt x="10800" y="21347"/>
                </a:cubicBezTo>
                <a:cubicBezTo>
                  <a:pt x="10825" y="21347"/>
                  <a:pt x="10825" y="21347"/>
                  <a:pt x="10825" y="21347"/>
                </a:cubicBezTo>
                <a:cubicBezTo>
                  <a:pt x="10901" y="21347"/>
                  <a:pt x="10952" y="21397"/>
                  <a:pt x="10952" y="21473"/>
                </a:cubicBezTo>
                <a:cubicBezTo>
                  <a:pt x="10952" y="21524"/>
                  <a:pt x="10901" y="21600"/>
                  <a:pt x="10825" y="21600"/>
                </a:cubicBezTo>
                <a:cubicBezTo>
                  <a:pt x="10825" y="21600"/>
                  <a:pt x="10825" y="21600"/>
                  <a:pt x="10800" y="21600"/>
                </a:cubicBezTo>
                <a:close/>
                <a:moveTo>
                  <a:pt x="10065" y="21575"/>
                </a:moveTo>
                <a:cubicBezTo>
                  <a:pt x="10014" y="21549"/>
                  <a:pt x="9963" y="21499"/>
                  <a:pt x="9963" y="21423"/>
                </a:cubicBezTo>
                <a:cubicBezTo>
                  <a:pt x="9963" y="21372"/>
                  <a:pt x="10014" y="21321"/>
                  <a:pt x="10090" y="21321"/>
                </a:cubicBezTo>
                <a:cubicBezTo>
                  <a:pt x="10166" y="21321"/>
                  <a:pt x="10217" y="21372"/>
                  <a:pt x="10217" y="21448"/>
                </a:cubicBezTo>
                <a:cubicBezTo>
                  <a:pt x="10217" y="21524"/>
                  <a:pt x="10141" y="21575"/>
                  <a:pt x="10090" y="21575"/>
                </a:cubicBezTo>
                <a:cubicBezTo>
                  <a:pt x="10090" y="21575"/>
                  <a:pt x="10090" y="21575"/>
                  <a:pt x="10065" y="21575"/>
                </a:cubicBezTo>
                <a:close/>
                <a:moveTo>
                  <a:pt x="11409" y="21448"/>
                </a:moveTo>
                <a:cubicBezTo>
                  <a:pt x="11409" y="21372"/>
                  <a:pt x="11459" y="21321"/>
                  <a:pt x="11536" y="21321"/>
                </a:cubicBezTo>
                <a:cubicBezTo>
                  <a:pt x="11586" y="21296"/>
                  <a:pt x="11662" y="21372"/>
                  <a:pt x="11662" y="21423"/>
                </a:cubicBezTo>
                <a:cubicBezTo>
                  <a:pt x="11662" y="21499"/>
                  <a:pt x="11612" y="21549"/>
                  <a:pt x="11536" y="21575"/>
                </a:cubicBezTo>
                <a:cubicBezTo>
                  <a:pt x="11459" y="21575"/>
                  <a:pt x="11409" y="21524"/>
                  <a:pt x="11409" y="21448"/>
                </a:cubicBezTo>
                <a:close/>
                <a:moveTo>
                  <a:pt x="9355" y="21499"/>
                </a:moveTo>
                <a:cubicBezTo>
                  <a:pt x="9279" y="21473"/>
                  <a:pt x="9228" y="21423"/>
                  <a:pt x="9254" y="21347"/>
                </a:cubicBezTo>
                <a:cubicBezTo>
                  <a:pt x="9254" y="21296"/>
                  <a:pt x="9330" y="21245"/>
                  <a:pt x="9381" y="21245"/>
                </a:cubicBezTo>
                <a:cubicBezTo>
                  <a:pt x="9457" y="21245"/>
                  <a:pt x="9507" y="21321"/>
                  <a:pt x="9507" y="21397"/>
                </a:cubicBezTo>
                <a:cubicBezTo>
                  <a:pt x="9482" y="21448"/>
                  <a:pt x="9431" y="21499"/>
                  <a:pt x="9381" y="21499"/>
                </a:cubicBezTo>
                <a:cubicBezTo>
                  <a:pt x="9381" y="21499"/>
                  <a:pt x="9355" y="21499"/>
                  <a:pt x="9355" y="21499"/>
                </a:cubicBezTo>
                <a:close/>
                <a:moveTo>
                  <a:pt x="12118" y="21372"/>
                </a:moveTo>
                <a:cubicBezTo>
                  <a:pt x="12118" y="21321"/>
                  <a:pt x="12169" y="21245"/>
                  <a:pt x="12220" y="21245"/>
                </a:cubicBezTo>
                <a:cubicBezTo>
                  <a:pt x="12296" y="21220"/>
                  <a:pt x="12347" y="21270"/>
                  <a:pt x="12372" y="21347"/>
                </a:cubicBezTo>
                <a:cubicBezTo>
                  <a:pt x="12372" y="21423"/>
                  <a:pt x="12321" y="21473"/>
                  <a:pt x="12271" y="21499"/>
                </a:cubicBezTo>
                <a:cubicBezTo>
                  <a:pt x="12245" y="21499"/>
                  <a:pt x="12245" y="21499"/>
                  <a:pt x="12245" y="21499"/>
                </a:cubicBezTo>
                <a:cubicBezTo>
                  <a:pt x="12169" y="21499"/>
                  <a:pt x="12118" y="21448"/>
                  <a:pt x="12118" y="21372"/>
                </a:cubicBezTo>
                <a:close/>
                <a:moveTo>
                  <a:pt x="8645" y="21372"/>
                </a:moveTo>
                <a:cubicBezTo>
                  <a:pt x="8569" y="21372"/>
                  <a:pt x="8544" y="21296"/>
                  <a:pt x="8544" y="21220"/>
                </a:cubicBezTo>
                <a:cubicBezTo>
                  <a:pt x="8569" y="21169"/>
                  <a:pt x="8620" y="21118"/>
                  <a:pt x="8696" y="21118"/>
                </a:cubicBezTo>
                <a:cubicBezTo>
                  <a:pt x="8772" y="21144"/>
                  <a:pt x="8823" y="21220"/>
                  <a:pt x="8798" y="21270"/>
                </a:cubicBezTo>
                <a:cubicBezTo>
                  <a:pt x="8772" y="21347"/>
                  <a:pt x="8721" y="21372"/>
                  <a:pt x="8671" y="21372"/>
                </a:cubicBezTo>
                <a:cubicBezTo>
                  <a:pt x="8671" y="21372"/>
                  <a:pt x="8645" y="21372"/>
                  <a:pt x="8645" y="21372"/>
                </a:cubicBezTo>
                <a:close/>
                <a:moveTo>
                  <a:pt x="12829" y="21270"/>
                </a:moveTo>
                <a:cubicBezTo>
                  <a:pt x="12803" y="21194"/>
                  <a:pt x="12854" y="21144"/>
                  <a:pt x="12930" y="21118"/>
                </a:cubicBezTo>
                <a:cubicBezTo>
                  <a:pt x="12981" y="21118"/>
                  <a:pt x="13057" y="21144"/>
                  <a:pt x="13082" y="21220"/>
                </a:cubicBezTo>
                <a:cubicBezTo>
                  <a:pt x="13082" y="21296"/>
                  <a:pt x="13032" y="21347"/>
                  <a:pt x="12981" y="21372"/>
                </a:cubicBezTo>
                <a:cubicBezTo>
                  <a:pt x="12955" y="21372"/>
                  <a:pt x="12955" y="21372"/>
                  <a:pt x="12955" y="21372"/>
                </a:cubicBezTo>
                <a:cubicBezTo>
                  <a:pt x="12879" y="21372"/>
                  <a:pt x="12829" y="21321"/>
                  <a:pt x="12829" y="21270"/>
                </a:cubicBezTo>
                <a:close/>
                <a:moveTo>
                  <a:pt x="7936" y="21220"/>
                </a:moveTo>
                <a:cubicBezTo>
                  <a:pt x="7885" y="21194"/>
                  <a:pt x="7834" y="21118"/>
                  <a:pt x="7860" y="21042"/>
                </a:cubicBezTo>
                <a:cubicBezTo>
                  <a:pt x="7885" y="20992"/>
                  <a:pt x="7936" y="20941"/>
                  <a:pt x="8012" y="20966"/>
                </a:cubicBezTo>
                <a:cubicBezTo>
                  <a:pt x="8088" y="20992"/>
                  <a:pt x="8113" y="21042"/>
                  <a:pt x="8113" y="21118"/>
                </a:cubicBezTo>
                <a:cubicBezTo>
                  <a:pt x="8088" y="21169"/>
                  <a:pt x="8037" y="21220"/>
                  <a:pt x="7986" y="21220"/>
                </a:cubicBezTo>
                <a:cubicBezTo>
                  <a:pt x="7961" y="21220"/>
                  <a:pt x="7961" y="21220"/>
                  <a:pt x="7936" y="21220"/>
                </a:cubicBezTo>
                <a:close/>
                <a:moveTo>
                  <a:pt x="13513" y="21118"/>
                </a:moveTo>
                <a:cubicBezTo>
                  <a:pt x="13488" y="21042"/>
                  <a:pt x="13538" y="20966"/>
                  <a:pt x="13614" y="20966"/>
                </a:cubicBezTo>
                <a:cubicBezTo>
                  <a:pt x="13665" y="20941"/>
                  <a:pt x="13741" y="20966"/>
                  <a:pt x="13767" y="21042"/>
                </a:cubicBezTo>
                <a:cubicBezTo>
                  <a:pt x="13792" y="21118"/>
                  <a:pt x="13741" y="21194"/>
                  <a:pt x="13665" y="21194"/>
                </a:cubicBezTo>
                <a:cubicBezTo>
                  <a:pt x="13665" y="21194"/>
                  <a:pt x="13640" y="21194"/>
                  <a:pt x="13640" y="21194"/>
                </a:cubicBezTo>
                <a:cubicBezTo>
                  <a:pt x="13589" y="21194"/>
                  <a:pt x="13538" y="21169"/>
                  <a:pt x="13513" y="21118"/>
                </a:cubicBezTo>
                <a:close/>
                <a:moveTo>
                  <a:pt x="7251" y="20992"/>
                </a:moveTo>
                <a:cubicBezTo>
                  <a:pt x="7201" y="20966"/>
                  <a:pt x="7150" y="20890"/>
                  <a:pt x="7175" y="20840"/>
                </a:cubicBezTo>
                <a:cubicBezTo>
                  <a:pt x="7201" y="20763"/>
                  <a:pt x="7277" y="20738"/>
                  <a:pt x="7353" y="20763"/>
                </a:cubicBezTo>
                <a:cubicBezTo>
                  <a:pt x="7403" y="20789"/>
                  <a:pt x="7454" y="20840"/>
                  <a:pt x="7429" y="20916"/>
                </a:cubicBezTo>
                <a:cubicBezTo>
                  <a:pt x="7403" y="20966"/>
                  <a:pt x="7353" y="20992"/>
                  <a:pt x="7302" y="20992"/>
                </a:cubicBezTo>
                <a:cubicBezTo>
                  <a:pt x="7277" y="20992"/>
                  <a:pt x="7277" y="20992"/>
                  <a:pt x="7251" y="20992"/>
                </a:cubicBezTo>
                <a:close/>
                <a:moveTo>
                  <a:pt x="14198" y="20916"/>
                </a:moveTo>
                <a:cubicBezTo>
                  <a:pt x="14172" y="20840"/>
                  <a:pt x="14223" y="20763"/>
                  <a:pt x="14274" y="20738"/>
                </a:cubicBezTo>
                <a:cubicBezTo>
                  <a:pt x="14350" y="20713"/>
                  <a:pt x="14426" y="20763"/>
                  <a:pt x="14451" y="20814"/>
                </a:cubicBezTo>
                <a:cubicBezTo>
                  <a:pt x="14451" y="20890"/>
                  <a:pt x="14426" y="20966"/>
                  <a:pt x="14350" y="20992"/>
                </a:cubicBezTo>
                <a:cubicBezTo>
                  <a:pt x="14350" y="20992"/>
                  <a:pt x="14325" y="20992"/>
                  <a:pt x="14325" y="20992"/>
                </a:cubicBezTo>
                <a:cubicBezTo>
                  <a:pt x="14274" y="20992"/>
                  <a:pt x="14223" y="20966"/>
                  <a:pt x="14198" y="20916"/>
                </a:cubicBezTo>
                <a:close/>
                <a:moveTo>
                  <a:pt x="6592" y="20738"/>
                </a:moveTo>
                <a:cubicBezTo>
                  <a:pt x="6516" y="20713"/>
                  <a:pt x="6491" y="20637"/>
                  <a:pt x="6516" y="20561"/>
                </a:cubicBezTo>
                <a:cubicBezTo>
                  <a:pt x="6542" y="20510"/>
                  <a:pt x="6618" y="20485"/>
                  <a:pt x="6694" y="20510"/>
                </a:cubicBezTo>
                <a:cubicBezTo>
                  <a:pt x="6744" y="20535"/>
                  <a:pt x="6770" y="20611"/>
                  <a:pt x="6744" y="20662"/>
                </a:cubicBezTo>
                <a:cubicBezTo>
                  <a:pt x="6719" y="20713"/>
                  <a:pt x="6694" y="20738"/>
                  <a:pt x="6643" y="20738"/>
                </a:cubicBezTo>
                <a:cubicBezTo>
                  <a:pt x="6618" y="20738"/>
                  <a:pt x="6592" y="20738"/>
                  <a:pt x="6592" y="20738"/>
                </a:cubicBezTo>
                <a:close/>
                <a:moveTo>
                  <a:pt x="14857" y="20662"/>
                </a:moveTo>
                <a:cubicBezTo>
                  <a:pt x="14831" y="20586"/>
                  <a:pt x="14857" y="20510"/>
                  <a:pt x="14933" y="20485"/>
                </a:cubicBezTo>
                <a:cubicBezTo>
                  <a:pt x="15009" y="20459"/>
                  <a:pt x="15060" y="20485"/>
                  <a:pt x="15110" y="20561"/>
                </a:cubicBezTo>
                <a:cubicBezTo>
                  <a:pt x="15136" y="20611"/>
                  <a:pt x="15085" y="20687"/>
                  <a:pt x="15034" y="20713"/>
                </a:cubicBezTo>
                <a:cubicBezTo>
                  <a:pt x="15009" y="20738"/>
                  <a:pt x="15009" y="20738"/>
                  <a:pt x="14984" y="20738"/>
                </a:cubicBezTo>
                <a:cubicBezTo>
                  <a:pt x="14933" y="20738"/>
                  <a:pt x="14882" y="20713"/>
                  <a:pt x="14857" y="20662"/>
                </a:cubicBezTo>
                <a:close/>
                <a:moveTo>
                  <a:pt x="5933" y="20434"/>
                </a:moveTo>
                <a:cubicBezTo>
                  <a:pt x="5857" y="20409"/>
                  <a:pt x="5831" y="20333"/>
                  <a:pt x="5882" y="20256"/>
                </a:cubicBezTo>
                <a:cubicBezTo>
                  <a:pt x="5907" y="20206"/>
                  <a:pt x="5984" y="20180"/>
                  <a:pt x="6034" y="20206"/>
                </a:cubicBezTo>
                <a:cubicBezTo>
                  <a:pt x="6110" y="20231"/>
                  <a:pt x="6136" y="20307"/>
                  <a:pt x="6110" y="20383"/>
                </a:cubicBezTo>
                <a:cubicBezTo>
                  <a:pt x="6085" y="20409"/>
                  <a:pt x="6034" y="20434"/>
                  <a:pt x="5984" y="20434"/>
                </a:cubicBezTo>
                <a:cubicBezTo>
                  <a:pt x="5958" y="20434"/>
                  <a:pt x="5958" y="20434"/>
                  <a:pt x="5933" y="20434"/>
                </a:cubicBezTo>
                <a:close/>
                <a:moveTo>
                  <a:pt x="15516" y="20358"/>
                </a:moveTo>
                <a:cubicBezTo>
                  <a:pt x="15490" y="20307"/>
                  <a:pt x="15516" y="20231"/>
                  <a:pt x="15567" y="20206"/>
                </a:cubicBezTo>
                <a:cubicBezTo>
                  <a:pt x="15643" y="20155"/>
                  <a:pt x="15719" y="20180"/>
                  <a:pt x="15744" y="20256"/>
                </a:cubicBezTo>
                <a:cubicBezTo>
                  <a:pt x="15769" y="20307"/>
                  <a:pt x="15744" y="20383"/>
                  <a:pt x="15693" y="20409"/>
                </a:cubicBezTo>
                <a:cubicBezTo>
                  <a:pt x="15668" y="20434"/>
                  <a:pt x="15643" y="20434"/>
                  <a:pt x="15617" y="20434"/>
                </a:cubicBezTo>
                <a:cubicBezTo>
                  <a:pt x="15592" y="20434"/>
                  <a:pt x="15541" y="20409"/>
                  <a:pt x="15516" y="20358"/>
                </a:cubicBezTo>
                <a:close/>
                <a:moveTo>
                  <a:pt x="5299" y="20079"/>
                </a:moveTo>
                <a:cubicBezTo>
                  <a:pt x="5248" y="20054"/>
                  <a:pt x="5223" y="19978"/>
                  <a:pt x="5248" y="19902"/>
                </a:cubicBezTo>
                <a:cubicBezTo>
                  <a:pt x="5299" y="19851"/>
                  <a:pt x="5375" y="19826"/>
                  <a:pt x="5426" y="19876"/>
                </a:cubicBezTo>
                <a:cubicBezTo>
                  <a:pt x="5477" y="19902"/>
                  <a:pt x="5502" y="19978"/>
                  <a:pt x="5477" y="20028"/>
                </a:cubicBezTo>
                <a:cubicBezTo>
                  <a:pt x="5451" y="20079"/>
                  <a:pt x="5401" y="20104"/>
                  <a:pt x="5350" y="20104"/>
                </a:cubicBezTo>
                <a:cubicBezTo>
                  <a:pt x="5350" y="20104"/>
                  <a:pt x="5325" y="20104"/>
                  <a:pt x="5299" y="20079"/>
                </a:cubicBezTo>
                <a:close/>
                <a:moveTo>
                  <a:pt x="16150" y="20028"/>
                </a:moveTo>
                <a:cubicBezTo>
                  <a:pt x="16099" y="19978"/>
                  <a:pt x="16125" y="19902"/>
                  <a:pt x="16175" y="19851"/>
                </a:cubicBezTo>
                <a:cubicBezTo>
                  <a:pt x="16251" y="19826"/>
                  <a:pt x="16327" y="19826"/>
                  <a:pt x="16353" y="19902"/>
                </a:cubicBezTo>
                <a:cubicBezTo>
                  <a:pt x="16404" y="19952"/>
                  <a:pt x="16378" y="20028"/>
                  <a:pt x="16327" y="20079"/>
                </a:cubicBezTo>
                <a:cubicBezTo>
                  <a:pt x="16302" y="20079"/>
                  <a:pt x="16277" y="20079"/>
                  <a:pt x="16251" y="20079"/>
                </a:cubicBezTo>
                <a:cubicBezTo>
                  <a:pt x="16201" y="20079"/>
                  <a:pt x="16175" y="20079"/>
                  <a:pt x="16150" y="20028"/>
                </a:cubicBezTo>
                <a:close/>
                <a:moveTo>
                  <a:pt x="4691" y="19699"/>
                </a:moveTo>
                <a:cubicBezTo>
                  <a:pt x="4640" y="19648"/>
                  <a:pt x="4615" y="19572"/>
                  <a:pt x="4666" y="19521"/>
                </a:cubicBezTo>
                <a:cubicBezTo>
                  <a:pt x="4691" y="19471"/>
                  <a:pt x="4767" y="19445"/>
                  <a:pt x="4843" y="19496"/>
                </a:cubicBezTo>
                <a:cubicBezTo>
                  <a:pt x="4894" y="19521"/>
                  <a:pt x="4894" y="19597"/>
                  <a:pt x="4868" y="19648"/>
                </a:cubicBezTo>
                <a:cubicBezTo>
                  <a:pt x="4843" y="19699"/>
                  <a:pt x="4792" y="19724"/>
                  <a:pt x="4767" y="19724"/>
                </a:cubicBezTo>
                <a:cubicBezTo>
                  <a:pt x="4742" y="19724"/>
                  <a:pt x="4716" y="19699"/>
                  <a:pt x="4691" y="19699"/>
                </a:cubicBezTo>
                <a:close/>
                <a:moveTo>
                  <a:pt x="16758" y="19648"/>
                </a:moveTo>
                <a:cubicBezTo>
                  <a:pt x="16707" y="19597"/>
                  <a:pt x="16733" y="19521"/>
                  <a:pt x="16784" y="19471"/>
                </a:cubicBezTo>
                <a:cubicBezTo>
                  <a:pt x="16834" y="19445"/>
                  <a:pt x="16910" y="19445"/>
                  <a:pt x="16961" y="19496"/>
                </a:cubicBezTo>
                <a:cubicBezTo>
                  <a:pt x="16986" y="19572"/>
                  <a:pt x="16986" y="19648"/>
                  <a:pt x="16910" y="19673"/>
                </a:cubicBezTo>
                <a:cubicBezTo>
                  <a:pt x="16910" y="19699"/>
                  <a:pt x="16885" y="19699"/>
                  <a:pt x="16860" y="19699"/>
                </a:cubicBezTo>
                <a:cubicBezTo>
                  <a:pt x="16809" y="19699"/>
                  <a:pt x="16758" y="19673"/>
                  <a:pt x="16758" y="19648"/>
                </a:cubicBezTo>
                <a:close/>
                <a:moveTo>
                  <a:pt x="4108" y="19268"/>
                </a:moveTo>
                <a:cubicBezTo>
                  <a:pt x="4057" y="19217"/>
                  <a:pt x="4031" y="19141"/>
                  <a:pt x="4082" y="19090"/>
                </a:cubicBezTo>
                <a:cubicBezTo>
                  <a:pt x="4133" y="19040"/>
                  <a:pt x="4209" y="19014"/>
                  <a:pt x="4260" y="19065"/>
                </a:cubicBezTo>
                <a:cubicBezTo>
                  <a:pt x="4310" y="19116"/>
                  <a:pt x="4336" y="19192"/>
                  <a:pt x="4285" y="19243"/>
                </a:cubicBezTo>
                <a:cubicBezTo>
                  <a:pt x="4260" y="19268"/>
                  <a:pt x="4234" y="19293"/>
                  <a:pt x="4184" y="19293"/>
                </a:cubicBezTo>
                <a:cubicBezTo>
                  <a:pt x="4158" y="19293"/>
                  <a:pt x="4133" y="19293"/>
                  <a:pt x="4108" y="19268"/>
                </a:cubicBezTo>
                <a:close/>
                <a:moveTo>
                  <a:pt x="17316" y="19243"/>
                </a:moveTo>
                <a:cubicBezTo>
                  <a:pt x="17290" y="19166"/>
                  <a:pt x="17290" y="19090"/>
                  <a:pt x="17341" y="19065"/>
                </a:cubicBezTo>
                <a:cubicBezTo>
                  <a:pt x="17392" y="19014"/>
                  <a:pt x="17468" y="19014"/>
                  <a:pt x="17519" y="19065"/>
                </a:cubicBezTo>
                <a:cubicBezTo>
                  <a:pt x="17569" y="19141"/>
                  <a:pt x="17544" y="19217"/>
                  <a:pt x="17493" y="19243"/>
                </a:cubicBezTo>
                <a:cubicBezTo>
                  <a:pt x="17468" y="19268"/>
                  <a:pt x="17443" y="19268"/>
                  <a:pt x="17417" y="19268"/>
                </a:cubicBezTo>
                <a:cubicBezTo>
                  <a:pt x="17392" y="19268"/>
                  <a:pt x="17341" y="19268"/>
                  <a:pt x="17316" y="19243"/>
                </a:cubicBezTo>
                <a:close/>
                <a:moveTo>
                  <a:pt x="3549" y="18786"/>
                </a:moveTo>
                <a:cubicBezTo>
                  <a:pt x="3498" y="18760"/>
                  <a:pt x="3498" y="18659"/>
                  <a:pt x="3549" y="18608"/>
                </a:cubicBezTo>
                <a:cubicBezTo>
                  <a:pt x="3600" y="18558"/>
                  <a:pt x="3676" y="18558"/>
                  <a:pt x="3727" y="18608"/>
                </a:cubicBezTo>
                <a:cubicBezTo>
                  <a:pt x="3777" y="18659"/>
                  <a:pt x="3777" y="18735"/>
                  <a:pt x="3727" y="18786"/>
                </a:cubicBezTo>
                <a:cubicBezTo>
                  <a:pt x="3701" y="18811"/>
                  <a:pt x="3676" y="18837"/>
                  <a:pt x="3651" y="18837"/>
                </a:cubicBezTo>
                <a:cubicBezTo>
                  <a:pt x="3600" y="18837"/>
                  <a:pt x="3574" y="18811"/>
                  <a:pt x="3549" y="18786"/>
                </a:cubicBezTo>
                <a:close/>
                <a:moveTo>
                  <a:pt x="17873" y="18786"/>
                </a:moveTo>
                <a:cubicBezTo>
                  <a:pt x="17822" y="18735"/>
                  <a:pt x="17822" y="18634"/>
                  <a:pt x="17873" y="18608"/>
                </a:cubicBezTo>
                <a:cubicBezTo>
                  <a:pt x="17924" y="18558"/>
                  <a:pt x="18000" y="18558"/>
                  <a:pt x="18050" y="18608"/>
                </a:cubicBezTo>
                <a:cubicBezTo>
                  <a:pt x="18101" y="18659"/>
                  <a:pt x="18101" y="18735"/>
                  <a:pt x="18050" y="18786"/>
                </a:cubicBezTo>
                <a:cubicBezTo>
                  <a:pt x="18025" y="18811"/>
                  <a:pt x="18000" y="18811"/>
                  <a:pt x="17974" y="18811"/>
                </a:cubicBezTo>
                <a:cubicBezTo>
                  <a:pt x="17924" y="18811"/>
                  <a:pt x="17898" y="18811"/>
                  <a:pt x="17873" y="18786"/>
                </a:cubicBezTo>
                <a:close/>
                <a:moveTo>
                  <a:pt x="3042" y="18304"/>
                </a:moveTo>
                <a:cubicBezTo>
                  <a:pt x="2992" y="18253"/>
                  <a:pt x="2992" y="18177"/>
                  <a:pt x="3042" y="18127"/>
                </a:cubicBezTo>
                <a:cubicBezTo>
                  <a:pt x="3093" y="18076"/>
                  <a:pt x="3169" y="18076"/>
                  <a:pt x="3220" y="18127"/>
                </a:cubicBezTo>
                <a:cubicBezTo>
                  <a:pt x="3271" y="18177"/>
                  <a:pt x="3271" y="18253"/>
                  <a:pt x="3220" y="18304"/>
                </a:cubicBezTo>
                <a:cubicBezTo>
                  <a:pt x="3194" y="18330"/>
                  <a:pt x="3169" y="18330"/>
                  <a:pt x="3118" y="18330"/>
                </a:cubicBezTo>
                <a:cubicBezTo>
                  <a:pt x="3093" y="18330"/>
                  <a:pt x="3068" y="18330"/>
                  <a:pt x="3042" y="18304"/>
                </a:cubicBezTo>
                <a:close/>
                <a:moveTo>
                  <a:pt x="18380" y="18279"/>
                </a:moveTo>
                <a:cubicBezTo>
                  <a:pt x="18329" y="18228"/>
                  <a:pt x="18329" y="18152"/>
                  <a:pt x="18380" y="18101"/>
                </a:cubicBezTo>
                <a:cubicBezTo>
                  <a:pt x="18431" y="18051"/>
                  <a:pt x="18507" y="18051"/>
                  <a:pt x="18558" y="18101"/>
                </a:cubicBezTo>
                <a:cubicBezTo>
                  <a:pt x="18608" y="18152"/>
                  <a:pt x="18608" y="18228"/>
                  <a:pt x="18558" y="18279"/>
                </a:cubicBezTo>
                <a:cubicBezTo>
                  <a:pt x="18532" y="18304"/>
                  <a:pt x="18507" y="18330"/>
                  <a:pt x="18482" y="18330"/>
                </a:cubicBezTo>
                <a:cubicBezTo>
                  <a:pt x="18456" y="18330"/>
                  <a:pt x="18406" y="18304"/>
                  <a:pt x="18380" y="18279"/>
                </a:cubicBezTo>
                <a:close/>
                <a:moveTo>
                  <a:pt x="2561" y="17772"/>
                </a:moveTo>
                <a:cubicBezTo>
                  <a:pt x="2510" y="17696"/>
                  <a:pt x="2510" y="17620"/>
                  <a:pt x="2561" y="17594"/>
                </a:cubicBezTo>
                <a:cubicBezTo>
                  <a:pt x="2612" y="17544"/>
                  <a:pt x="2713" y="17544"/>
                  <a:pt x="2738" y="17594"/>
                </a:cubicBezTo>
                <a:cubicBezTo>
                  <a:pt x="2789" y="17645"/>
                  <a:pt x="2789" y="17721"/>
                  <a:pt x="2738" y="17772"/>
                </a:cubicBezTo>
                <a:cubicBezTo>
                  <a:pt x="2713" y="17797"/>
                  <a:pt x="2688" y="17797"/>
                  <a:pt x="2662" y="17797"/>
                </a:cubicBezTo>
                <a:cubicBezTo>
                  <a:pt x="2612" y="17797"/>
                  <a:pt x="2586" y="17797"/>
                  <a:pt x="2561" y="17772"/>
                </a:cubicBezTo>
                <a:close/>
                <a:moveTo>
                  <a:pt x="18862" y="17772"/>
                </a:moveTo>
                <a:cubicBezTo>
                  <a:pt x="18811" y="17721"/>
                  <a:pt x="18811" y="17645"/>
                  <a:pt x="18862" y="17594"/>
                </a:cubicBezTo>
                <a:cubicBezTo>
                  <a:pt x="18913" y="17518"/>
                  <a:pt x="18989" y="17518"/>
                  <a:pt x="19040" y="17569"/>
                </a:cubicBezTo>
                <a:cubicBezTo>
                  <a:pt x="19090" y="17620"/>
                  <a:pt x="19090" y="17696"/>
                  <a:pt x="19040" y="17747"/>
                </a:cubicBezTo>
                <a:cubicBezTo>
                  <a:pt x="19014" y="17772"/>
                  <a:pt x="18989" y="17797"/>
                  <a:pt x="18964" y="17797"/>
                </a:cubicBezTo>
                <a:cubicBezTo>
                  <a:pt x="18913" y="17797"/>
                  <a:pt x="18887" y="17772"/>
                  <a:pt x="18862" y="17772"/>
                </a:cubicBezTo>
                <a:close/>
                <a:moveTo>
                  <a:pt x="2104" y="17189"/>
                </a:moveTo>
                <a:cubicBezTo>
                  <a:pt x="2054" y="17138"/>
                  <a:pt x="2079" y="17062"/>
                  <a:pt x="2130" y="17011"/>
                </a:cubicBezTo>
                <a:cubicBezTo>
                  <a:pt x="2180" y="16986"/>
                  <a:pt x="2282" y="16986"/>
                  <a:pt x="2307" y="17037"/>
                </a:cubicBezTo>
                <a:cubicBezTo>
                  <a:pt x="2358" y="17113"/>
                  <a:pt x="2333" y="17189"/>
                  <a:pt x="2282" y="17214"/>
                </a:cubicBezTo>
                <a:cubicBezTo>
                  <a:pt x="2256" y="17240"/>
                  <a:pt x="2231" y="17240"/>
                  <a:pt x="2206" y="17240"/>
                </a:cubicBezTo>
                <a:cubicBezTo>
                  <a:pt x="2180" y="17240"/>
                  <a:pt x="2130" y="17240"/>
                  <a:pt x="2104" y="17189"/>
                </a:cubicBezTo>
                <a:close/>
                <a:moveTo>
                  <a:pt x="19318" y="17214"/>
                </a:moveTo>
                <a:cubicBezTo>
                  <a:pt x="19267" y="17163"/>
                  <a:pt x="19242" y="17087"/>
                  <a:pt x="19293" y="17037"/>
                </a:cubicBezTo>
                <a:cubicBezTo>
                  <a:pt x="19344" y="16986"/>
                  <a:pt x="19420" y="16961"/>
                  <a:pt x="19470" y="17011"/>
                </a:cubicBezTo>
                <a:cubicBezTo>
                  <a:pt x="19521" y="17037"/>
                  <a:pt x="19546" y="17113"/>
                  <a:pt x="19496" y="17189"/>
                </a:cubicBezTo>
                <a:cubicBezTo>
                  <a:pt x="19470" y="17214"/>
                  <a:pt x="19445" y="17240"/>
                  <a:pt x="19394" y="17240"/>
                </a:cubicBezTo>
                <a:cubicBezTo>
                  <a:pt x="19369" y="17240"/>
                  <a:pt x="19344" y="17214"/>
                  <a:pt x="19318" y="17214"/>
                </a:cubicBezTo>
                <a:close/>
                <a:moveTo>
                  <a:pt x="1698" y="16605"/>
                </a:moveTo>
                <a:cubicBezTo>
                  <a:pt x="1648" y="16555"/>
                  <a:pt x="1673" y="16453"/>
                  <a:pt x="1724" y="16428"/>
                </a:cubicBezTo>
                <a:cubicBezTo>
                  <a:pt x="1800" y="16377"/>
                  <a:pt x="1876" y="16403"/>
                  <a:pt x="1901" y="16453"/>
                </a:cubicBezTo>
                <a:cubicBezTo>
                  <a:pt x="1952" y="16529"/>
                  <a:pt x="1927" y="16605"/>
                  <a:pt x="1876" y="16631"/>
                </a:cubicBezTo>
                <a:cubicBezTo>
                  <a:pt x="1851" y="16656"/>
                  <a:pt x="1825" y="16656"/>
                  <a:pt x="1800" y="16656"/>
                </a:cubicBezTo>
                <a:cubicBezTo>
                  <a:pt x="1775" y="16656"/>
                  <a:pt x="1724" y="16631"/>
                  <a:pt x="1698" y="16605"/>
                </a:cubicBezTo>
                <a:close/>
                <a:moveTo>
                  <a:pt x="19724" y="16631"/>
                </a:moveTo>
                <a:cubicBezTo>
                  <a:pt x="19673" y="16580"/>
                  <a:pt x="19647" y="16504"/>
                  <a:pt x="19698" y="16453"/>
                </a:cubicBezTo>
                <a:cubicBezTo>
                  <a:pt x="19724" y="16377"/>
                  <a:pt x="19800" y="16377"/>
                  <a:pt x="19876" y="16403"/>
                </a:cubicBezTo>
                <a:cubicBezTo>
                  <a:pt x="19926" y="16453"/>
                  <a:pt x="19952" y="16529"/>
                  <a:pt x="19901" y="16580"/>
                </a:cubicBezTo>
                <a:cubicBezTo>
                  <a:pt x="19876" y="16631"/>
                  <a:pt x="19850" y="16656"/>
                  <a:pt x="19800" y="16656"/>
                </a:cubicBezTo>
                <a:cubicBezTo>
                  <a:pt x="19774" y="16656"/>
                  <a:pt x="19749" y="16631"/>
                  <a:pt x="19724" y="16631"/>
                </a:cubicBezTo>
                <a:close/>
                <a:moveTo>
                  <a:pt x="1318" y="15972"/>
                </a:moveTo>
                <a:cubicBezTo>
                  <a:pt x="1293" y="15921"/>
                  <a:pt x="1318" y="15845"/>
                  <a:pt x="1369" y="15820"/>
                </a:cubicBezTo>
                <a:cubicBezTo>
                  <a:pt x="1445" y="15769"/>
                  <a:pt x="1521" y="15794"/>
                  <a:pt x="1547" y="15870"/>
                </a:cubicBezTo>
                <a:cubicBezTo>
                  <a:pt x="1597" y="15921"/>
                  <a:pt x="1572" y="15997"/>
                  <a:pt x="1496" y="16022"/>
                </a:cubicBezTo>
                <a:cubicBezTo>
                  <a:pt x="1471" y="16048"/>
                  <a:pt x="1471" y="16048"/>
                  <a:pt x="1445" y="16048"/>
                </a:cubicBezTo>
                <a:cubicBezTo>
                  <a:pt x="1395" y="16048"/>
                  <a:pt x="1344" y="16022"/>
                  <a:pt x="1318" y="15972"/>
                </a:cubicBezTo>
                <a:close/>
                <a:moveTo>
                  <a:pt x="20104" y="16022"/>
                </a:moveTo>
                <a:cubicBezTo>
                  <a:pt x="20028" y="15972"/>
                  <a:pt x="20028" y="15896"/>
                  <a:pt x="20053" y="15845"/>
                </a:cubicBezTo>
                <a:cubicBezTo>
                  <a:pt x="20079" y="15769"/>
                  <a:pt x="20155" y="15769"/>
                  <a:pt x="20231" y="15794"/>
                </a:cubicBezTo>
                <a:cubicBezTo>
                  <a:pt x="20282" y="15820"/>
                  <a:pt x="20307" y="15896"/>
                  <a:pt x="20282" y="15972"/>
                </a:cubicBezTo>
                <a:cubicBezTo>
                  <a:pt x="20256" y="15997"/>
                  <a:pt x="20205" y="16022"/>
                  <a:pt x="20155" y="16022"/>
                </a:cubicBezTo>
                <a:cubicBezTo>
                  <a:pt x="20129" y="16022"/>
                  <a:pt x="20129" y="16022"/>
                  <a:pt x="20104" y="16022"/>
                </a:cubicBezTo>
                <a:close/>
                <a:moveTo>
                  <a:pt x="1014" y="15338"/>
                </a:moveTo>
                <a:cubicBezTo>
                  <a:pt x="963" y="15287"/>
                  <a:pt x="989" y="15211"/>
                  <a:pt x="1065" y="15160"/>
                </a:cubicBezTo>
                <a:cubicBezTo>
                  <a:pt x="1141" y="15135"/>
                  <a:pt x="1192" y="15160"/>
                  <a:pt x="1242" y="15237"/>
                </a:cubicBezTo>
                <a:cubicBezTo>
                  <a:pt x="1268" y="15287"/>
                  <a:pt x="1242" y="15363"/>
                  <a:pt x="1166" y="15389"/>
                </a:cubicBezTo>
                <a:cubicBezTo>
                  <a:pt x="1166" y="15414"/>
                  <a:pt x="1141" y="15414"/>
                  <a:pt x="1116" y="15414"/>
                </a:cubicBezTo>
                <a:cubicBezTo>
                  <a:pt x="1065" y="15414"/>
                  <a:pt x="1014" y="15389"/>
                  <a:pt x="1014" y="15338"/>
                </a:cubicBezTo>
                <a:close/>
                <a:moveTo>
                  <a:pt x="20434" y="15389"/>
                </a:moveTo>
                <a:cubicBezTo>
                  <a:pt x="20358" y="15363"/>
                  <a:pt x="20332" y="15287"/>
                  <a:pt x="20358" y="15211"/>
                </a:cubicBezTo>
                <a:cubicBezTo>
                  <a:pt x="20408" y="15160"/>
                  <a:pt x="20484" y="15110"/>
                  <a:pt x="20535" y="15160"/>
                </a:cubicBezTo>
                <a:cubicBezTo>
                  <a:pt x="20611" y="15186"/>
                  <a:pt x="20637" y="15262"/>
                  <a:pt x="20611" y="15313"/>
                </a:cubicBezTo>
                <a:cubicBezTo>
                  <a:pt x="20586" y="15363"/>
                  <a:pt x="20535" y="15389"/>
                  <a:pt x="20484" y="15389"/>
                </a:cubicBezTo>
                <a:cubicBezTo>
                  <a:pt x="20459" y="15389"/>
                  <a:pt x="20459" y="15389"/>
                  <a:pt x="20434" y="15389"/>
                </a:cubicBezTo>
                <a:close/>
                <a:moveTo>
                  <a:pt x="710" y="14679"/>
                </a:moveTo>
                <a:cubicBezTo>
                  <a:pt x="684" y="14603"/>
                  <a:pt x="735" y="14527"/>
                  <a:pt x="786" y="14501"/>
                </a:cubicBezTo>
                <a:cubicBezTo>
                  <a:pt x="862" y="14476"/>
                  <a:pt x="938" y="14527"/>
                  <a:pt x="963" y="14577"/>
                </a:cubicBezTo>
                <a:cubicBezTo>
                  <a:pt x="989" y="14653"/>
                  <a:pt x="938" y="14730"/>
                  <a:pt x="887" y="14755"/>
                </a:cubicBezTo>
                <a:cubicBezTo>
                  <a:pt x="862" y="14755"/>
                  <a:pt x="862" y="14755"/>
                  <a:pt x="837" y="14755"/>
                </a:cubicBezTo>
                <a:cubicBezTo>
                  <a:pt x="786" y="14755"/>
                  <a:pt x="735" y="14730"/>
                  <a:pt x="710" y="14679"/>
                </a:cubicBezTo>
                <a:close/>
                <a:moveTo>
                  <a:pt x="20712" y="14730"/>
                </a:moveTo>
                <a:cubicBezTo>
                  <a:pt x="20662" y="14704"/>
                  <a:pt x="20611" y="14628"/>
                  <a:pt x="20636" y="14552"/>
                </a:cubicBezTo>
                <a:cubicBezTo>
                  <a:pt x="20662" y="14501"/>
                  <a:pt x="20738" y="14476"/>
                  <a:pt x="20814" y="14501"/>
                </a:cubicBezTo>
                <a:cubicBezTo>
                  <a:pt x="20864" y="14527"/>
                  <a:pt x="20915" y="14577"/>
                  <a:pt x="20890" y="14653"/>
                </a:cubicBezTo>
                <a:cubicBezTo>
                  <a:pt x="20864" y="14704"/>
                  <a:pt x="20814" y="14730"/>
                  <a:pt x="20763" y="14730"/>
                </a:cubicBezTo>
                <a:cubicBezTo>
                  <a:pt x="20738" y="14730"/>
                  <a:pt x="20738" y="14730"/>
                  <a:pt x="20712" y="14730"/>
                </a:cubicBezTo>
                <a:close/>
                <a:moveTo>
                  <a:pt x="481" y="13994"/>
                </a:moveTo>
                <a:cubicBezTo>
                  <a:pt x="456" y="13918"/>
                  <a:pt x="507" y="13868"/>
                  <a:pt x="558" y="13842"/>
                </a:cubicBezTo>
                <a:cubicBezTo>
                  <a:pt x="634" y="13817"/>
                  <a:pt x="710" y="13842"/>
                  <a:pt x="735" y="13918"/>
                </a:cubicBezTo>
                <a:cubicBezTo>
                  <a:pt x="735" y="13994"/>
                  <a:pt x="710" y="14070"/>
                  <a:pt x="634" y="14070"/>
                </a:cubicBezTo>
                <a:cubicBezTo>
                  <a:pt x="634" y="14096"/>
                  <a:pt x="608" y="14096"/>
                  <a:pt x="608" y="14096"/>
                </a:cubicBezTo>
                <a:cubicBezTo>
                  <a:pt x="558" y="14096"/>
                  <a:pt x="507" y="14045"/>
                  <a:pt x="481" y="13994"/>
                </a:cubicBezTo>
                <a:close/>
                <a:moveTo>
                  <a:pt x="20965" y="14045"/>
                </a:moveTo>
                <a:cubicBezTo>
                  <a:pt x="20889" y="14045"/>
                  <a:pt x="20864" y="13969"/>
                  <a:pt x="20864" y="13893"/>
                </a:cubicBezTo>
                <a:cubicBezTo>
                  <a:pt x="20889" y="13842"/>
                  <a:pt x="20965" y="13792"/>
                  <a:pt x="21042" y="13817"/>
                </a:cubicBezTo>
                <a:cubicBezTo>
                  <a:pt x="21092" y="13842"/>
                  <a:pt x="21143" y="13893"/>
                  <a:pt x="21118" y="13969"/>
                </a:cubicBezTo>
                <a:cubicBezTo>
                  <a:pt x="21092" y="14020"/>
                  <a:pt x="21042" y="14070"/>
                  <a:pt x="20991" y="14070"/>
                </a:cubicBezTo>
                <a:cubicBezTo>
                  <a:pt x="20991" y="14070"/>
                  <a:pt x="20965" y="14070"/>
                  <a:pt x="20965" y="14045"/>
                </a:cubicBezTo>
                <a:close/>
                <a:moveTo>
                  <a:pt x="304" y="13310"/>
                </a:moveTo>
                <a:cubicBezTo>
                  <a:pt x="279" y="13234"/>
                  <a:pt x="330" y="13157"/>
                  <a:pt x="380" y="13157"/>
                </a:cubicBezTo>
                <a:cubicBezTo>
                  <a:pt x="457" y="13132"/>
                  <a:pt x="533" y="13183"/>
                  <a:pt x="533" y="13234"/>
                </a:cubicBezTo>
                <a:cubicBezTo>
                  <a:pt x="558" y="13310"/>
                  <a:pt x="507" y="13386"/>
                  <a:pt x="457" y="13386"/>
                </a:cubicBezTo>
                <a:cubicBezTo>
                  <a:pt x="431" y="13386"/>
                  <a:pt x="431" y="13386"/>
                  <a:pt x="406" y="13386"/>
                </a:cubicBezTo>
                <a:cubicBezTo>
                  <a:pt x="355" y="13386"/>
                  <a:pt x="304" y="13360"/>
                  <a:pt x="304" y="13310"/>
                </a:cubicBezTo>
                <a:close/>
                <a:moveTo>
                  <a:pt x="21143" y="13360"/>
                </a:moveTo>
                <a:cubicBezTo>
                  <a:pt x="21093" y="13360"/>
                  <a:pt x="21042" y="13284"/>
                  <a:pt x="21067" y="13208"/>
                </a:cubicBezTo>
                <a:cubicBezTo>
                  <a:pt x="21067" y="13157"/>
                  <a:pt x="21143" y="13107"/>
                  <a:pt x="21220" y="13132"/>
                </a:cubicBezTo>
                <a:cubicBezTo>
                  <a:pt x="21270" y="13132"/>
                  <a:pt x="21321" y="13208"/>
                  <a:pt x="21296" y="13284"/>
                </a:cubicBezTo>
                <a:cubicBezTo>
                  <a:pt x="21296" y="13335"/>
                  <a:pt x="21245" y="13386"/>
                  <a:pt x="21194" y="13386"/>
                </a:cubicBezTo>
                <a:cubicBezTo>
                  <a:pt x="21169" y="13386"/>
                  <a:pt x="21169" y="13360"/>
                  <a:pt x="21143" y="13360"/>
                </a:cubicBezTo>
                <a:close/>
                <a:moveTo>
                  <a:pt x="152" y="12600"/>
                </a:moveTo>
                <a:cubicBezTo>
                  <a:pt x="127" y="12524"/>
                  <a:pt x="178" y="12448"/>
                  <a:pt x="254" y="12448"/>
                </a:cubicBezTo>
                <a:cubicBezTo>
                  <a:pt x="330" y="12448"/>
                  <a:pt x="380" y="12473"/>
                  <a:pt x="406" y="12549"/>
                </a:cubicBezTo>
                <a:cubicBezTo>
                  <a:pt x="406" y="12625"/>
                  <a:pt x="355" y="12676"/>
                  <a:pt x="304" y="12701"/>
                </a:cubicBezTo>
                <a:cubicBezTo>
                  <a:pt x="279" y="12701"/>
                  <a:pt x="279" y="12701"/>
                  <a:pt x="279" y="12701"/>
                </a:cubicBezTo>
                <a:cubicBezTo>
                  <a:pt x="203" y="12701"/>
                  <a:pt x="152" y="12650"/>
                  <a:pt x="152" y="12600"/>
                </a:cubicBezTo>
                <a:close/>
                <a:moveTo>
                  <a:pt x="21296" y="12676"/>
                </a:moveTo>
                <a:cubicBezTo>
                  <a:pt x="21245" y="12650"/>
                  <a:pt x="21194" y="12600"/>
                  <a:pt x="21194" y="12524"/>
                </a:cubicBezTo>
                <a:cubicBezTo>
                  <a:pt x="21220" y="12448"/>
                  <a:pt x="21270" y="12422"/>
                  <a:pt x="21346" y="12422"/>
                </a:cubicBezTo>
                <a:cubicBezTo>
                  <a:pt x="21422" y="12422"/>
                  <a:pt x="21448" y="12498"/>
                  <a:pt x="21448" y="12574"/>
                </a:cubicBezTo>
                <a:cubicBezTo>
                  <a:pt x="21448" y="12625"/>
                  <a:pt x="21397" y="12676"/>
                  <a:pt x="21321" y="12676"/>
                </a:cubicBezTo>
                <a:cubicBezTo>
                  <a:pt x="21321" y="12676"/>
                  <a:pt x="21321" y="12676"/>
                  <a:pt x="21296" y="12676"/>
                </a:cubicBezTo>
                <a:close/>
                <a:moveTo>
                  <a:pt x="51" y="11890"/>
                </a:moveTo>
                <a:cubicBezTo>
                  <a:pt x="51" y="11814"/>
                  <a:pt x="101" y="11738"/>
                  <a:pt x="178" y="11738"/>
                </a:cubicBezTo>
                <a:cubicBezTo>
                  <a:pt x="228" y="11738"/>
                  <a:pt x="304" y="11789"/>
                  <a:pt x="304" y="11865"/>
                </a:cubicBezTo>
                <a:cubicBezTo>
                  <a:pt x="304" y="11915"/>
                  <a:pt x="254" y="11991"/>
                  <a:pt x="203" y="11991"/>
                </a:cubicBezTo>
                <a:cubicBezTo>
                  <a:pt x="178" y="11991"/>
                  <a:pt x="178" y="11991"/>
                  <a:pt x="178" y="11991"/>
                </a:cubicBezTo>
                <a:cubicBezTo>
                  <a:pt x="127" y="11991"/>
                  <a:pt x="51" y="11941"/>
                  <a:pt x="51" y="11890"/>
                </a:cubicBezTo>
                <a:close/>
                <a:moveTo>
                  <a:pt x="21397" y="11966"/>
                </a:moveTo>
                <a:cubicBezTo>
                  <a:pt x="21346" y="11966"/>
                  <a:pt x="21296" y="11890"/>
                  <a:pt x="21296" y="11839"/>
                </a:cubicBezTo>
                <a:cubicBezTo>
                  <a:pt x="21296" y="11763"/>
                  <a:pt x="21372" y="11713"/>
                  <a:pt x="21422" y="11713"/>
                </a:cubicBezTo>
                <a:cubicBezTo>
                  <a:pt x="21499" y="11713"/>
                  <a:pt x="21549" y="11789"/>
                  <a:pt x="21549" y="11865"/>
                </a:cubicBezTo>
                <a:cubicBezTo>
                  <a:pt x="21549" y="11915"/>
                  <a:pt x="21473" y="11966"/>
                  <a:pt x="21422" y="11966"/>
                </a:cubicBezTo>
                <a:cubicBezTo>
                  <a:pt x="21422" y="11966"/>
                  <a:pt x="21397" y="11966"/>
                  <a:pt x="21397" y="11966"/>
                </a:cubicBezTo>
                <a:close/>
                <a:moveTo>
                  <a:pt x="0" y="11155"/>
                </a:moveTo>
                <a:cubicBezTo>
                  <a:pt x="0" y="11079"/>
                  <a:pt x="51" y="11028"/>
                  <a:pt x="127" y="11028"/>
                </a:cubicBezTo>
                <a:cubicBezTo>
                  <a:pt x="203" y="11028"/>
                  <a:pt x="254" y="11079"/>
                  <a:pt x="254" y="11155"/>
                </a:cubicBezTo>
                <a:cubicBezTo>
                  <a:pt x="254" y="11231"/>
                  <a:pt x="203" y="11282"/>
                  <a:pt x="127" y="11282"/>
                </a:cubicBezTo>
                <a:cubicBezTo>
                  <a:pt x="51" y="11282"/>
                  <a:pt x="0" y="11231"/>
                  <a:pt x="0" y="11155"/>
                </a:cubicBezTo>
                <a:close/>
                <a:moveTo>
                  <a:pt x="21447" y="11256"/>
                </a:moveTo>
                <a:cubicBezTo>
                  <a:pt x="21397" y="11256"/>
                  <a:pt x="21346" y="11206"/>
                  <a:pt x="21346" y="11130"/>
                </a:cubicBezTo>
                <a:cubicBezTo>
                  <a:pt x="21346" y="11053"/>
                  <a:pt x="21397" y="11003"/>
                  <a:pt x="21473" y="11003"/>
                </a:cubicBezTo>
                <a:cubicBezTo>
                  <a:pt x="21549" y="11003"/>
                  <a:pt x="21600" y="11053"/>
                  <a:pt x="21600" y="11130"/>
                </a:cubicBezTo>
                <a:cubicBezTo>
                  <a:pt x="21600" y="11206"/>
                  <a:pt x="21523" y="11256"/>
                  <a:pt x="21473" y="11256"/>
                </a:cubicBezTo>
                <a:cubicBezTo>
                  <a:pt x="21473" y="11256"/>
                  <a:pt x="21447" y="11256"/>
                  <a:pt x="21447" y="11256"/>
                </a:cubicBezTo>
                <a:close/>
                <a:moveTo>
                  <a:pt x="127" y="10572"/>
                </a:moveTo>
                <a:cubicBezTo>
                  <a:pt x="51" y="10572"/>
                  <a:pt x="0" y="10496"/>
                  <a:pt x="0" y="10445"/>
                </a:cubicBezTo>
                <a:cubicBezTo>
                  <a:pt x="0" y="10369"/>
                  <a:pt x="76" y="10318"/>
                  <a:pt x="127" y="10318"/>
                </a:cubicBezTo>
                <a:cubicBezTo>
                  <a:pt x="203" y="10318"/>
                  <a:pt x="254" y="10369"/>
                  <a:pt x="254" y="10445"/>
                </a:cubicBezTo>
                <a:cubicBezTo>
                  <a:pt x="254" y="10521"/>
                  <a:pt x="203" y="10572"/>
                  <a:pt x="127" y="10572"/>
                </a:cubicBezTo>
                <a:close/>
                <a:moveTo>
                  <a:pt x="21346" y="10420"/>
                </a:moveTo>
                <a:cubicBezTo>
                  <a:pt x="21321" y="10344"/>
                  <a:pt x="21397" y="10293"/>
                  <a:pt x="21448" y="10293"/>
                </a:cubicBezTo>
                <a:cubicBezTo>
                  <a:pt x="21524" y="10293"/>
                  <a:pt x="21575" y="10344"/>
                  <a:pt x="21600" y="10420"/>
                </a:cubicBezTo>
                <a:cubicBezTo>
                  <a:pt x="21600" y="10470"/>
                  <a:pt x="21524" y="10547"/>
                  <a:pt x="21473" y="10547"/>
                </a:cubicBezTo>
                <a:cubicBezTo>
                  <a:pt x="21397" y="10547"/>
                  <a:pt x="21346" y="10496"/>
                  <a:pt x="21346" y="10420"/>
                </a:cubicBezTo>
                <a:close/>
                <a:moveTo>
                  <a:pt x="178" y="9862"/>
                </a:moveTo>
                <a:cubicBezTo>
                  <a:pt x="101" y="9862"/>
                  <a:pt x="51" y="9786"/>
                  <a:pt x="51" y="9710"/>
                </a:cubicBezTo>
                <a:cubicBezTo>
                  <a:pt x="51" y="9659"/>
                  <a:pt x="127" y="9609"/>
                  <a:pt x="178" y="9609"/>
                </a:cubicBezTo>
                <a:cubicBezTo>
                  <a:pt x="254" y="9609"/>
                  <a:pt x="304" y="9685"/>
                  <a:pt x="304" y="9735"/>
                </a:cubicBezTo>
                <a:cubicBezTo>
                  <a:pt x="304" y="9811"/>
                  <a:pt x="254" y="9862"/>
                  <a:pt x="178" y="9862"/>
                </a:cubicBezTo>
                <a:close/>
                <a:moveTo>
                  <a:pt x="21296" y="9710"/>
                </a:moveTo>
                <a:cubicBezTo>
                  <a:pt x="21270" y="9659"/>
                  <a:pt x="21321" y="9583"/>
                  <a:pt x="21397" y="9583"/>
                </a:cubicBezTo>
                <a:cubicBezTo>
                  <a:pt x="21473" y="9583"/>
                  <a:pt x="21524" y="9634"/>
                  <a:pt x="21549" y="9685"/>
                </a:cubicBezTo>
                <a:cubicBezTo>
                  <a:pt x="21549" y="9761"/>
                  <a:pt x="21499" y="9837"/>
                  <a:pt x="21422" y="9837"/>
                </a:cubicBezTo>
                <a:cubicBezTo>
                  <a:pt x="21346" y="9837"/>
                  <a:pt x="21296" y="9786"/>
                  <a:pt x="21296" y="9710"/>
                </a:cubicBezTo>
                <a:close/>
                <a:moveTo>
                  <a:pt x="254" y="9152"/>
                </a:moveTo>
                <a:cubicBezTo>
                  <a:pt x="178" y="9127"/>
                  <a:pt x="127" y="9076"/>
                  <a:pt x="152" y="9000"/>
                </a:cubicBezTo>
                <a:cubicBezTo>
                  <a:pt x="152" y="8924"/>
                  <a:pt x="228" y="8898"/>
                  <a:pt x="304" y="8898"/>
                </a:cubicBezTo>
                <a:cubicBezTo>
                  <a:pt x="355" y="8898"/>
                  <a:pt x="406" y="8974"/>
                  <a:pt x="406" y="9050"/>
                </a:cubicBezTo>
                <a:cubicBezTo>
                  <a:pt x="380" y="9101"/>
                  <a:pt x="330" y="9152"/>
                  <a:pt x="279" y="9152"/>
                </a:cubicBezTo>
                <a:cubicBezTo>
                  <a:pt x="254" y="9152"/>
                  <a:pt x="254" y="9152"/>
                  <a:pt x="254" y="9152"/>
                </a:cubicBezTo>
                <a:close/>
                <a:moveTo>
                  <a:pt x="21194" y="9025"/>
                </a:moveTo>
                <a:cubicBezTo>
                  <a:pt x="21169" y="8949"/>
                  <a:pt x="21220" y="8898"/>
                  <a:pt x="21296" y="8873"/>
                </a:cubicBezTo>
                <a:cubicBezTo>
                  <a:pt x="21372" y="8873"/>
                  <a:pt x="21422" y="8898"/>
                  <a:pt x="21448" y="8974"/>
                </a:cubicBezTo>
                <a:cubicBezTo>
                  <a:pt x="21448" y="9050"/>
                  <a:pt x="21397" y="9101"/>
                  <a:pt x="21346" y="9127"/>
                </a:cubicBezTo>
                <a:cubicBezTo>
                  <a:pt x="21321" y="9127"/>
                  <a:pt x="21321" y="9127"/>
                  <a:pt x="21321" y="9127"/>
                </a:cubicBezTo>
                <a:cubicBezTo>
                  <a:pt x="21245" y="9127"/>
                  <a:pt x="21194" y="9076"/>
                  <a:pt x="21194" y="9025"/>
                </a:cubicBezTo>
                <a:close/>
                <a:moveTo>
                  <a:pt x="380" y="8442"/>
                </a:moveTo>
                <a:cubicBezTo>
                  <a:pt x="304" y="8442"/>
                  <a:pt x="279" y="8366"/>
                  <a:pt x="279" y="8290"/>
                </a:cubicBezTo>
                <a:cubicBezTo>
                  <a:pt x="304" y="8239"/>
                  <a:pt x="380" y="8189"/>
                  <a:pt x="431" y="8214"/>
                </a:cubicBezTo>
                <a:cubicBezTo>
                  <a:pt x="507" y="8214"/>
                  <a:pt x="558" y="8290"/>
                  <a:pt x="533" y="8366"/>
                </a:cubicBezTo>
                <a:cubicBezTo>
                  <a:pt x="533" y="8417"/>
                  <a:pt x="482" y="8442"/>
                  <a:pt x="406" y="8442"/>
                </a:cubicBezTo>
                <a:cubicBezTo>
                  <a:pt x="406" y="8442"/>
                  <a:pt x="406" y="8442"/>
                  <a:pt x="380" y="8442"/>
                </a:cubicBezTo>
                <a:close/>
                <a:moveTo>
                  <a:pt x="21042" y="8341"/>
                </a:moveTo>
                <a:cubicBezTo>
                  <a:pt x="21042" y="8265"/>
                  <a:pt x="21067" y="8189"/>
                  <a:pt x="21143" y="8189"/>
                </a:cubicBezTo>
                <a:cubicBezTo>
                  <a:pt x="21220" y="8163"/>
                  <a:pt x="21270" y="8214"/>
                  <a:pt x="21296" y="8265"/>
                </a:cubicBezTo>
                <a:cubicBezTo>
                  <a:pt x="21321" y="8341"/>
                  <a:pt x="21270" y="8417"/>
                  <a:pt x="21194" y="8417"/>
                </a:cubicBezTo>
                <a:cubicBezTo>
                  <a:pt x="21194" y="8417"/>
                  <a:pt x="21194" y="8417"/>
                  <a:pt x="21169" y="8417"/>
                </a:cubicBezTo>
                <a:cubicBezTo>
                  <a:pt x="21118" y="8417"/>
                  <a:pt x="21067" y="8391"/>
                  <a:pt x="21042" y="8341"/>
                </a:cubicBezTo>
                <a:close/>
                <a:moveTo>
                  <a:pt x="558" y="7758"/>
                </a:moveTo>
                <a:cubicBezTo>
                  <a:pt x="507" y="7732"/>
                  <a:pt x="456" y="7656"/>
                  <a:pt x="481" y="7606"/>
                </a:cubicBezTo>
                <a:cubicBezTo>
                  <a:pt x="507" y="7530"/>
                  <a:pt x="583" y="7504"/>
                  <a:pt x="634" y="7530"/>
                </a:cubicBezTo>
                <a:cubicBezTo>
                  <a:pt x="710" y="7530"/>
                  <a:pt x="735" y="7606"/>
                  <a:pt x="710" y="7682"/>
                </a:cubicBezTo>
                <a:cubicBezTo>
                  <a:pt x="710" y="7732"/>
                  <a:pt x="659" y="7758"/>
                  <a:pt x="608" y="7758"/>
                </a:cubicBezTo>
                <a:cubicBezTo>
                  <a:pt x="583" y="7758"/>
                  <a:pt x="583" y="7758"/>
                  <a:pt x="558" y="7758"/>
                </a:cubicBezTo>
                <a:close/>
                <a:moveTo>
                  <a:pt x="20864" y="7656"/>
                </a:moveTo>
                <a:cubicBezTo>
                  <a:pt x="20839" y="7580"/>
                  <a:pt x="20890" y="7504"/>
                  <a:pt x="20941" y="7504"/>
                </a:cubicBezTo>
                <a:cubicBezTo>
                  <a:pt x="21017" y="7479"/>
                  <a:pt x="21093" y="7504"/>
                  <a:pt x="21118" y="7580"/>
                </a:cubicBezTo>
                <a:cubicBezTo>
                  <a:pt x="21118" y="7631"/>
                  <a:pt x="21093" y="7707"/>
                  <a:pt x="21017" y="7732"/>
                </a:cubicBezTo>
                <a:cubicBezTo>
                  <a:pt x="21017" y="7732"/>
                  <a:pt x="20991" y="7732"/>
                  <a:pt x="20991" y="7732"/>
                </a:cubicBezTo>
                <a:cubicBezTo>
                  <a:pt x="20941" y="7732"/>
                  <a:pt x="20890" y="7707"/>
                  <a:pt x="20864" y="7656"/>
                </a:cubicBezTo>
                <a:close/>
                <a:moveTo>
                  <a:pt x="786" y="7073"/>
                </a:moveTo>
                <a:cubicBezTo>
                  <a:pt x="735" y="7048"/>
                  <a:pt x="684" y="6972"/>
                  <a:pt x="710" y="6921"/>
                </a:cubicBezTo>
                <a:cubicBezTo>
                  <a:pt x="735" y="6845"/>
                  <a:pt x="811" y="6820"/>
                  <a:pt x="887" y="6845"/>
                </a:cubicBezTo>
                <a:cubicBezTo>
                  <a:pt x="938" y="6870"/>
                  <a:pt x="989" y="6947"/>
                  <a:pt x="963" y="6997"/>
                </a:cubicBezTo>
                <a:cubicBezTo>
                  <a:pt x="938" y="7048"/>
                  <a:pt x="887" y="7099"/>
                  <a:pt x="837" y="7099"/>
                </a:cubicBezTo>
                <a:cubicBezTo>
                  <a:pt x="811" y="7099"/>
                  <a:pt x="811" y="7099"/>
                  <a:pt x="786" y="7073"/>
                </a:cubicBezTo>
                <a:close/>
                <a:moveTo>
                  <a:pt x="20636" y="6997"/>
                </a:moveTo>
                <a:cubicBezTo>
                  <a:pt x="20611" y="6921"/>
                  <a:pt x="20636" y="6845"/>
                  <a:pt x="20712" y="6820"/>
                </a:cubicBezTo>
                <a:cubicBezTo>
                  <a:pt x="20763" y="6794"/>
                  <a:pt x="20839" y="6820"/>
                  <a:pt x="20864" y="6896"/>
                </a:cubicBezTo>
                <a:cubicBezTo>
                  <a:pt x="20890" y="6972"/>
                  <a:pt x="20864" y="7023"/>
                  <a:pt x="20788" y="7048"/>
                </a:cubicBezTo>
                <a:cubicBezTo>
                  <a:pt x="20788" y="7073"/>
                  <a:pt x="20763" y="7073"/>
                  <a:pt x="20738" y="7073"/>
                </a:cubicBezTo>
                <a:cubicBezTo>
                  <a:pt x="20687" y="7073"/>
                  <a:pt x="20662" y="7048"/>
                  <a:pt x="20636" y="6997"/>
                </a:cubicBezTo>
                <a:close/>
                <a:moveTo>
                  <a:pt x="1065" y="6414"/>
                </a:moveTo>
                <a:cubicBezTo>
                  <a:pt x="989" y="6389"/>
                  <a:pt x="963" y="6313"/>
                  <a:pt x="989" y="6262"/>
                </a:cubicBezTo>
                <a:cubicBezTo>
                  <a:pt x="1039" y="6186"/>
                  <a:pt x="1116" y="6161"/>
                  <a:pt x="1166" y="6186"/>
                </a:cubicBezTo>
                <a:cubicBezTo>
                  <a:pt x="1242" y="6211"/>
                  <a:pt x="1268" y="6287"/>
                  <a:pt x="1217" y="6363"/>
                </a:cubicBezTo>
                <a:cubicBezTo>
                  <a:pt x="1217" y="6414"/>
                  <a:pt x="1166" y="6440"/>
                  <a:pt x="1116" y="6440"/>
                </a:cubicBezTo>
                <a:cubicBezTo>
                  <a:pt x="1090" y="6440"/>
                  <a:pt x="1090" y="6440"/>
                  <a:pt x="1065" y="6414"/>
                </a:cubicBezTo>
                <a:close/>
                <a:moveTo>
                  <a:pt x="20358" y="6338"/>
                </a:moveTo>
                <a:cubicBezTo>
                  <a:pt x="20332" y="6287"/>
                  <a:pt x="20358" y="6211"/>
                  <a:pt x="20408" y="6161"/>
                </a:cubicBezTo>
                <a:cubicBezTo>
                  <a:pt x="20484" y="6135"/>
                  <a:pt x="20561" y="6161"/>
                  <a:pt x="20586" y="6237"/>
                </a:cubicBezTo>
                <a:cubicBezTo>
                  <a:pt x="20611" y="6287"/>
                  <a:pt x="20586" y="6363"/>
                  <a:pt x="20535" y="6414"/>
                </a:cubicBezTo>
                <a:cubicBezTo>
                  <a:pt x="20510" y="6414"/>
                  <a:pt x="20484" y="6414"/>
                  <a:pt x="20459" y="6414"/>
                </a:cubicBezTo>
                <a:cubicBezTo>
                  <a:pt x="20434" y="6414"/>
                  <a:pt x="20383" y="6389"/>
                  <a:pt x="20358" y="6338"/>
                </a:cubicBezTo>
                <a:close/>
                <a:moveTo>
                  <a:pt x="1369" y="5780"/>
                </a:moveTo>
                <a:cubicBezTo>
                  <a:pt x="1318" y="5755"/>
                  <a:pt x="1293" y="5679"/>
                  <a:pt x="1318" y="5603"/>
                </a:cubicBezTo>
                <a:cubicBezTo>
                  <a:pt x="1369" y="5552"/>
                  <a:pt x="1445" y="5527"/>
                  <a:pt x="1496" y="5552"/>
                </a:cubicBezTo>
                <a:cubicBezTo>
                  <a:pt x="1547" y="5603"/>
                  <a:pt x="1572" y="5679"/>
                  <a:pt x="1547" y="5730"/>
                </a:cubicBezTo>
                <a:cubicBezTo>
                  <a:pt x="1521" y="5780"/>
                  <a:pt x="1471" y="5806"/>
                  <a:pt x="1445" y="5806"/>
                </a:cubicBezTo>
                <a:cubicBezTo>
                  <a:pt x="1420" y="5806"/>
                  <a:pt x="1395" y="5780"/>
                  <a:pt x="1369" y="5780"/>
                </a:cubicBezTo>
                <a:close/>
                <a:moveTo>
                  <a:pt x="20028" y="5704"/>
                </a:moveTo>
                <a:cubicBezTo>
                  <a:pt x="20003" y="5654"/>
                  <a:pt x="20028" y="5578"/>
                  <a:pt x="20079" y="5552"/>
                </a:cubicBezTo>
                <a:cubicBezTo>
                  <a:pt x="20155" y="5502"/>
                  <a:pt x="20231" y="5527"/>
                  <a:pt x="20256" y="5603"/>
                </a:cubicBezTo>
                <a:cubicBezTo>
                  <a:pt x="20282" y="5654"/>
                  <a:pt x="20282" y="5730"/>
                  <a:pt x="20205" y="5755"/>
                </a:cubicBezTo>
                <a:cubicBezTo>
                  <a:pt x="20180" y="5780"/>
                  <a:pt x="20180" y="5780"/>
                  <a:pt x="20155" y="5780"/>
                </a:cubicBezTo>
                <a:cubicBezTo>
                  <a:pt x="20104" y="5780"/>
                  <a:pt x="20053" y="5755"/>
                  <a:pt x="20028" y="5704"/>
                </a:cubicBezTo>
                <a:close/>
                <a:moveTo>
                  <a:pt x="1724" y="5172"/>
                </a:moveTo>
                <a:cubicBezTo>
                  <a:pt x="1673" y="5121"/>
                  <a:pt x="1648" y="5045"/>
                  <a:pt x="1698" y="4994"/>
                </a:cubicBezTo>
                <a:cubicBezTo>
                  <a:pt x="1724" y="4918"/>
                  <a:pt x="1800" y="4918"/>
                  <a:pt x="1876" y="4944"/>
                </a:cubicBezTo>
                <a:cubicBezTo>
                  <a:pt x="1927" y="4994"/>
                  <a:pt x="1952" y="5070"/>
                  <a:pt x="1901" y="5121"/>
                </a:cubicBezTo>
                <a:cubicBezTo>
                  <a:pt x="1876" y="5172"/>
                  <a:pt x="1851" y="5172"/>
                  <a:pt x="1800" y="5172"/>
                </a:cubicBezTo>
                <a:cubicBezTo>
                  <a:pt x="1775" y="5172"/>
                  <a:pt x="1749" y="5172"/>
                  <a:pt x="1724" y="5172"/>
                </a:cubicBezTo>
                <a:close/>
                <a:moveTo>
                  <a:pt x="19673" y="5121"/>
                </a:moveTo>
                <a:cubicBezTo>
                  <a:pt x="19647" y="5045"/>
                  <a:pt x="19647" y="4969"/>
                  <a:pt x="19724" y="4944"/>
                </a:cubicBezTo>
                <a:cubicBezTo>
                  <a:pt x="19774" y="4893"/>
                  <a:pt x="19850" y="4918"/>
                  <a:pt x="19901" y="4969"/>
                </a:cubicBezTo>
                <a:cubicBezTo>
                  <a:pt x="19926" y="5020"/>
                  <a:pt x="19901" y="5121"/>
                  <a:pt x="19850" y="5146"/>
                </a:cubicBezTo>
                <a:cubicBezTo>
                  <a:pt x="19825" y="5172"/>
                  <a:pt x="19800" y="5172"/>
                  <a:pt x="19774" y="5172"/>
                </a:cubicBezTo>
                <a:cubicBezTo>
                  <a:pt x="19749" y="5172"/>
                  <a:pt x="19698" y="5146"/>
                  <a:pt x="19673" y="5121"/>
                </a:cubicBezTo>
                <a:close/>
                <a:moveTo>
                  <a:pt x="2130" y="4563"/>
                </a:moveTo>
                <a:cubicBezTo>
                  <a:pt x="2079" y="4538"/>
                  <a:pt x="2054" y="4462"/>
                  <a:pt x="2104" y="4386"/>
                </a:cubicBezTo>
                <a:cubicBezTo>
                  <a:pt x="2155" y="4335"/>
                  <a:pt x="2231" y="4335"/>
                  <a:pt x="2282" y="4360"/>
                </a:cubicBezTo>
                <a:cubicBezTo>
                  <a:pt x="2333" y="4411"/>
                  <a:pt x="2358" y="4487"/>
                  <a:pt x="2307" y="4538"/>
                </a:cubicBezTo>
                <a:cubicBezTo>
                  <a:pt x="2282" y="4589"/>
                  <a:pt x="2256" y="4589"/>
                  <a:pt x="2206" y="4589"/>
                </a:cubicBezTo>
                <a:cubicBezTo>
                  <a:pt x="2180" y="4589"/>
                  <a:pt x="2155" y="4589"/>
                  <a:pt x="2130" y="4563"/>
                </a:cubicBezTo>
                <a:close/>
                <a:moveTo>
                  <a:pt x="19267" y="4538"/>
                </a:moveTo>
                <a:cubicBezTo>
                  <a:pt x="19242" y="4462"/>
                  <a:pt x="19242" y="4386"/>
                  <a:pt x="19293" y="4360"/>
                </a:cubicBezTo>
                <a:cubicBezTo>
                  <a:pt x="19369" y="4310"/>
                  <a:pt x="19445" y="4335"/>
                  <a:pt x="19470" y="4386"/>
                </a:cubicBezTo>
                <a:cubicBezTo>
                  <a:pt x="19521" y="4437"/>
                  <a:pt x="19521" y="4513"/>
                  <a:pt x="19445" y="4563"/>
                </a:cubicBezTo>
                <a:cubicBezTo>
                  <a:pt x="19420" y="4563"/>
                  <a:pt x="19394" y="4589"/>
                  <a:pt x="19369" y="4589"/>
                </a:cubicBezTo>
                <a:cubicBezTo>
                  <a:pt x="19344" y="4589"/>
                  <a:pt x="19293" y="4563"/>
                  <a:pt x="19267" y="4538"/>
                </a:cubicBezTo>
                <a:close/>
                <a:moveTo>
                  <a:pt x="2560" y="4006"/>
                </a:moveTo>
                <a:cubicBezTo>
                  <a:pt x="2510" y="3955"/>
                  <a:pt x="2510" y="3879"/>
                  <a:pt x="2560" y="3828"/>
                </a:cubicBezTo>
                <a:cubicBezTo>
                  <a:pt x="2586" y="3777"/>
                  <a:pt x="2687" y="3777"/>
                  <a:pt x="2738" y="3803"/>
                </a:cubicBezTo>
                <a:cubicBezTo>
                  <a:pt x="2789" y="3853"/>
                  <a:pt x="2789" y="3930"/>
                  <a:pt x="2738" y="3980"/>
                </a:cubicBezTo>
                <a:cubicBezTo>
                  <a:pt x="2713" y="4031"/>
                  <a:pt x="2687" y="4031"/>
                  <a:pt x="2636" y="4031"/>
                </a:cubicBezTo>
                <a:cubicBezTo>
                  <a:pt x="2611" y="4031"/>
                  <a:pt x="2586" y="4031"/>
                  <a:pt x="2560" y="4006"/>
                </a:cubicBezTo>
                <a:close/>
                <a:moveTo>
                  <a:pt x="18836" y="3980"/>
                </a:moveTo>
                <a:cubicBezTo>
                  <a:pt x="18786" y="3930"/>
                  <a:pt x="18811" y="3853"/>
                  <a:pt x="18862" y="3803"/>
                </a:cubicBezTo>
                <a:cubicBezTo>
                  <a:pt x="18912" y="3752"/>
                  <a:pt x="18988" y="3752"/>
                  <a:pt x="19039" y="3803"/>
                </a:cubicBezTo>
                <a:cubicBezTo>
                  <a:pt x="19065" y="3879"/>
                  <a:pt x="19065" y="3955"/>
                  <a:pt x="19014" y="3980"/>
                </a:cubicBezTo>
                <a:cubicBezTo>
                  <a:pt x="18988" y="4006"/>
                  <a:pt x="18963" y="4031"/>
                  <a:pt x="18938" y="4031"/>
                </a:cubicBezTo>
                <a:cubicBezTo>
                  <a:pt x="18887" y="4031"/>
                  <a:pt x="18862" y="4006"/>
                  <a:pt x="18836" y="3980"/>
                </a:cubicBezTo>
                <a:close/>
                <a:moveTo>
                  <a:pt x="3042" y="3473"/>
                </a:moveTo>
                <a:cubicBezTo>
                  <a:pt x="2992" y="3423"/>
                  <a:pt x="2992" y="3347"/>
                  <a:pt x="3042" y="3296"/>
                </a:cubicBezTo>
                <a:cubicBezTo>
                  <a:pt x="3093" y="3245"/>
                  <a:pt x="3169" y="3245"/>
                  <a:pt x="3220" y="3296"/>
                </a:cubicBezTo>
                <a:cubicBezTo>
                  <a:pt x="3271" y="3347"/>
                  <a:pt x="3271" y="3423"/>
                  <a:pt x="3220" y="3473"/>
                </a:cubicBezTo>
                <a:cubicBezTo>
                  <a:pt x="3194" y="3499"/>
                  <a:pt x="3169" y="3499"/>
                  <a:pt x="3118" y="3499"/>
                </a:cubicBezTo>
                <a:cubicBezTo>
                  <a:pt x="3093" y="3499"/>
                  <a:pt x="3068" y="3499"/>
                  <a:pt x="3042" y="3473"/>
                </a:cubicBezTo>
                <a:close/>
                <a:moveTo>
                  <a:pt x="18355" y="3448"/>
                </a:moveTo>
                <a:cubicBezTo>
                  <a:pt x="18304" y="3397"/>
                  <a:pt x="18329" y="3321"/>
                  <a:pt x="18355" y="3270"/>
                </a:cubicBezTo>
                <a:cubicBezTo>
                  <a:pt x="18406" y="3220"/>
                  <a:pt x="18507" y="3220"/>
                  <a:pt x="18558" y="3270"/>
                </a:cubicBezTo>
                <a:cubicBezTo>
                  <a:pt x="18583" y="3321"/>
                  <a:pt x="18583" y="3423"/>
                  <a:pt x="18532" y="3448"/>
                </a:cubicBezTo>
                <a:cubicBezTo>
                  <a:pt x="18507" y="3473"/>
                  <a:pt x="18482" y="3499"/>
                  <a:pt x="18456" y="3499"/>
                </a:cubicBezTo>
                <a:cubicBezTo>
                  <a:pt x="18431" y="3499"/>
                  <a:pt x="18380" y="3473"/>
                  <a:pt x="18355" y="3448"/>
                </a:cubicBezTo>
                <a:close/>
                <a:moveTo>
                  <a:pt x="3549" y="2966"/>
                </a:moveTo>
                <a:cubicBezTo>
                  <a:pt x="3498" y="2916"/>
                  <a:pt x="3498" y="2840"/>
                  <a:pt x="3549" y="2789"/>
                </a:cubicBezTo>
                <a:cubicBezTo>
                  <a:pt x="3600" y="2738"/>
                  <a:pt x="3676" y="2738"/>
                  <a:pt x="3727" y="2789"/>
                </a:cubicBezTo>
                <a:cubicBezTo>
                  <a:pt x="3777" y="2840"/>
                  <a:pt x="3777" y="2941"/>
                  <a:pt x="3727" y="2992"/>
                </a:cubicBezTo>
                <a:cubicBezTo>
                  <a:pt x="3701" y="2992"/>
                  <a:pt x="3676" y="3017"/>
                  <a:pt x="3625" y="3017"/>
                </a:cubicBezTo>
                <a:cubicBezTo>
                  <a:pt x="3600" y="3017"/>
                  <a:pt x="3574" y="2992"/>
                  <a:pt x="3549" y="2966"/>
                </a:cubicBezTo>
                <a:close/>
                <a:moveTo>
                  <a:pt x="17848" y="2966"/>
                </a:moveTo>
                <a:cubicBezTo>
                  <a:pt x="17797" y="2916"/>
                  <a:pt x="17797" y="2840"/>
                  <a:pt x="17848" y="2789"/>
                </a:cubicBezTo>
                <a:cubicBezTo>
                  <a:pt x="17898" y="2738"/>
                  <a:pt x="17974" y="2738"/>
                  <a:pt x="18025" y="2789"/>
                </a:cubicBezTo>
                <a:cubicBezTo>
                  <a:pt x="18076" y="2814"/>
                  <a:pt x="18076" y="2916"/>
                  <a:pt x="18025" y="2966"/>
                </a:cubicBezTo>
                <a:cubicBezTo>
                  <a:pt x="18000" y="2992"/>
                  <a:pt x="17974" y="2992"/>
                  <a:pt x="17949" y="2992"/>
                </a:cubicBezTo>
                <a:cubicBezTo>
                  <a:pt x="17924" y="2992"/>
                  <a:pt x="17873" y="2992"/>
                  <a:pt x="17848" y="2966"/>
                </a:cubicBezTo>
                <a:close/>
                <a:moveTo>
                  <a:pt x="4082" y="2510"/>
                </a:moveTo>
                <a:cubicBezTo>
                  <a:pt x="4031" y="2459"/>
                  <a:pt x="4056" y="2358"/>
                  <a:pt x="4107" y="2333"/>
                </a:cubicBezTo>
                <a:cubicBezTo>
                  <a:pt x="4158" y="2282"/>
                  <a:pt x="4234" y="2282"/>
                  <a:pt x="4285" y="2358"/>
                </a:cubicBezTo>
                <a:cubicBezTo>
                  <a:pt x="4335" y="2409"/>
                  <a:pt x="4310" y="2485"/>
                  <a:pt x="4259" y="2535"/>
                </a:cubicBezTo>
                <a:cubicBezTo>
                  <a:pt x="4234" y="2535"/>
                  <a:pt x="4209" y="2561"/>
                  <a:pt x="4183" y="2561"/>
                </a:cubicBezTo>
                <a:cubicBezTo>
                  <a:pt x="4132" y="2561"/>
                  <a:pt x="4107" y="2535"/>
                  <a:pt x="4082" y="2510"/>
                </a:cubicBezTo>
                <a:close/>
                <a:moveTo>
                  <a:pt x="17315" y="2510"/>
                </a:moveTo>
                <a:cubicBezTo>
                  <a:pt x="17265" y="2459"/>
                  <a:pt x="17265" y="2383"/>
                  <a:pt x="17290" y="2333"/>
                </a:cubicBezTo>
                <a:cubicBezTo>
                  <a:pt x="17341" y="2282"/>
                  <a:pt x="17417" y="2282"/>
                  <a:pt x="17468" y="2307"/>
                </a:cubicBezTo>
                <a:cubicBezTo>
                  <a:pt x="17544" y="2358"/>
                  <a:pt x="17544" y="2434"/>
                  <a:pt x="17493" y="2485"/>
                </a:cubicBezTo>
                <a:cubicBezTo>
                  <a:pt x="17468" y="2535"/>
                  <a:pt x="17442" y="2535"/>
                  <a:pt x="17391" y="2535"/>
                </a:cubicBezTo>
                <a:cubicBezTo>
                  <a:pt x="17366" y="2535"/>
                  <a:pt x="17341" y="2535"/>
                  <a:pt x="17315" y="2510"/>
                </a:cubicBezTo>
                <a:close/>
                <a:moveTo>
                  <a:pt x="4639" y="2079"/>
                </a:moveTo>
                <a:cubicBezTo>
                  <a:pt x="4614" y="2003"/>
                  <a:pt x="4614" y="1927"/>
                  <a:pt x="4690" y="1902"/>
                </a:cubicBezTo>
                <a:cubicBezTo>
                  <a:pt x="4741" y="1851"/>
                  <a:pt x="4817" y="1876"/>
                  <a:pt x="4868" y="1927"/>
                </a:cubicBezTo>
                <a:cubicBezTo>
                  <a:pt x="4893" y="1978"/>
                  <a:pt x="4893" y="2054"/>
                  <a:pt x="4817" y="2104"/>
                </a:cubicBezTo>
                <a:cubicBezTo>
                  <a:pt x="4791" y="2130"/>
                  <a:pt x="4791" y="2130"/>
                  <a:pt x="4766" y="2130"/>
                </a:cubicBezTo>
                <a:cubicBezTo>
                  <a:pt x="4715" y="2130"/>
                  <a:pt x="4665" y="2104"/>
                  <a:pt x="4639" y="2079"/>
                </a:cubicBezTo>
                <a:close/>
                <a:moveTo>
                  <a:pt x="16757" y="2104"/>
                </a:moveTo>
                <a:cubicBezTo>
                  <a:pt x="16681" y="2054"/>
                  <a:pt x="16681" y="1978"/>
                  <a:pt x="16707" y="1927"/>
                </a:cubicBezTo>
                <a:cubicBezTo>
                  <a:pt x="16757" y="1851"/>
                  <a:pt x="16833" y="1851"/>
                  <a:pt x="16884" y="1876"/>
                </a:cubicBezTo>
                <a:cubicBezTo>
                  <a:pt x="16960" y="1927"/>
                  <a:pt x="16960" y="2003"/>
                  <a:pt x="16935" y="2054"/>
                </a:cubicBezTo>
                <a:cubicBezTo>
                  <a:pt x="16910" y="2104"/>
                  <a:pt x="16859" y="2104"/>
                  <a:pt x="16833" y="2104"/>
                </a:cubicBezTo>
                <a:cubicBezTo>
                  <a:pt x="16808" y="2104"/>
                  <a:pt x="16783" y="2104"/>
                  <a:pt x="16757" y="2104"/>
                </a:cubicBezTo>
                <a:close/>
                <a:moveTo>
                  <a:pt x="5248" y="1673"/>
                </a:moveTo>
                <a:cubicBezTo>
                  <a:pt x="5197" y="1622"/>
                  <a:pt x="5222" y="1546"/>
                  <a:pt x="5298" y="1496"/>
                </a:cubicBezTo>
                <a:cubicBezTo>
                  <a:pt x="5349" y="1470"/>
                  <a:pt x="5425" y="1496"/>
                  <a:pt x="5451" y="1546"/>
                </a:cubicBezTo>
                <a:cubicBezTo>
                  <a:pt x="5501" y="1622"/>
                  <a:pt x="5476" y="1698"/>
                  <a:pt x="5425" y="1724"/>
                </a:cubicBezTo>
                <a:cubicBezTo>
                  <a:pt x="5400" y="1749"/>
                  <a:pt x="5374" y="1749"/>
                  <a:pt x="5349" y="1749"/>
                </a:cubicBezTo>
                <a:cubicBezTo>
                  <a:pt x="5298" y="1749"/>
                  <a:pt x="5273" y="1724"/>
                  <a:pt x="5248" y="1673"/>
                </a:cubicBezTo>
                <a:close/>
                <a:moveTo>
                  <a:pt x="16149" y="1724"/>
                </a:moveTo>
                <a:cubicBezTo>
                  <a:pt x="16098" y="1673"/>
                  <a:pt x="16073" y="1597"/>
                  <a:pt x="16124" y="1546"/>
                </a:cubicBezTo>
                <a:cubicBezTo>
                  <a:pt x="16149" y="1470"/>
                  <a:pt x="16225" y="1470"/>
                  <a:pt x="16276" y="1496"/>
                </a:cubicBezTo>
                <a:cubicBezTo>
                  <a:pt x="16352" y="1521"/>
                  <a:pt x="16377" y="1622"/>
                  <a:pt x="16327" y="1673"/>
                </a:cubicBezTo>
                <a:cubicBezTo>
                  <a:pt x="16301" y="1698"/>
                  <a:pt x="16276" y="1724"/>
                  <a:pt x="16225" y="1724"/>
                </a:cubicBezTo>
                <a:cubicBezTo>
                  <a:pt x="16200" y="1724"/>
                  <a:pt x="16174" y="1724"/>
                  <a:pt x="16149" y="1724"/>
                </a:cubicBezTo>
                <a:close/>
                <a:moveTo>
                  <a:pt x="5856" y="1318"/>
                </a:moveTo>
                <a:cubicBezTo>
                  <a:pt x="5831" y="1267"/>
                  <a:pt x="5856" y="1191"/>
                  <a:pt x="5932" y="1166"/>
                </a:cubicBezTo>
                <a:cubicBezTo>
                  <a:pt x="5983" y="1115"/>
                  <a:pt x="6059" y="1141"/>
                  <a:pt x="6085" y="1217"/>
                </a:cubicBezTo>
                <a:cubicBezTo>
                  <a:pt x="6110" y="1267"/>
                  <a:pt x="6110" y="1344"/>
                  <a:pt x="6034" y="1394"/>
                </a:cubicBezTo>
                <a:cubicBezTo>
                  <a:pt x="6009" y="1394"/>
                  <a:pt x="6009" y="1394"/>
                  <a:pt x="5983" y="1394"/>
                </a:cubicBezTo>
                <a:cubicBezTo>
                  <a:pt x="5932" y="1394"/>
                  <a:pt x="5882" y="1369"/>
                  <a:pt x="5856" y="1318"/>
                </a:cubicBezTo>
                <a:close/>
                <a:moveTo>
                  <a:pt x="15541" y="1369"/>
                </a:moveTo>
                <a:cubicBezTo>
                  <a:pt x="15465" y="1344"/>
                  <a:pt x="15465" y="1267"/>
                  <a:pt x="15490" y="1217"/>
                </a:cubicBezTo>
                <a:cubicBezTo>
                  <a:pt x="15515" y="1141"/>
                  <a:pt x="15591" y="1115"/>
                  <a:pt x="15642" y="1141"/>
                </a:cubicBezTo>
                <a:cubicBezTo>
                  <a:pt x="15718" y="1191"/>
                  <a:pt x="15744" y="1267"/>
                  <a:pt x="15718" y="1318"/>
                </a:cubicBezTo>
                <a:cubicBezTo>
                  <a:pt x="15693" y="1369"/>
                  <a:pt x="15642" y="1394"/>
                  <a:pt x="15591" y="1394"/>
                </a:cubicBezTo>
                <a:cubicBezTo>
                  <a:pt x="15566" y="1394"/>
                  <a:pt x="15566" y="1394"/>
                  <a:pt x="15541" y="1369"/>
                </a:cubicBezTo>
                <a:close/>
                <a:moveTo>
                  <a:pt x="6515" y="1014"/>
                </a:moveTo>
                <a:cubicBezTo>
                  <a:pt x="6490" y="963"/>
                  <a:pt x="6515" y="887"/>
                  <a:pt x="6566" y="862"/>
                </a:cubicBezTo>
                <a:cubicBezTo>
                  <a:pt x="6642" y="837"/>
                  <a:pt x="6718" y="862"/>
                  <a:pt x="6744" y="913"/>
                </a:cubicBezTo>
                <a:cubicBezTo>
                  <a:pt x="6769" y="989"/>
                  <a:pt x="6744" y="1065"/>
                  <a:pt x="6668" y="1090"/>
                </a:cubicBezTo>
                <a:cubicBezTo>
                  <a:pt x="6668" y="1090"/>
                  <a:pt x="6642" y="1090"/>
                  <a:pt x="6617" y="1090"/>
                </a:cubicBezTo>
                <a:cubicBezTo>
                  <a:pt x="6566" y="1090"/>
                  <a:pt x="6515" y="1065"/>
                  <a:pt x="6515" y="1014"/>
                </a:cubicBezTo>
                <a:close/>
                <a:moveTo>
                  <a:pt x="14907" y="1090"/>
                </a:moveTo>
                <a:cubicBezTo>
                  <a:pt x="14831" y="1039"/>
                  <a:pt x="14805" y="989"/>
                  <a:pt x="14831" y="913"/>
                </a:cubicBezTo>
                <a:cubicBezTo>
                  <a:pt x="14856" y="837"/>
                  <a:pt x="14932" y="811"/>
                  <a:pt x="15008" y="837"/>
                </a:cubicBezTo>
                <a:cubicBezTo>
                  <a:pt x="15059" y="862"/>
                  <a:pt x="15084" y="938"/>
                  <a:pt x="15059" y="1014"/>
                </a:cubicBezTo>
                <a:cubicBezTo>
                  <a:pt x="15034" y="1065"/>
                  <a:pt x="15008" y="1090"/>
                  <a:pt x="14957" y="1090"/>
                </a:cubicBezTo>
                <a:cubicBezTo>
                  <a:pt x="14932" y="1090"/>
                  <a:pt x="14907" y="1090"/>
                  <a:pt x="14907" y="1090"/>
                </a:cubicBezTo>
                <a:close/>
                <a:moveTo>
                  <a:pt x="7174" y="760"/>
                </a:moveTo>
                <a:cubicBezTo>
                  <a:pt x="7149" y="684"/>
                  <a:pt x="7174" y="608"/>
                  <a:pt x="7250" y="583"/>
                </a:cubicBezTo>
                <a:cubicBezTo>
                  <a:pt x="7301" y="583"/>
                  <a:pt x="7377" y="608"/>
                  <a:pt x="7403" y="684"/>
                </a:cubicBezTo>
                <a:cubicBezTo>
                  <a:pt x="7428" y="735"/>
                  <a:pt x="7403" y="811"/>
                  <a:pt x="7327" y="837"/>
                </a:cubicBezTo>
                <a:cubicBezTo>
                  <a:pt x="7327" y="837"/>
                  <a:pt x="7301" y="837"/>
                  <a:pt x="7276" y="837"/>
                </a:cubicBezTo>
                <a:cubicBezTo>
                  <a:pt x="7225" y="837"/>
                  <a:pt x="7174" y="811"/>
                  <a:pt x="7174" y="760"/>
                </a:cubicBezTo>
                <a:close/>
                <a:moveTo>
                  <a:pt x="14248" y="837"/>
                </a:moveTo>
                <a:cubicBezTo>
                  <a:pt x="14172" y="811"/>
                  <a:pt x="14146" y="735"/>
                  <a:pt x="14172" y="659"/>
                </a:cubicBezTo>
                <a:cubicBezTo>
                  <a:pt x="14197" y="608"/>
                  <a:pt x="14248" y="558"/>
                  <a:pt x="14324" y="583"/>
                </a:cubicBezTo>
                <a:cubicBezTo>
                  <a:pt x="14400" y="608"/>
                  <a:pt x="14425" y="684"/>
                  <a:pt x="14400" y="735"/>
                </a:cubicBezTo>
                <a:cubicBezTo>
                  <a:pt x="14374" y="811"/>
                  <a:pt x="14324" y="837"/>
                  <a:pt x="14273" y="837"/>
                </a:cubicBezTo>
                <a:cubicBezTo>
                  <a:pt x="14273" y="837"/>
                  <a:pt x="14248" y="837"/>
                  <a:pt x="14248" y="837"/>
                </a:cubicBezTo>
                <a:close/>
                <a:moveTo>
                  <a:pt x="7834" y="532"/>
                </a:moveTo>
                <a:cubicBezTo>
                  <a:pt x="7834" y="456"/>
                  <a:pt x="7859" y="406"/>
                  <a:pt x="7935" y="380"/>
                </a:cubicBezTo>
                <a:cubicBezTo>
                  <a:pt x="8011" y="355"/>
                  <a:pt x="8062" y="406"/>
                  <a:pt x="8087" y="456"/>
                </a:cubicBezTo>
                <a:cubicBezTo>
                  <a:pt x="8113" y="532"/>
                  <a:pt x="8062" y="608"/>
                  <a:pt x="8011" y="634"/>
                </a:cubicBezTo>
                <a:cubicBezTo>
                  <a:pt x="7986" y="634"/>
                  <a:pt x="7986" y="634"/>
                  <a:pt x="7961" y="634"/>
                </a:cubicBezTo>
                <a:cubicBezTo>
                  <a:pt x="7910" y="634"/>
                  <a:pt x="7859" y="583"/>
                  <a:pt x="7834" y="532"/>
                </a:cubicBezTo>
                <a:close/>
                <a:moveTo>
                  <a:pt x="13563" y="608"/>
                </a:moveTo>
                <a:cubicBezTo>
                  <a:pt x="13513" y="608"/>
                  <a:pt x="13462" y="532"/>
                  <a:pt x="13487" y="456"/>
                </a:cubicBezTo>
                <a:cubicBezTo>
                  <a:pt x="13487" y="406"/>
                  <a:pt x="13563" y="355"/>
                  <a:pt x="13639" y="380"/>
                </a:cubicBezTo>
                <a:cubicBezTo>
                  <a:pt x="13715" y="380"/>
                  <a:pt x="13741" y="456"/>
                  <a:pt x="13715" y="532"/>
                </a:cubicBezTo>
                <a:cubicBezTo>
                  <a:pt x="13715" y="583"/>
                  <a:pt x="13665" y="634"/>
                  <a:pt x="13614" y="634"/>
                </a:cubicBezTo>
                <a:cubicBezTo>
                  <a:pt x="13589" y="634"/>
                  <a:pt x="13589" y="608"/>
                  <a:pt x="13563" y="608"/>
                </a:cubicBezTo>
                <a:close/>
                <a:moveTo>
                  <a:pt x="8544" y="355"/>
                </a:moveTo>
                <a:cubicBezTo>
                  <a:pt x="8518" y="304"/>
                  <a:pt x="8569" y="228"/>
                  <a:pt x="8645" y="203"/>
                </a:cubicBezTo>
                <a:cubicBezTo>
                  <a:pt x="8696" y="203"/>
                  <a:pt x="8772" y="253"/>
                  <a:pt x="8772" y="304"/>
                </a:cubicBezTo>
                <a:cubicBezTo>
                  <a:pt x="8797" y="380"/>
                  <a:pt x="8746" y="456"/>
                  <a:pt x="8696" y="456"/>
                </a:cubicBezTo>
                <a:cubicBezTo>
                  <a:pt x="8670" y="456"/>
                  <a:pt x="8670" y="456"/>
                  <a:pt x="8670" y="456"/>
                </a:cubicBezTo>
                <a:cubicBezTo>
                  <a:pt x="8594" y="456"/>
                  <a:pt x="8544" y="431"/>
                  <a:pt x="8544" y="355"/>
                </a:cubicBezTo>
                <a:close/>
                <a:moveTo>
                  <a:pt x="12879" y="456"/>
                </a:moveTo>
                <a:cubicBezTo>
                  <a:pt x="12802" y="431"/>
                  <a:pt x="12777" y="380"/>
                  <a:pt x="12777" y="304"/>
                </a:cubicBezTo>
                <a:cubicBezTo>
                  <a:pt x="12802" y="228"/>
                  <a:pt x="12853" y="203"/>
                  <a:pt x="12929" y="203"/>
                </a:cubicBezTo>
                <a:cubicBezTo>
                  <a:pt x="13005" y="228"/>
                  <a:pt x="13056" y="279"/>
                  <a:pt x="13031" y="355"/>
                </a:cubicBezTo>
                <a:cubicBezTo>
                  <a:pt x="13031" y="406"/>
                  <a:pt x="12980" y="456"/>
                  <a:pt x="12904" y="456"/>
                </a:cubicBezTo>
                <a:cubicBezTo>
                  <a:pt x="12904" y="456"/>
                  <a:pt x="12904" y="456"/>
                  <a:pt x="12879" y="456"/>
                </a:cubicBezTo>
                <a:close/>
                <a:moveTo>
                  <a:pt x="9228" y="228"/>
                </a:moveTo>
                <a:cubicBezTo>
                  <a:pt x="9228" y="152"/>
                  <a:pt x="9279" y="101"/>
                  <a:pt x="9355" y="101"/>
                </a:cubicBezTo>
                <a:cubicBezTo>
                  <a:pt x="9405" y="76"/>
                  <a:pt x="9482" y="127"/>
                  <a:pt x="9482" y="203"/>
                </a:cubicBezTo>
                <a:cubicBezTo>
                  <a:pt x="9507" y="279"/>
                  <a:pt x="9456" y="330"/>
                  <a:pt x="9380" y="355"/>
                </a:cubicBezTo>
                <a:cubicBezTo>
                  <a:pt x="9380" y="355"/>
                  <a:pt x="9380" y="355"/>
                  <a:pt x="9355" y="355"/>
                </a:cubicBezTo>
                <a:cubicBezTo>
                  <a:pt x="9304" y="355"/>
                  <a:pt x="9253" y="304"/>
                  <a:pt x="9228" y="228"/>
                </a:cubicBezTo>
                <a:close/>
                <a:moveTo>
                  <a:pt x="12194" y="330"/>
                </a:moveTo>
                <a:cubicBezTo>
                  <a:pt x="12118" y="330"/>
                  <a:pt x="12067" y="279"/>
                  <a:pt x="12093" y="203"/>
                </a:cubicBezTo>
                <a:cubicBezTo>
                  <a:pt x="12093" y="127"/>
                  <a:pt x="12143" y="76"/>
                  <a:pt x="12219" y="76"/>
                </a:cubicBezTo>
                <a:cubicBezTo>
                  <a:pt x="12296" y="101"/>
                  <a:pt x="12346" y="152"/>
                  <a:pt x="12321" y="228"/>
                </a:cubicBezTo>
                <a:cubicBezTo>
                  <a:pt x="12321" y="304"/>
                  <a:pt x="12270" y="330"/>
                  <a:pt x="12194" y="330"/>
                </a:cubicBezTo>
                <a:close/>
                <a:moveTo>
                  <a:pt x="9938" y="152"/>
                </a:moveTo>
                <a:cubicBezTo>
                  <a:pt x="9938" y="76"/>
                  <a:pt x="9989" y="25"/>
                  <a:pt x="10065" y="25"/>
                </a:cubicBezTo>
                <a:cubicBezTo>
                  <a:pt x="10141" y="25"/>
                  <a:pt x="10192" y="76"/>
                  <a:pt x="10192" y="127"/>
                </a:cubicBezTo>
                <a:cubicBezTo>
                  <a:pt x="10192" y="203"/>
                  <a:pt x="10141" y="279"/>
                  <a:pt x="10090" y="279"/>
                </a:cubicBezTo>
                <a:cubicBezTo>
                  <a:pt x="10090" y="279"/>
                  <a:pt x="10065" y="279"/>
                  <a:pt x="10065" y="279"/>
                </a:cubicBezTo>
                <a:cubicBezTo>
                  <a:pt x="10014" y="279"/>
                  <a:pt x="9938" y="228"/>
                  <a:pt x="9938" y="152"/>
                </a:cubicBezTo>
                <a:close/>
                <a:moveTo>
                  <a:pt x="11484" y="279"/>
                </a:moveTo>
                <a:cubicBezTo>
                  <a:pt x="11408" y="253"/>
                  <a:pt x="11358" y="203"/>
                  <a:pt x="11358" y="127"/>
                </a:cubicBezTo>
                <a:cubicBezTo>
                  <a:pt x="11383" y="76"/>
                  <a:pt x="11434" y="0"/>
                  <a:pt x="11510" y="25"/>
                </a:cubicBezTo>
                <a:cubicBezTo>
                  <a:pt x="11586" y="25"/>
                  <a:pt x="11637" y="76"/>
                  <a:pt x="11611" y="152"/>
                </a:cubicBezTo>
                <a:cubicBezTo>
                  <a:pt x="11611" y="228"/>
                  <a:pt x="11560" y="279"/>
                  <a:pt x="11484" y="279"/>
                </a:cubicBezTo>
                <a:close/>
                <a:moveTo>
                  <a:pt x="10648" y="127"/>
                </a:moveTo>
                <a:cubicBezTo>
                  <a:pt x="10648" y="51"/>
                  <a:pt x="10724" y="0"/>
                  <a:pt x="10775" y="0"/>
                </a:cubicBezTo>
                <a:cubicBezTo>
                  <a:pt x="10851" y="0"/>
                  <a:pt x="10901" y="51"/>
                  <a:pt x="10901" y="127"/>
                </a:cubicBezTo>
                <a:cubicBezTo>
                  <a:pt x="10901" y="203"/>
                  <a:pt x="10851" y="253"/>
                  <a:pt x="10775" y="253"/>
                </a:cubicBezTo>
                <a:cubicBezTo>
                  <a:pt x="10724" y="253"/>
                  <a:pt x="10648" y="203"/>
                  <a:pt x="10648" y="127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0" name="Freeform 9"/>
          <p:cNvSpPr/>
          <p:nvPr/>
        </p:nvSpPr>
        <p:spPr>
          <a:xfrm rot="221461">
            <a:off x="6960623" y="4352074"/>
            <a:ext cx="1991801" cy="17502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2115" y="0"/>
                </a:moveTo>
                <a:cubicBezTo>
                  <a:pt x="6854" y="0"/>
                  <a:pt x="2561" y="4809"/>
                  <a:pt x="2561" y="10800"/>
                </a:cubicBezTo>
                <a:cubicBezTo>
                  <a:pt x="2561" y="11116"/>
                  <a:pt x="2631" y="11431"/>
                  <a:pt x="2631" y="11747"/>
                </a:cubicBezTo>
                <a:cubicBezTo>
                  <a:pt x="0" y="14899"/>
                  <a:pt x="0" y="14899"/>
                  <a:pt x="0" y="14899"/>
                </a:cubicBezTo>
                <a:cubicBezTo>
                  <a:pt x="3738" y="15925"/>
                  <a:pt x="3738" y="15925"/>
                  <a:pt x="3738" y="15925"/>
                </a:cubicBezTo>
                <a:cubicBezTo>
                  <a:pt x="5330" y="19314"/>
                  <a:pt x="8446" y="21600"/>
                  <a:pt x="12115" y="21600"/>
                </a:cubicBezTo>
                <a:cubicBezTo>
                  <a:pt x="17308" y="21600"/>
                  <a:pt x="21600" y="16791"/>
                  <a:pt x="21600" y="10800"/>
                </a:cubicBezTo>
                <a:cubicBezTo>
                  <a:pt x="21600" y="4809"/>
                  <a:pt x="17308" y="0"/>
                  <a:pt x="12115" y="0"/>
                </a:cubicBezTo>
                <a:close/>
              </a:path>
            </a:pathLst>
          </a:custGeom>
          <a:gradFill>
            <a:gsLst>
              <a:gs pos="0">
                <a:srgbClr val="F600FE"/>
              </a:gs>
              <a:gs pos="25000">
                <a:srgbClr val="C900FE"/>
              </a:gs>
              <a:gs pos="50000">
                <a:srgbClr val="A136FF"/>
              </a:gs>
              <a:gs pos="75000">
                <a:srgbClr val="5142F0"/>
              </a:gs>
              <a:gs pos="100000">
                <a:srgbClr val="0033D9"/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1" name="Freeform 11"/>
          <p:cNvSpPr/>
          <p:nvPr/>
        </p:nvSpPr>
        <p:spPr>
          <a:xfrm>
            <a:off x="5404336" y="843660"/>
            <a:ext cx="1758180" cy="17973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39" y="0"/>
                </a:moveTo>
                <a:cubicBezTo>
                  <a:pt x="4870" y="0"/>
                  <a:pt x="0" y="4766"/>
                  <a:pt x="0" y="10608"/>
                </a:cubicBezTo>
                <a:cubicBezTo>
                  <a:pt x="0" y="13221"/>
                  <a:pt x="1021" y="15605"/>
                  <a:pt x="2670" y="17450"/>
                </a:cubicBezTo>
                <a:cubicBezTo>
                  <a:pt x="2042" y="21600"/>
                  <a:pt x="2042" y="21600"/>
                  <a:pt x="2042" y="21600"/>
                </a:cubicBezTo>
                <a:cubicBezTo>
                  <a:pt x="6048" y="20062"/>
                  <a:pt x="6048" y="20062"/>
                  <a:pt x="6048" y="20062"/>
                </a:cubicBezTo>
                <a:cubicBezTo>
                  <a:pt x="7461" y="20754"/>
                  <a:pt x="9110" y="21139"/>
                  <a:pt x="10839" y="21139"/>
                </a:cubicBezTo>
                <a:cubicBezTo>
                  <a:pt x="16730" y="21139"/>
                  <a:pt x="21600" y="16373"/>
                  <a:pt x="21600" y="10608"/>
                </a:cubicBezTo>
                <a:cubicBezTo>
                  <a:pt x="21599" y="4766"/>
                  <a:pt x="16730" y="0"/>
                  <a:pt x="10839" y="0"/>
                </a:cubicBezTo>
                <a:close/>
              </a:path>
            </a:pathLst>
          </a:custGeom>
          <a:gradFill>
            <a:gsLst>
              <a:gs pos="0">
                <a:srgbClr val="F600FE"/>
              </a:gs>
              <a:gs pos="25000">
                <a:srgbClr val="C900FE"/>
              </a:gs>
              <a:gs pos="50000">
                <a:srgbClr val="A136FF"/>
              </a:gs>
              <a:gs pos="75000">
                <a:srgbClr val="5142F0"/>
              </a:gs>
              <a:gs pos="100000">
                <a:srgbClr val="0033D9"/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2" name="Freeform 12"/>
          <p:cNvSpPr/>
          <p:nvPr/>
        </p:nvSpPr>
        <p:spPr>
          <a:xfrm>
            <a:off x="2814614" y="3646208"/>
            <a:ext cx="1555885" cy="128714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3" name="TextBox 13"/>
          <p:cNvSpPr txBox="1"/>
          <p:nvPr/>
        </p:nvSpPr>
        <p:spPr>
          <a:xfrm>
            <a:off x="1870549" y="5138799"/>
            <a:ext cx="3426949" cy="15454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ts val="7100"/>
              </a:lnSpc>
              <a:defRPr sz="5900">
                <a:solidFill>
                  <a:srgbClr val="FFFFFF"/>
                </a:solidFill>
                <a:latin typeface="jf-openhuninn-2.0"/>
                <a:ea typeface="jf-openhuninn-2.0"/>
                <a:cs typeface="jf-openhuninn-2.0"/>
                <a:sym typeface="jf-openhuninn-2.0"/>
              </a:defRPr>
            </a:pPr>
            <a:r>
              <a:t>大綱</a:t>
            </a:r>
          </a:p>
          <a:p>
            <a:pPr algn="ctr">
              <a:lnSpc>
                <a:spcPts val="5100"/>
              </a:lnSpc>
              <a:defRPr sz="4300">
                <a:solidFill>
                  <a:srgbClr val="FFFFFF"/>
                </a:solidFill>
                <a:latin typeface="jf-openhuninn-2.0"/>
                <a:ea typeface="jf-openhuninn-2.0"/>
                <a:cs typeface="jf-openhuninn-2.0"/>
                <a:sym typeface="jf-openhuninn-2.0"/>
              </a:defRPr>
            </a:pPr>
            <a:r>
              <a:t>Outline</a:t>
            </a:r>
          </a:p>
        </p:txBody>
      </p:sp>
      <p:sp>
        <p:nvSpPr>
          <p:cNvPr id="114" name="TextBox 14"/>
          <p:cNvSpPr txBox="1"/>
          <p:nvPr/>
        </p:nvSpPr>
        <p:spPr>
          <a:xfrm>
            <a:off x="5585521" y="1200477"/>
            <a:ext cx="1320834" cy="9662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7900"/>
              </a:lnSpc>
              <a:defRPr b="1" sz="56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115" name="TextBox 15"/>
          <p:cNvSpPr txBox="1"/>
          <p:nvPr/>
        </p:nvSpPr>
        <p:spPr>
          <a:xfrm>
            <a:off x="7412001" y="843660"/>
            <a:ext cx="5401839" cy="16211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8600"/>
              </a:lnSpc>
              <a:defRPr b="1" sz="7200">
                <a:solidFill>
                  <a:srgbClr val="10101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pPr>
            <a:r>
              <a:t>製程介紹</a:t>
            </a:r>
          </a:p>
          <a:p>
            <a:pPr>
              <a:lnSpc>
                <a:spcPts val="4200"/>
              </a:lnSpc>
              <a:defRPr b="1" sz="3500">
                <a:solidFill>
                  <a:srgbClr val="10101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pPr>
            <a:r>
              <a:t>Introduction  of  Process</a:t>
            </a:r>
          </a:p>
        </p:txBody>
      </p:sp>
      <p:sp>
        <p:nvSpPr>
          <p:cNvPr id="116" name="TextBox 16"/>
          <p:cNvSpPr txBox="1"/>
          <p:nvPr/>
        </p:nvSpPr>
        <p:spPr>
          <a:xfrm>
            <a:off x="7375991" y="4702261"/>
            <a:ext cx="1320834" cy="966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7900"/>
              </a:lnSpc>
              <a:defRPr b="1" sz="56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117" name="Freeform 18"/>
          <p:cNvSpPr/>
          <p:nvPr/>
        </p:nvSpPr>
        <p:spPr>
          <a:xfrm>
            <a:off x="6107805" y="5227203"/>
            <a:ext cx="457878" cy="457878"/>
          </a:xfrm>
          <a:prstGeom prst="ellipse">
            <a:avLst/>
          </a:prstGeom>
          <a:gradFill>
            <a:gsLst>
              <a:gs pos="0">
                <a:srgbClr val="F600FE"/>
              </a:gs>
              <a:gs pos="25000">
                <a:srgbClr val="C900FE"/>
              </a:gs>
              <a:gs pos="50000">
                <a:srgbClr val="A136FF"/>
              </a:gs>
              <a:gs pos="75000">
                <a:srgbClr val="5142F0"/>
              </a:gs>
              <a:gs pos="100000">
                <a:srgbClr val="0033D9"/>
              </a:gs>
            </a:gsLst>
            <a:path path="circle">
              <a:fillToRect l="37721" t="-19636" r="62278" b="119636"/>
            </a:path>
          </a:gradFill>
          <a:ln w="38100" cap="sq">
            <a:solidFill>
              <a:srgbClr val="FFFFFF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118" name="Freeform 21"/>
          <p:cNvSpPr/>
          <p:nvPr/>
        </p:nvSpPr>
        <p:spPr>
          <a:xfrm>
            <a:off x="5099601" y="2758149"/>
            <a:ext cx="457878" cy="457878"/>
          </a:xfrm>
          <a:prstGeom prst="ellipse">
            <a:avLst/>
          </a:prstGeom>
          <a:gradFill>
            <a:gsLst>
              <a:gs pos="0">
                <a:srgbClr val="F600FE"/>
              </a:gs>
              <a:gs pos="25000">
                <a:srgbClr val="C900FE"/>
              </a:gs>
              <a:gs pos="50000">
                <a:srgbClr val="A136FF"/>
              </a:gs>
              <a:gs pos="75000">
                <a:srgbClr val="5142F0"/>
              </a:gs>
              <a:gs pos="100000">
                <a:srgbClr val="0033D9"/>
              </a:gs>
            </a:gsLst>
            <a:path path="circle">
              <a:fillToRect l="37721" t="-19636" r="62278" b="119636"/>
            </a:path>
          </a:gradFill>
          <a:ln w="38100" cap="sq">
            <a:solidFill>
              <a:srgbClr val="FFFFFF"/>
            </a:solidFill>
            <a:miter/>
          </a:ln>
        </p:spPr>
        <p:txBody>
          <a:bodyPr lIns="45719" rIns="45719"/>
          <a:lstStyle/>
          <a:p>
            <a:pPr/>
          </a:p>
        </p:txBody>
      </p:sp>
      <p:sp>
        <p:nvSpPr>
          <p:cNvPr id="119" name="Freeform 23"/>
          <p:cNvSpPr/>
          <p:nvPr/>
        </p:nvSpPr>
        <p:spPr>
          <a:xfrm rot="19701678">
            <a:off x="-1987267" y="8095154"/>
            <a:ext cx="4891502" cy="4903763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0" name="TextBox 24"/>
          <p:cNvSpPr txBox="1"/>
          <p:nvPr/>
        </p:nvSpPr>
        <p:spPr>
          <a:xfrm>
            <a:off x="9228686" y="4412815"/>
            <a:ext cx="5639167" cy="21094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8600"/>
              </a:lnSpc>
              <a:defRPr b="1" sz="7200">
                <a:solidFill>
                  <a:srgbClr val="10101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pPr>
            <a:r>
              <a:t>功能製造</a:t>
            </a:r>
          </a:p>
          <a:p>
            <a:pPr>
              <a:lnSpc>
                <a:spcPts val="4200"/>
              </a:lnSpc>
              <a:defRPr b="1" sz="3500">
                <a:solidFill>
                  <a:srgbClr val="10101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pPr>
            <a:r>
              <a:t>Function  of Manufacture</a:t>
            </a:r>
          </a:p>
        </p:txBody>
      </p:sp>
      <p:sp>
        <p:nvSpPr>
          <p:cNvPr id="121" name="TextBox 25"/>
          <p:cNvSpPr txBox="1"/>
          <p:nvPr/>
        </p:nvSpPr>
        <p:spPr>
          <a:xfrm>
            <a:off x="5836880" y="9853782"/>
            <a:ext cx="6614240" cy="3428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2000">
                <a:solidFill>
                  <a:srgbClr val="0E2C4B"/>
                </a:solidFill>
                <a:latin typeface="jf-openhuninn-2.0"/>
                <a:ea typeface="jf-openhuninn-2.0"/>
                <a:cs typeface="jf-openhuninn-2.0"/>
                <a:sym typeface="jf-openhuninn-2.0"/>
              </a:defRPr>
            </a:lvl1pPr>
          </a:lstStyle>
          <a:p>
            <a:pPr/>
            <a:r>
              <a:t>Designed by Wei Shuo Wang in Kaohsiung Use Canva.</a:t>
            </a:r>
          </a:p>
        </p:txBody>
      </p:sp>
      <p:grpSp>
        <p:nvGrpSpPr>
          <p:cNvPr id="124" name="Group 26"/>
          <p:cNvGrpSpPr/>
          <p:nvPr/>
        </p:nvGrpSpPr>
        <p:grpSpPr>
          <a:xfrm>
            <a:off x="241261" y="267546"/>
            <a:ext cx="999914" cy="582209"/>
            <a:chOff x="0" y="0"/>
            <a:chExt cx="999912" cy="582207"/>
          </a:xfrm>
        </p:grpSpPr>
        <p:sp>
          <p:nvSpPr>
            <p:cNvPr id="122" name="TextBox 27"/>
            <p:cNvSpPr txBox="1"/>
            <p:nvPr/>
          </p:nvSpPr>
          <p:spPr>
            <a:xfrm>
              <a:off x="0" y="0"/>
              <a:ext cx="999913" cy="2702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just">
                <a:lnSpc>
                  <a:spcPts val="2200"/>
                </a:lnSpc>
                <a:defRPr b="1" spc="80" sz="1600">
                  <a:solidFill>
                    <a:srgbClr val="FF66C4"/>
                  </a:solidFill>
                  <a:latin typeface="DM Sans Bold"/>
                  <a:ea typeface="DM Sans Bold"/>
                  <a:cs typeface="DM Sans Bold"/>
                  <a:sym typeface="DM Sans Bold"/>
                </a:defRPr>
              </a:lvl1pPr>
            </a:lstStyle>
            <a:p>
              <a:pPr/>
              <a:r>
                <a:t>TIME</a:t>
              </a:r>
            </a:p>
          </p:txBody>
        </p:sp>
        <p:sp>
          <p:nvSpPr>
            <p:cNvPr id="123" name="TextBox 28"/>
            <p:cNvSpPr txBox="1"/>
            <p:nvPr/>
          </p:nvSpPr>
          <p:spPr>
            <a:xfrm>
              <a:off x="0" y="311955"/>
              <a:ext cx="999913" cy="2702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just">
                <a:lnSpc>
                  <a:spcPts val="2200"/>
                </a:lnSpc>
                <a:defRPr sz="1600">
                  <a:latin typeface="DM Sans"/>
                  <a:ea typeface="DM Sans"/>
                  <a:cs typeface="DM Sans"/>
                  <a:sym typeface="DM Sans"/>
                </a:defRPr>
              </a:lvl1pPr>
            </a:lstStyle>
            <a:p>
              <a:pPr/>
              <a:r>
                <a:t>2024-03</a:t>
              </a:r>
            </a:p>
          </p:txBody>
        </p:sp>
      </p:grpSp>
      <p:sp>
        <p:nvSpPr>
          <p:cNvPr id="125" name="TextBox 29"/>
          <p:cNvSpPr txBox="1"/>
          <p:nvPr/>
        </p:nvSpPr>
        <p:spPr>
          <a:xfrm>
            <a:off x="17259300" y="9680463"/>
            <a:ext cx="762376" cy="389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3200"/>
              </a:lnSpc>
              <a:defRPr sz="2200">
                <a:latin typeface="Noto Sans T Chinese"/>
                <a:ea typeface="Noto Sans T Chinese"/>
                <a:cs typeface="Noto Sans T Chinese"/>
                <a:sym typeface="Noto Sans T Chinese"/>
              </a:defRPr>
            </a:lvl1pPr>
          </a:lstStyle>
          <a:p>
            <a:pPr/>
            <a:r>
              <a:t>02/24</a:t>
            </a:r>
          </a:p>
        </p:txBody>
      </p:sp>
      <p:sp>
        <p:nvSpPr>
          <p:cNvPr id="126" name="TextBox 30"/>
          <p:cNvSpPr txBox="1"/>
          <p:nvPr/>
        </p:nvSpPr>
        <p:spPr>
          <a:xfrm>
            <a:off x="7412001" y="2593397"/>
            <a:ext cx="1731999" cy="8808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3400"/>
              </a:lnSpc>
              <a:defRPr b="1" sz="2400">
                <a:solidFill>
                  <a:srgbClr val="10101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pPr>
            <a:r>
              <a:t>•結構</a:t>
            </a:r>
          </a:p>
          <a:p>
            <a:pPr>
              <a:lnSpc>
                <a:spcPts val="3400"/>
              </a:lnSpc>
              <a:defRPr b="1" sz="2400">
                <a:solidFill>
                  <a:srgbClr val="10101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pPr>
            <a:r>
              <a:t>•效應</a:t>
            </a:r>
          </a:p>
        </p:txBody>
      </p:sp>
      <p:sp>
        <p:nvSpPr>
          <p:cNvPr id="127" name="TextBox 31"/>
          <p:cNvSpPr txBox="1"/>
          <p:nvPr/>
        </p:nvSpPr>
        <p:spPr>
          <a:xfrm>
            <a:off x="9228686" y="6267232"/>
            <a:ext cx="1731999" cy="8808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3400"/>
              </a:lnSpc>
              <a:defRPr b="1" sz="2400">
                <a:solidFill>
                  <a:srgbClr val="10101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pPr>
            <a:r>
              <a:t>•製程</a:t>
            </a:r>
          </a:p>
          <a:p>
            <a:pPr>
              <a:lnSpc>
                <a:spcPts val="3400"/>
              </a:lnSpc>
              <a:defRPr b="1" sz="2400">
                <a:solidFill>
                  <a:srgbClr val="10101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pPr>
            <a:r>
              <a:t>•封裝</a:t>
            </a:r>
          </a:p>
        </p:txBody>
      </p:sp>
      <p:sp>
        <p:nvSpPr>
          <p:cNvPr id="128" name="Freeform 33"/>
          <p:cNvSpPr/>
          <p:nvPr/>
        </p:nvSpPr>
        <p:spPr>
          <a:xfrm rot="2939130">
            <a:off x="5591554" y="7315517"/>
            <a:ext cx="1991802" cy="175029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2115" y="0"/>
                </a:moveTo>
                <a:cubicBezTo>
                  <a:pt x="6854" y="0"/>
                  <a:pt x="2561" y="4809"/>
                  <a:pt x="2561" y="10800"/>
                </a:cubicBezTo>
                <a:cubicBezTo>
                  <a:pt x="2561" y="11116"/>
                  <a:pt x="2631" y="11431"/>
                  <a:pt x="2631" y="11747"/>
                </a:cubicBezTo>
                <a:cubicBezTo>
                  <a:pt x="0" y="14899"/>
                  <a:pt x="0" y="14899"/>
                  <a:pt x="0" y="14899"/>
                </a:cubicBezTo>
                <a:cubicBezTo>
                  <a:pt x="3738" y="15925"/>
                  <a:pt x="3738" y="15925"/>
                  <a:pt x="3738" y="15925"/>
                </a:cubicBezTo>
                <a:cubicBezTo>
                  <a:pt x="5330" y="19314"/>
                  <a:pt x="8446" y="21600"/>
                  <a:pt x="12115" y="21600"/>
                </a:cubicBezTo>
                <a:cubicBezTo>
                  <a:pt x="17308" y="21600"/>
                  <a:pt x="21600" y="16791"/>
                  <a:pt x="21600" y="10800"/>
                </a:cubicBezTo>
                <a:cubicBezTo>
                  <a:pt x="21600" y="4809"/>
                  <a:pt x="17308" y="0"/>
                  <a:pt x="12115" y="0"/>
                </a:cubicBezTo>
                <a:close/>
              </a:path>
            </a:pathLst>
          </a:custGeom>
          <a:gradFill>
            <a:gsLst>
              <a:gs pos="0">
                <a:srgbClr val="F600FE"/>
              </a:gs>
              <a:gs pos="25000">
                <a:srgbClr val="C900FE"/>
              </a:gs>
              <a:gs pos="50000">
                <a:srgbClr val="A136FF"/>
              </a:gs>
              <a:gs pos="75000">
                <a:srgbClr val="5142F0"/>
              </a:gs>
              <a:gs pos="100000">
                <a:srgbClr val="0033D9"/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9" name="TextBox 34"/>
          <p:cNvSpPr txBox="1"/>
          <p:nvPr/>
        </p:nvSpPr>
        <p:spPr>
          <a:xfrm>
            <a:off x="5927066" y="7763171"/>
            <a:ext cx="1320834" cy="9662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7900"/>
              </a:lnSpc>
              <a:defRPr b="1" sz="56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130" name="TextBox 35"/>
          <p:cNvSpPr txBox="1"/>
          <p:nvPr/>
        </p:nvSpPr>
        <p:spPr>
          <a:xfrm>
            <a:off x="7731029" y="7739232"/>
            <a:ext cx="5639167" cy="21094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8600"/>
              </a:lnSpc>
              <a:defRPr b="1" sz="7200">
                <a:solidFill>
                  <a:srgbClr val="10101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pPr>
            <a:r>
              <a:t>總結</a:t>
            </a:r>
          </a:p>
          <a:p>
            <a:pPr>
              <a:lnSpc>
                <a:spcPts val="4200"/>
              </a:lnSpc>
              <a:defRPr b="1" sz="3500">
                <a:solidFill>
                  <a:srgbClr val="10101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pPr>
            <a:r>
              <a:t>SUMMARY</a:t>
            </a:r>
          </a:p>
        </p:txBody>
      </p:sp>
      <p:sp>
        <p:nvSpPr>
          <p:cNvPr id="131" name="Freeform 37"/>
          <p:cNvSpPr/>
          <p:nvPr/>
        </p:nvSpPr>
        <p:spPr>
          <a:xfrm>
            <a:off x="5068558" y="7176624"/>
            <a:ext cx="457878" cy="457878"/>
          </a:xfrm>
          <a:prstGeom prst="ellipse">
            <a:avLst/>
          </a:prstGeom>
          <a:gradFill>
            <a:gsLst>
              <a:gs pos="0">
                <a:srgbClr val="F600FE"/>
              </a:gs>
              <a:gs pos="25000">
                <a:srgbClr val="C900FE"/>
              </a:gs>
              <a:gs pos="50000">
                <a:srgbClr val="A136FF"/>
              </a:gs>
              <a:gs pos="75000">
                <a:srgbClr val="5142F0"/>
              </a:gs>
              <a:gs pos="100000">
                <a:srgbClr val="0033D9"/>
              </a:gs>
            </a:gsLst>
            <a:path path="circle">
              <a:fillToRect l="37721" t="-19636" r="62278" b="119636"/>
            </a:path>
          </a:gradFill>
          <a:ln w="38100" cap="sq">
            <a:solidFill>
              <a:srgbClr val="FFFFFF"/>
            </a:solidFill>
            <a:miter/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Freeform 2"/>
          <p:cNvSpPr/>
          <p:nvPr/>
        </p:nvSpPr>
        <p:spPr>
          <a:xfrm rot="7536833">
            <a:off x="-4428214" y="-2916504"/>
            <a:ext cx="9627546" cy="9651673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4" name="Freeform 4"/>
          <p:cNvSpPr/>
          <p:nvPr/>
        </p:nvSpPr>
        <p:spPr>
          <a:xfrm rot="7573184">
            <a:off x="1230110" y="7154960"/>
            <a:ext cx="1013030" cy="1013030"/>
          </a:xfrm>
          <a:prstGeom prst="ellipse">
            <a:avLst/>
          </a:prstGeom>
          <a:gradFill>
            <a:gsLst>
              <a:gs pos="0">
                <a:srgbClr val="F600FE"/>
              </a:gs>
              <a:gs pos="25000">
                <a:srgbClr val="C900FE"/>
              </a:gs>
              <a:gs pos="50000">
                <a:srgbClr val="A136FF"/>
              </a:gs>
              <a:gs pos="75000">
                <a:srgbClr val="5142F0"/>
              </a:gs>
              <a:gs pos="100000">
                <a:srgbClr val="0033D9"/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5" name="Freeform 6"/>
          <p:cNvSpPr/>
          <p:nvPr/>
        </p:nvSpPr>
        <p:spPr>
          <a:xfrm>
            <a:off x="9643923" y="4922716"/>
            <a:ext cx="4061670" cy="406167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6" name="TextBox 7"/>
          <p:cNvSpPr txBox="1"/>
          <p:nvPr/>
        </p:nvSpPr>
        <p:spPr>
          <a:xfrm>
            <a:off x="6090217" y="1019175"/>
            <a:ext cx="11169084" cy="26446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ts val="12700"/>
              </a:lnSpc>
              <a:defRPr b="1" sz="10500">
                <a:solidFill>
                  <a:srgbClr val="10101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pPr>
            <a:r>
              <a:t>製程介紹</a:t>
            </a:r>
          </a:p>
          <a:p>
            <a:pPr algn="ctr">
              <a:lnSpc>
                <a:spcPts val="8200"/>
              </a:lnSpc>
              <a:defRPr b="1" sz="6800">
                <a:solidFill>
                  <a:srgbClr val="10101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pPr>
            <a:r>
              <a:t>Introduction  of  Process</a:t>
            </a:r>
          </a:p>
        </p:txBody>
      </p:sp>
      <p:sp>
        <p:nvSpPr>
          <p:cNvPr id="137" name="TextBox 8"/>
          <p:cNvSpPr txBox="1"/>
          <p:nvPr/>
        </p:nvSpPr>
        <p:spPr>
          <a:xfrm>
            <a:off x="385559" y="800100"/>
            <a:ext cx="1882502" cy="20573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16800"/>
              </a:lnSpc>
              <a:defRPr b="1" sz="12000">
                <a:latin typeface="Montserrat Bold"/>
                <a:ea typeface="Montserrat Bold"/>
                <a:cs typeface="Montserrat Bold"/>
                <a:sym typeface="Montserrat Bold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138" name="Freeform 10"/>
          <p:cNvSpPr/>
          <p:nvPr/>
        </p:nvSpPr>
        <p:spPr>
          <a:xfrm rot="7573184">
            <a:off x="11621985" y="5257667"/>
            <a:ext cx="459114" cy="459114"/>
          </a:xfrm>
          <a:prstGeom prst="ellipse">
            <a:avLst/>
          </a:prstGeom>
          <a:gradFill>
            <a:gsLst>
              <a:gs pos="0">
                <a:srgbClr val="F600FE"/>
              </a:gs>
              <a:gs pos="25000">
                <a:srgbClr val="C900FE"/>
              </a:gs>
              <a:gs pos="50000">
                <a:srgbClr val="A136FF"/>
              </a:gs>
              <a:gs pos="75000">
                <a:srgbClr val="5142F0"/>
              </a:gs>
              <a:gs pos="100000">
                <a:srgbClr val="0033D9"/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9" name="TextBox 12"/>
          <p:cNvSpPr txBox="1"/>
          <p:nvPr/>
        </p:nvSpPr>
        <p:spPr>
          <a:xfrm>
            <a:off x="111600" y="9853782"/>
            <a:ext cx="6614239" cy="3428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2000">
                <a:solidFill>
                  <a:srgbClr val="0E2C4B"/>
                </a:solidFill>
                <a:latin typeface="jf-openhuninn-2.0"/>
                <a:ea typeface="jf-openhuninn-2.0"/>
                <a:cs typeface="jf-openhuninn-2.0"/>
                <a:sym typeface="jf-openhuninn-2.0"/>
              </a:defRPr>
            </a:lvl1pPr>
          </a:lstStyle>
          <a:p>
            <a:pPr/>
            <a:r>
              <a:t>Designed by Wei Shuo Wang in Kaohsiung Use Canva.</a:t>
            </a:r>
          </a:p>
        </p:txBody>
      </p:sp>
      <p:sp>
        <p:nvSpPr>
          <p:cNvPr id="140" name="TextBox 13"/>
          <p:cNvSpPr txBox="1"/>
          <p:nvPr/>
        </p:nvSpPr>
        <p:spPr>
          <a:xfrm>
            <a:off x="17259300" y="9680463"/>
            <a:ext cx="762376" cy="389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3200"/>
              </a:lnSpc>
              <a:defRPr sz="2200">
                <a:latin typeface="Noto Sans T Chinese"/>
                <a:ea typeface="Noto Sans T Chinese"/>
                <a:cs typeface="Noto Sans T Chinese"/>
                <a:sym typeface="Noto Sans T Chinese"/>
              </a:defRPr>
            </a:lvl1pPr>
          </a:lstStyle>
          <a:p>
            <a:pPr/>
            <a:r>
              <a:t>03/24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Freeform 3"/>
          <p:cNvSpPr/>
          <p:nvPr/>
        </p:nvSpPr>
        <p:spPr>
          <a:xfrm>
            <a:off x="0" y="10098929"/>
            <a:ext cx="9853056" cy="188072"/>
          </a:xfrm>
          <a:prstGeom prst="rect">
            <a:avLst/>
          </a:prstGeom>
          <a:gradFill>
            <a:gsLst>
              <a:gs pos="0">
                <a:srgbClr val="F600FE"/>
              </a:gs>
              <a:gs pos="25000">
                <a:srgbClr val="C900FE"/>
              </a:gs>
              <a:gs pos="50000">
                <a:srgbClr val="A136FF"/>
              </a:gs>
              <a:gs pos="75000">
                <a:srgbClr val="5142F0"/>
              </a:gs>
              <a:gs pos="100000">
                <a:srgbClr val="0033D9"/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3" name="Freeform 6"/>
          <p:cNvSpPr/>
          <p:nvPr/>
        </p:nvSpPr>
        <p:spPr>
          <a:xfrm>
            <a:off x="9853055" y="0"/>
            <a:ext cx="8434945" cy="167139"/>
          </a:xfrm>
          <a:prstGeom prst="rect">
            <a:avLst/>
          </a:prstGeom>
          <a:gradFill>
            <a:gsLst>
              <a:gs pos="0">
                <a:srgbClr val="F600FE"/>
              </a:gs>
              <a:gs pos="25000">
                <a:srgbClr val="C900FE"/>
              </a:gs>
              <a:gs pos="50000">
                <a:srgbClr val="A136FF"/>
              </a:gs>
              <a:gs pos="75000">
                <a:srgbClr val="5142F0"/>
              </a:gs>
              <a:gs pos="100000">
                <a:srgbClr val="0033D9"/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4" name="Freeform 9"/>
          <p:cNvSpPr/>
          <p:nvPr/>
        </p:nvSpPr>
        <p:spPr>
          <a:xfrm>
            <a:off x="523768" y="841758"/>
            <a:ext cx="373882" cy="373882"/>
          </a:xfrm>
          <a:prstGeom prst="ellipse">
            <a:avLst/>
          </a:prstGeom>
          <a:gradFill>
            <a:gsLst>
              <a:gs pos="0">
                <a:srgbClr val="F600FE"/>
              </a:gs>
              <a:gs pos="25000">
                <a:srgbClr val="C900FE"/>
              </a:gs>
              <a:gs pos="50000">
                <a:srgbClr val="A136FF"/>
              </a:gs>
              <a:gs pos="75000">
                <a:srgbClr val="5142F0"/>
              </a:gs>
              <a:gs pos="100000">
                <a:srgbClr val="0033D9"/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5" name="TextBox 11"/>
          <p:cNvSpPr txBox="1"/>
          <p:nvPr/>
        </p:nvSpPr>
        <p:spPr>
          <a:xfrm>
            <a:off x="1028700" y="315475"/>
            <a:ext cx="16230600" cy="19232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just">
              <a:lnSpc>
                <a:spcPts val="10200"/>
              </a:lnSpc>
              <a:defRPr b="1" sz="7300"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pPr>
            <a:r>
              <a:t>金氧半場效電晶體</a:t>
            </a:r>
          </a:p>
          <a:p>
            <a:pPr algn="just">
              <a:lnSpc>
                <a:spcPts val="4800"/>
              </a:lnSpc>
              <a:defRPr b="1" sz="4800"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pPr>
            <a:r>
              <a:t>Metal-Oxide-Semiconductor Field-Effect Transistor</a:t>
            </a:r>
          </a:p>
        </p:txBody>
      </p:sp>
      <p:sp>
        <p:nvSpPr>
          <p:cNvPr id="146" name="TextBox 12"/>
          <p:cNvSpPr txBox="1"/>
          <p:nvPr/>
        </p:nvSpPr>
        <p:spPr>
          <a:xfrm>
            <a:off x="897649" y="3100762"/>
            <a:ext cx="6869595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600"/>
              </a:lnSpc>
              <a:defRPr b="1" sz="3000"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• Metal 金屬  (Cu)</a:t>
            </a:r>
          </a:p>
        </p:txBody>
      </p:sp>
      <p:sp>
        <p:nvSpPr>
          <p:cNvPr id="147" name="TextBox 13"/>
          <p:cNvSpPr txBox="1"/>
          <p:nvPr/>
        </p:nvSpPr>
        <p:spPr>
          <a:xfrm>
            <a:off x="10361207" y="10022840"/>
            <a:ext cx="5905367" cy="2882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just">
              <a:lnSpc>
                <a:spcPts val="2200"/>
              </a:lnSpc>
              <a:defRPr sz="1500">
                <a:solidFill>
                  <a:srgbClr val="101010"/>
                </a:solidFill>
                <a:latin typeface="Noto Sans T Chinese"/>
                <a:ea typeface="Noto Sans T Chinese"/>
                <a:cs typeface="Noto Sans T Chinese"/>
                <a:sym typeface="Noto Sans T Chinese"/>
              </a:defRPr>
            </a:lvl1pPr>
          </a:lstStyle>
          <a:p>
            <a:pPr/>
            <a:r>
              <a:t>金屬氧化物半導體場效電晶體  from wiki : https://ppt.cc/fLRtQx</a:t>
            </a:r>
          </a:p>
        </p:txBody>
      </p:sp>
      <p:grpSp>
        <p:nvGrpSpPr>
          <p:cNvPr id="151" name="Group 14"/>
          <p:cNvGrpSpPr/>
          <p:nvPr/>
        </p:nvGrpSpPr>
        <p:grpSpPr>
          <a:xfrm>
            <a:off x="8826009" y="3110287"/>
            <a:ext cx="8433291" cy="5554880"/>
            <a:chOff x="0" y="0"/>
            <a:chExt cx="8433289" cy="5554879"/>
          </a:xfrm>
        </p:grpSpPr>
        <p:sp>
          <p:nvSpPr>
            <p:cNvPr id="148" name="Freeform 15"/>
            <p:cNvSpPr/>
            <p:nvPr/>
          </p:nvSpPr>
          <p:spPr>
            <a:xfrm rot="5400000">
              <a:off x="5016591" y="3227563"/>
              <a:ext cx="2327316" cy="2327317"/>
            </a:xfrm>
            <a:prstGeom prst="rect">
              <a:avLst/>
            </a:prstGeom>
            <a:blipFill rotWithShape="1">
              <a:blip r:embed="rId3"/>
              <a:srcRect l="0" t="0" r="0" b="0"/>
              <a:stretch>
                <a:fillRect/>
              </a:stretch>
            </a:blip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49" name="Freeform 16"/>
            <p:cNvSpPr/>
            <p:nvPr/>
          </p:nvSpPr>
          <p:spPr>
            <a:xfrm rot="5400000">
              <a:off x="1256100" y="3227563"/>
              <a:ext cx="2327316" cy="2327317"/>
            </a:xfrm>
            <a:prstGeom prst="rect">
              <a:avLst/>
            </a:prstGeom>
            <a:blipFill rotWithShape="1">
              <a:blip r:embed="rId4"/>
              <a:srcRect l="0" t="0" r="0" b="0"/>
              <a:stretch>
                <a:fillRect/>
              </a:stretch>
            </a:blip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50" name="Freeform 17"/>
            <p:cNvSpPr/>
            <p:nvPr/>
          </p:nvSpPr>
          <p:spPr>
            <a:xfrm>
              <a:off x="-1" y="0"/>
              <a:ext cx="8433291" cy="3504138"/>
            </a:xfrm>
            <a:prstGeom prst="rect">
              <a:avLst/>
            </a:prstGeom>
            <a:blipFill rotWithShape="1">
              <a:blip r:embed="rId5"/>
              <a:srcRect l="0" t="0" r="0" b="0"/>
              <a:stretch>
                <a:fillRect/>
              </a:stretch>
            </a:blip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sp>
        <p:nvSpPr>
          <p:cNvPr id="152" name="TextBox 18"/>
          <p:cNvSpPr txBox="1"/>
          <p:nvPr/>
        </p:nvSpPr>
        <p:spPr>
          <a:xfrm>
            <a:off x="12557255" y="8474665"/>
            <a:ext cx="1513274" cy="412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000"/>
              </a:lnSpc>
              <a:defRPr b="1" sz="2500"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▲ CMOS</a:t>
            </a:r>
          </a:p>
        </p:txBody>
      </p:sp>
      <p:sp>
        <p:nvSpPr>
          <p:cNvPr id="153" name="TextBox 19"/>
          <p:cNvSpPr txBox="1"/>
          <p:nvPr/>
        </p:nvSpPr>
        <p:spPr>
          <a:xfrm>
            <a:off x="926224" y="3826873"/>
            <a:ext cx="6869595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600"/>
              </a:lnSpc>
              <a:defRPr b="1" sz="3000"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•Oxide 氧化物  (SiO₂ )</a:t>
            </a:r>
          </a:p>
        </p:txBody>
      </p:sp>
      <p:sp>
        <p:nvSpPr>
          <p:cNvPr id="154" name="TextBox 20"/>
          <p:cNvSpPr txBox="1"/>
          <p:nvPr/>
        </p:nvSpPr>
        <p:spPr>
          <a:xfrm>
            <a:off x="926224" y="4550773"/>
            <a:ext cx="6869595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600"/>
              </a:lnSpc>
              <a:defRPr b="1" sz="3000"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•Semiconductor 半導體  (n+ or p+)</a:t>
            </a:r>
          </a:p>
        </p:txBody>
      </p:sp>
      <p:sp>
        <p:nvSpPr>
          <p:cNvPr id="155" name="TextBox 21"/>
          <p:cNvSpPr txBox="1"/>
          <p:nvPr/>
        </p:nvSpPr>
        <p:spPr>
          <a:xfrm>
            <a:off x="926224" y="5789023"/>
            <a:ext cx="6869595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600"/>
              </a:lnSpc>
              <a:defRPr b="1" sz="3000"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•接線端點</a:t>
            </a:r>
          </a:p>
        </p:txBody>
      </p:sp>
      <p:sp>
        <p:nvSpPr>
          <p:cNvPr id="156" name="TextBox 22"/>
          <p:cNvSpPr txBox="1"/>
          <p:nvPr/>
        </p:nvSpPr>
        <p:spPr>
          <a:xfrm>
            <a:off x="1356358" y="6463557"/>
            <a:ext cx="8496697" cy="35013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3400"/>
              </a:lnSpc>
              <a:defRPr b="1" sz="2400">
                <a:solidFill>
                  <a:srgbClr val="10101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pPr>
            <a:r>
              <a:t>Source (源極):  多數載子來源</a:t>
            </a:r>
          </a:p>
          <a:p>
            <a:pPr>
              <a:lnSpc>
                <a:spcPts val="3400"/>
              </a:lnSpc>
              <a:defRPr b="1" sz="2400">
                <a:solidFill>
                  <a:srgbClr val="10101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pPr>
            <a:r>
              <a:t>Drain (汲極):  多數載子流向哪裡</a:t>
            </a:r>
          </a:p>
          <a:p>
            <a:pPr>
              <a:lnSpc>
                <a:spcPts val="3400"/>
              </a:lnSpc>
              <a:defRPr b="1" sz="2400">
                <a:solidFill>
                  <a:srgbClr val="10101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pPr>
            <a:r>
              <a:t>Gate (閘極):  控制開關</a:t>
            </a:r>
          </a:p>
          <a:p>
            <a:pPr>
              <a:lnSpc>
                <a:spcPts val="3400"/>
              </a:lnSpc>
            </a:pPr>
          </a:p>
          <a:p>
            <a:pPr>
              <a:lnSpc>
                <a:spcPts val="3400"/>
              </a:lnSpc>
              <a:defRPr b="1" sz="2400">
                <a:solidFill>
                  <a:srgbClr val="10101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pPr>
            <a:r>
              <a:t>Bulk、Body、Backgate、Substrate(基底):</a:t>
            </a:r>
          </a:p>
          <a:p>
            <a:pPr>
              <a:lnSpc>
                <a:spcPts val="3700"/>
              </a:lnSpc>
              <a:defRPr b="1" sz="2400">
                <a:solidFill>
                  <a:srgbClr val="10101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pPr>
            <a:r>
              <a:t>避免閂鎖效應(Latch-Up)與基底效應(BODY EFFECT)</a:t>
            </a:r>
          </a:p>
          <a:p>
            <a:pPr>
              <a:lnSpc>
                <a:spcPts val="3700"/>
              </a:lnSpc>
              <a:defRPr b="1" sz="2400">
                <a:solidFill>
                  <a:srgbClr val="10101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pPr>
            <a:r>
              <a:t>一般會與電路的Source相接，NMOS (VSS)  PMOS(VDD)</a:t>
            </a:r>
          </a:p>
        </p:txBody>
      </p:sp>
      <p:sp>
        <p:nvSpPr>
          <p:cNvPr id="157" name="TextBox 23"/>
          <p:cNvSpPr txBox="1"/>
          <p:nvPr/>
        </p:nvSpPr>
        <p:spPr>
          <a:xfrm>
            <a:off x="17259300" y="9680463"/>
            <a:ext cx="762376" cy="389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3200"/>
              </a:lnSpc>
              <a:defRPr sz="2200">
                <a:latin typeface="Noto Sans T Chinese"/>
                <a:ea typeface="Noto Sans T Chinese"/>
                <a:cs typeface="Noto Sans T Chinese"/>
                <a:sym typeface="Noto Sans T Chinese"/>
              </a:defRPr>
            </a:lvl1pPr>
          </a:lstStyle>
          <a:p>
            <a:pPr/>
            <a:r>
              <a:t>04/24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Freeform 3"/>
          <p:cNvSpPr/>
          <p:nvPr/>
        </p:nvSpPr>
        <p:spPr>
          <a:xfrm>
            <a:off x="0" y="10098929"/>
            <a:ext cx="9853056" cy="188072"/>
          </a:xfrm>
          <a:prstGeom prst="rect">
            <a:avLst/>
          </a:prstGeom>
          <a:gradFill>
            <a:gsLst>
              <a:gs pos="0">
                <a:srgbClr val="F600FE"/>
              </a:gs>
              <a:gs pos="25000">
                <a:srgbClr val="C900FE"/>
              </a:gs>
              <a:gs pos="50000">
                <a:srgbClr val="A136FF"/>
              </a:gs>
              <a:gs pos="75000">
                <a:srgbClr val="5142F0"/>
              </a:gs>
              <a:gs pos="100000">
                <a:srgbClr val="0033D9"/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2" name="Freeform 6"/>
          <p:cNvSpPr/>
          <p:nvPr/>
        </p:nvSpPr>
        <p:spPr>
          <a:xfrm>
            <a:off x="9853055" y="0"/>
            <a:ext cx="8434945" cy="167139"/>
          </a:xfrm>
          <a:prstGeom prst="rect">
            <a:avLst/>
          </a:prstGeom>
          <a:gradFill>
            <a:gsLst>
              <a:gs pos="0">
                <a:srgbClr val="F600FE"/>
              </a:gs>
              <a:gs pos="25000">
                <a:srgbClr val="C900FE"/>
              </a:gs>
              <a:gs pos="50000">
                <a:srgbClr val="A136FF"/>
              </a:gs>
              <a:gs pos="75000">
                <a:srgbClr val="5142F0"/>
              </a:gs>
              <a:gs pos="100000">
                <a:srgbClr val="0033D9"/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3" name="Freeform 9"/>
          <p:cNvSpPr/>
          <p:nvPr/>
        </p:nvSpPr>
        <p:spPr>
          <a:xfrm>
            <a:off x="523768" y="841758"/>
            <a:ext cx="373882" cy="373882"/>
          </a:xfrm>
          <a:prstGeom prst="ellipse">
            <a:avLst/>
          </a:prstGeom>
          <a:gradFill>
            <a:gsLst>
              <a:gs pos="0">
                <a:srgbClr val="F600FE"/>
              </a:gs>
              <a:gs pos="25000">
                <a:srgbClr val="C900FE"/>
              </a:gs>
              <a:gs pos="50000">
                <a:srgbClr val="A136FF"/>
              </a:gs>
              <a:gs pos="75000">
                <a:srgbClr val="5142F0"/>
              </a:gs>
              <a:gs pos="100000">
                <a:srgbClr val="0033D9"/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4" name="Freeform 11"/>
          <p:cNvSpPr/>
          <p:nvPr/>
        </p:nvSpPr>
        <p:spPr>
          <a:xfrm>
            <a:off x="9853055" y="172223"/>
            <a:ext cx="8434945" cy="5869318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5" name="Freeform 12"/>
          <p:cNvSpPr/>
          <p:nvPr/>
        </p:nvSpPr>
        <p:spPr>
          <a:xfrm>
            <a:off x="14575485" y="6565203"/>
            <a:ext cx="2182216" cy="729363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6" name="Freeform 13"/>
          <p:cNvSpPr/>
          <p:nvPr/>
        </p:nvSpPr>
        <p:spPr>
          <a:xfrm>
            <a:off x="14438191" y="7466016"/>
            <a:ext cx="1323490" cy="472986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7" name="Freeform 14"/>
          <p:cNvSpPr/>
          <p:nvPr/>
        </p:nvSpPr>
        <p:spPr>
          <a:xfrm>
            <a:off x="15761681" y="7466016"/>
            <a:ext cx="1284534" cy="444793"/>
          </a:xfrm>
          <a:prstGeom prst="rect">
            <a:avLst/>
          </a:prstGeom>
          <a:blipFill>
            <a:blip r:embed="rId6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8" name="Freeform 15"/>
          <p:cNvSpPr/>
          <p:nvPr/>
        </p:nvSpPr>
        <p:spPr>
          <a:xfrm>
            <a:off x="15018258" y="8078457"/>
            <a:ext cx="1317687" cy="465929"/>
          </a:xfrm>
          <a:prstGeom prst="rect">
            <a:avLst/>
          </a:prstGeom>
          <a:blipFill>
            <a:blip r:embed="rId7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9" name="Freeform 16"/>
          <p:cNvSpPr/>
          <p:nvPr/>
        </p:nvSpPr>
        <p:spPr>
          <a:xfrm>
            <a:off x="14596504" y="8715834"/>
            <a:ext cx="2161198" cy="476307"/>
          </a:xfrm>
          <a:prstGeom prst="rect">
            <a:avLst/>
          </a:prstGeom>
          <a:blipFill>
            <a:blip r:embed="rId8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0" name="Freeform 17"/>
          <p:cNvSpPr/>
          <p:nvPr/>
        </p:nvSpPr>
        <p:spPr>
          <a:xfrm>
            <a:off x="15178295" y="9261920"/>
            <a:ext cx="1157651" cy="533805"/>
          </a:xfrm>
          <a:prstGeom prst="rect">
            <a:avLst/>
          </a:prstGeom>
          <a:blipFill>
            <a:blip r:embed="rId9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grpSp>
        <p:nvGrpSpPr>
          <p:cNvPr id="203" name="Group 18"/>
          <p:cNvGrpSpPr/>
          <p:nvPr/>
        </p:nvGrpSpPr>
        <p:grpSpPr>
          <a:xfrm>
            <a:off x="12278111" y="7079604"/>
            <a:ext cx="1792416" cy="1874385"/>
            <a:chOff x="0" y="0"/>
            <a:chExt cx="1792414" cy="1874384"/>
          </a:xfrm>
        </p:grpSpPr>
        <p:sp>
          <p:nvSpPr>
            <p:cNvPr id="171" name="Freeform 19"/>
            <p:cNvSpPr/>
            <p:nvPr/>
          </p:nvSpPr>
          <p:spPr>
            <a:xfrm>
              <a:off x="110152" y="315969"/>
              <a:ext cx="1236026" cy="411493"/>
            </a:xfrm>
            <a:prstGeom prst="rect">
              <a:avLst/>
            </a:prstGeom>
            <a:blipFill rotWithShape="1">
              <a:blip r:embed="rId10"/>
              <a:srcRect l="0" t="0" r="0" b="0"/>
              <a:stretch>
                <a:fillRect/>
              </a:stretch>
            </a:blip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72" name="AutoShape 20"/>
            <p:cNvSpPr/>
            <p:nvPr/>
          </p:nvSpPr>
          <p:spPr>
            <a:xfrm>
              <a:off x="1533741" y="731083"/>
              <a:ext cx="1" cy="452381"/>
            </a:xfrm>
            <a:prstGeom prst="line">
              <a:avLst/>
            </a:prstGeom>
            <a:noFill/>
            <a:ln w="50800" cap="flat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73" name="AutoShape 21"/>
            <p:cNvSpPr/>
            <p:nvPr/>
          </p:nvSpPr>
          <p:spPr>
            <a:xfrm flipH="1">
              <a:off x="728165" y="0"/>
              <a:ext cx="1" cy="465929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74" name="Freeform 22"/>
            <p:cNvSpPr/>
            <p:nvPr/>
          </p:nvSpPr>
          <p:spPr>
            <a:xfrm>
              <a:off x="106558" y="1037453"/>
              <a:ext cx="1236026" cy="411494"/>
            </a:xfrm>
            <a:prstGeom prst="rect">
              <a:avLst/>
            </a:prstGeom>
            <a:blipFill rotWithShape="1">
              <a:blip r:embed="rId10"/>
              <a:srcRect l="0" t="0" r="0" b="0"/>
              <a:stretch>
                <a:fillRect/>
              </a:stretch>
            </a:blip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75" name="AutoShape 23"/>
            <p:cNvSpPr/>
            <p:nvPr/>
          </p:nvSpPr>
          <p:spPr>
            <a:xfrm flipH="1">
              <a:off x="724571" y="1408456"/>
              <a:ext cx="1" cy="465929"/>
            </a:xfrm>
            <a:prstGeom prst="line">
              <a:avLst/>
            </a:prstGeom>
            <a:noFill/>
            <a:ln w="50800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76" name="TextBox 24"/>
            <p:cNvSpPr txBox="1"/>
            <p:nvPr/>
          </p:nvSpPr>
          <p:spPr>
            <a:xfrm>
              <a:off x="1645174" y="816504"/>
              <a:ext cx="147241" cy="30657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lnSpc>
                  <a:spcPts val="2500"/>
                </a:lnSpc>
                <a:defRPr b="1">
                  <a:latin typeface="Noto Sans T Chinese Bold"/>
                  <a:ea typeface="Noto Sans T Chinese Bold"/>
                  <a:cs typeface="Noto Sans T Chinese Bold"/>
                  <a:sym typeface="Noto Sans T Chinese Bold"/>
                </a:defRPr>
              </a:lvl1pPr>
            </a:lstStyle>
            <a:p>
              <a:pPr/>
              <a:r>
                <a:t>d</a:t>
              </a:r>
            </a:p>
          </p:txBody>
        </p:sp>
        <p:sp>
          <p:nvSpPr>
            <p:cNvPr id="177" name="Freeform 26"/>
            <p:cNvSpPr/>
            <p:nvPr/>
          </p:nvSpPr>
          <p:spPr>
            <a:xfrm>
              <a:off x="196462" y="572299"/>
              <a:ext cx="130157" cy="130158"/>
            </a:xfrm>
            <a:prstGeom prst="ellipse">
              <a:avLst/>
            </a:prstGeom>
            <a:solidFill>
              <a:srgbClr val="FF313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78" name="TextBox 28"/>
            <p:cNvSpPr txBox="1"/>
            <p:nvPr/>
          </p:nvSpPr>
          <p:spPr>
            <a:xfrm>
              <a:off x="233318" y="565155"/>
              <a:ext cx="56445" cy="13512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lnSpc>
                  <a:spcPts val="1100"/>
                </a:lnSpc>
                <a:defRPr sz="800">
                  <a:solidFill>
                    <a:srgbClr val="FFFFFF"/>
                  </a:solidFill>
                  <a:latin typeface="Noto Sans T Chinese"/>
                  <a:ea typeface="Noto Sans T Chinese"/>
                  <a:cs typeface="Noto Sans T Chinese"/>
                  <a:sym typeface="Noto Sans T Chinese"/>
                </a:defRPr>
              </a:lvl1pPr>
            </a:lstStyle>
            <a:p>
              <a:pPr/>
              <a:r>
                <a:t>+</a:t>
              </a:r>
            </a:p>
          </p:txBody>
        </p:sp>
        <p:sp>
          <p:nvSpPr>
            <p:cNvPr id="179" name="Freeform 30"/>
            <p:cNvSpPr/>
            <p:nvPr/>
          </p:nvSpPr>
          <p:spPr>
            <a:xfrm>
              <a:off x="193967" y="1299900"/>
              <a:ext cx="132652" cy="132652"/>
            </a:xfrm>
            <a:prstGeom prst="ellipse">
              <a:avLst/>
            </a:prstGeom>
            <a:solidFill>
              <a:srgbClr val="001BFB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80" name="TextBox 32"/>
            <p:cNvSpPr txBox="1"/>
            <p:nvPr/>
          </p:nvSpPr>
          <p:spPr>
            <a:xfrm>
              <a:off x="221606" y="1276088"/>
              <a:ext cx="77373" cy="13512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lnSpc>
                  <a:spcPts val="1100"/>
                </a:lnSpc>
                <a:defRPr sz="800">
                  <a:solidFill>
                    <a:srgbClr val="FFFFFF"/>
                  </a:solidFill>
                  <a:latin typeface="Noto Sans T Chinese"/>
                  <a:ea typeface="Noto Sans T Chinese"/>
                  <a:cs typeface="Noto Sans T Chinese"/>
                  <a:sym typeface="Noto Sans T Chinese"/>
                </a:defRPr>
              </a:lvl1pPr>
            </a:lstStyle>
            <a:p>
              <a:pPr/>
              <a:r>
                <a:t>-</a:t>
              </a:r>
            </a:p>
          </p:txBody>
        </p:sp>
        <p:sp>
          <p:nvSpPr>
            <p:cNvPr id="181" name="Freeform 34"/>
            <p:cNvSpPr/>
            <p:nvPr/>
          </p:nvSpPr>
          <p:spPr>
            <a:xfrm>
              <a:off x="425062" y="572299"/>
              <a:ext cx="130157" cy="130158"/>
            </a:xfrm>
            <a:prstGeom prst="ellipse">
              <a:avLst/>
            </a:prstGeom>
            <a:solidFill>
              <a:srgbClr val="FF313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82" name="TextBox 36"/>
            <p:cNvSpPr txBox="1"/>
            <p:nvPr/>
          </p:nvSpPr>
          <p:spPr>
            <a:xfrm>
              <a:off x="461918" y="565155"/>
              <a:ext cx="56445" cy="13512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lnSpc>
                  <a:spcPts val="1100"/>
                </a:lnSpc>
                <a:defRPr sz="800">
                  <a:solidFill>
                    <a:srgbClr val="FFFFFF"/>
                  </a:solidFill>
                  <a:latin typeface="Noto Sans T Chinese"/>
                  <a:ea typeface="Noto Sans T Chinese"/>
                  <a:cs typeface="Noto Sans T Chinese"/>
                  <a:sym typeface="Noto Sans T Chinese"/>
                </a:defRPr>
              </a:lvl1pPr>
            </a:lstStyle>
            <a:p>
              <a:pPr/>
              <a:r>
                <a:t>+</a:t>
              </a:r>
            </a:p>
          </p:txBody>
        </p:sp>
        <p:sp>
          <p:nvSpPr>
            <p:cNvPr id="183" name="Freeform 38"/>
            <p:cNvSpPr/>
            <p:nvPr/>
          </p:nvSpPr>
          <p:spPr>
            <a:xfrm>
              <a:off x="653662" y="572299"/>
              <a:ext cx="130157" cy="130158"/>
            </a:xfrm>
            <a:prstGeom prst="ellipse">
              <a:avLst/>
            </a:prstGeom>
            <a:solidFill>
              <a:srgbClr val="FF313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84" name="TextBox 40"/>
            <p:cNvSpPr txBox="1"/>
            <p:nvPr/>
          </p:nvSpPr>
          <p:spPr>
            <a:xfrm>
              <a:off x="690518" y="565155"/>
              <a:ext cx="56445" cy="13512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lnSpc>
                  <a:spcPts val="1100"/>
                </a:lnSpc>
                <a:defRPr sz="800">
                  <a:solidFill>
                    <a:srgbClr val="FFFFFF"/>
                  </a:solidFill>
                  <a:latin typeface="Noto Sans T Chinese"/>
                  <a:ea typeface="Noto Sans T Chinese"/>
                  <a:cs typeface="Noto Sans T Chinese"/>
                  <a:sym typeface="Noto Sans T Chinese"/>
                </a:defRPr>
              </a:lvl1pPr>
            </a:lstStyle>
            <a:p>
              <a:pPr/>
              <a:r>
                <a:t>+</a:t>
              </a:r>
            </a:p>
          </p:txBody>
        </p:sp>
        <p:sp>
          <p:nvSpPr>
            <p:cNvPr id="185" name="Freeform 42"/>
            <p:cNvSpPr/>
            <p:nvPr/>
          </p:nvSpPr>
          <p:spPr>
            <a:xfrm>
              <a:off x="879068" y="572299"/>
              <a:ext cx="130158" cy="130158"/>
            </a:xfrm>
            <a:prstGeom prst="ellipse">
              <a:avLst/>
            </a:prstGeom>
            <a:solidFill>
              <a:srgbClr val="FF313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86" name="TextBox 44"/>
            <p:cNvSpPr txBox="1"/>
            <p:nvPr/>
          </p:nvSpPr>
          <p:spPr>
            <a:xfrm>
              <a:off x="915924" y="565155"/>
              <a:ext cx="56445" cy="13512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lnSpc>
                  <a:spcPts val="1100"/>
                </a:lnSpc>
                <a:defRPr sz="800">
                  <a:solidFill>
                    <a:srgbClr val="FFFFFF"/>
                  </a:solidFill>
                  <a:latin typeface="Noto Sans T Chinese"/>
                  <a:ea typeface="Noto Sans T Chinese"/>
                  <a:cs typeface="Noto Sans T Chinese"/>
                  <a:sym typeface="Noto Sans T Chinese"/>
                </a:defRPr>
              </a:lvl1pPr>
            </a:lstStyle>
            <a:p>
              <a:pPr/>
              <a:r>
                <a:t>+</a:t>
              </a:r>
            </a:p>
          </p:txBody>
        </p:sp>
        <p:sp>
          <p:nvSpPr>
            <p:cNvPr id="187" name="Freeform 46"/>
            <p:cNvSpPr/>
            <p:nvPr/>
          </p:nvSpPr>
          <p:spPr>
            <a:xfrm>
              <a:off x="1104475" y="572299"/>
              <a:ext cx="130157" cy="130158"/>
            </a:xfrm>
            <a:prstGeom prst="ellipse">
              <a:avLst/>
            </a:prstGeom>
            <a:solidFill>
              <a:srgbClr val="FF3131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88" name="TextBox 48"/>
            <p:cNvSpPr txBox="1"/>
            <p:nvPr/>
          </p:nvSpPr>
          <p:spPr>
            <a:xfrm>
              <a:off x="1141331" y="565155"/>
              <a:ext cx="56445" cy="13512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lnSpc>
                  <a:spcPts val="1100"/>
                </a:lnSpc>
                <a:defRPr sz="800">
                  <a:solidFill>
                    <a:srgbClr val="FFFFFF"/>
                  </a:solidFill>
                  <a:latin typeface="Noto Sans T Chinese"/>
                  <a:ea typeface="Noto Sans T Chinese"/>
                  <a:cs typeface="Noto Sans T Chinese"/>
                  <a:sym typeface="Noto Sans T Chinese"/>
                </a:defRPr>
              </a:lvl1pPr>
            </a:lstStyle>
            <a:p>
              <a:pPr/>
              <a:r>
                <a:t>+</a:t>
              </a:r>
            </a:p>
          </p:txBody>
        </p:sp>
        <p:sp>
          <p:nvSpPr>
            <p:cNvPr id="189" name="Freeform 50"/>
            <p:cNvSpPr/>
            <p:nvPr/>
          </p:nvSpPr>
          <p:spPr>
            <a:xfrm>
              <a:off x="423815" y="1299900"/>
              <a:ext cx="132652" cy="132652"/>
            </a:xfrm>
            <a:prstGeom prst="ellipse">
              <a:avLst/>
            </a:prstGeom>
            <a:solidFill>
              <a:srgbClr val="001BFB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90" name="TextBox 52"/>
            <p:cNvSpPr txBox="1"/>
            <p:nvPr/>
          </p:nvSpPr>
          <p:spPr>
            <a:xfrm>
              <a:off x="451454" y="1276088"/>
              <a:ext cx="77373" cy="13512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lnSpc>
                  <a:spcPts val="1100"/>
                </a:lnSpc>
                <a:defRPr sz="800">
                  <a:solidFill>
                    <a:srgbClr val="FFFFFF"/>
                  </a:solidFill>
                  <a:latin typeface="Noto Sans T Chinese"/>
                  <a:ea typeface="Noto Sans T Chinese"/>
                  <a:cs typeface="Noto Sans T Chinese"/>
                  <a:sym typeface="Noto Sans T Chinese"/>
                </a:defRPr>
              </a:lvl1pPr>
            </a:lstStyle>
            <a:p>
              <a:pPr/>
              <a:r>
                <a:t>-</a:t>
              </a:r>
            </a:p>
          </p:txBody>
        </p:sp>
        <p:sp>
          <p:nvSpPr>
            <p:cNvPr id="191" name="Freeform 54"/>
            <p:cNvSpPr/>
            <p:nvPr/>
          </p:nvSpPr>
          <p:spPr>
            <a:xfrm>
              <a:off x="661839" y="1299900"/>
              <a:ext cx="132652" cy="132652"/>
            </a:xfrm>
            <a:prstGeom prst="ellipse">
              <a:avLst/>
            </a:prstGeom>
            <a:solidFill>
              <a:srgbClr val="001BFB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92" name="TextBox 56"/>
            <p:cNvSpPr txBox="1"/>
            <p:nvPr/>
          </p:nvSpPr>
          <p:spPr>
            <a:xfrm>
              <a:off x="689478" y="1276088"/>
              <a:ext cx="77373" cy="13512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lnSpc>
                  <a:spcPts val="1100"/>
                </a:lnSpc>
                <a:defRPr sz="800">
                  <a:solidFill>
                    <a:srgbClr val="FFFFFF"/>
                  </a:solidFill>
                  <a:latin typeface="Noto Sans T Chinese"/>
                  <a:ea typeface="Noto Sans T Chinese"/>
                  <a:cs typeface="Noto Sans T Chinese"/>
                  <a:sym typeface="Noto Sans T Chinese"/>
                </a:defRPr>
              </a:lvl1pPr>
            </a:lstStyle>
            <a:p>
              <a:pPr/>
              <a:r>
                <a:t>-</a:t>
              </a:r>
            </a:p>
          </p:txBody>
        </p:sp>
        <p:sp>
          <p:nvSpPr>
            <p:cNvPr id="193" name="Freeform 58"/>
            <p:cNvSpPr/>
            <p:nvPr/>
          </p:nvSpPr>
          <p:spPr>
            <a:xfrm>
              <a:off x="889740" y="1299900"/>
              <a:ext cx="132652" cy="132652"/>
            </a:xfrm>
            <a:prstGeom prst="ellipse">
              <a:avLst/>
            </a:prstGeom>
            <a:solidFill>
              <a:srgbClr val="001BFB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94" name="TextBox 60"/>
            <p:cNvSpPr txBox="1"/>
            <p:nvPr/>
          </p:nvSpPr>
          <p:spPr>
            <a:xfrm>
              <a:off x="917380" y="1276088"/>
              <a:ext cx="77373" cy="13512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lnSpc>
                  <a:spcPts val="1100"/>
                </a:lnSpc>
                <a:defRPr sz="800">
                  <a:solidFill>
                    <a:srgbClr val="FFFFFF"/>
                  </a:solidFill>
                  <a:latin typeface="Noto Sans T Chinese"/>
                  <a:ea typeface="Noto Sans T Chinese"/>
                  <a:cs typeface="Noto Sans T Chinese"/>
                  <a:sym typeface="Noto Sans T Chinese"/>
                </a:defRPr>
              </a:lvl1pPr>
            </a:lstStyle>
            <a:p>
              <a:pPr/>
              <a:r>
                <a:t>-</a:t>
              </a:r>
            </a:p>
          </p:txBody>
        </p:sp>
        <p:sp>
          <p:nvSpPr>
            <p:cNvPr id="195" name="Freeform 62"/>
            <p:cNvSpPr/>
            <p:nvPr/>
          </p:nvSpPr>
          <p:spPr>
            <a:xfrm>
              <a:off x="1101980" y="1299900"/>
              <a:ext cx="132652" cy="132652"/>
            </a:xfrm>
            <a:prstGeom prst="ellipse">
              <a:avLst/>
            </a:prstGeom>
            <a:solidFill>
              <a:srgbClr val="001BFB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96" name="TextBox 64"/>
            <p:cNvSpPr txBox="1"/>
            <p:nvPr/>
          </p:nvSpPr>
          <p:spPr>
            <a:xfrm>
              <a:off x="1129619" y="1276088"/>
              <a:ext cx="77373" cy="13512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lnSpc>
                  <a:spcPts val="1100"/>
                </a:lnSpc>
                <a:defRPr sz="800">
                  <a:solidFill>
                    <a:srgbClr val="FFFFFF"/>
                  </a:solidFill>
                  <a:latin typeface="Noto Sans T Chinese"/>
                  <a:ea typeface="Noto Sans T Chinese"/>
                  <a:cs typeface="Noto Sans T Chinese"/>
                  <a:sym typeface="Noto Sans T Chinese"/>
                </a:defRPr>
              </a:lvl1pPr>
            </a:lstStyle>
            <a:p>
              <a:pPr/>
              <a:r>
                <a:t>-</a:t>
              </a:r>
            </a:p>
          </p:txBody>
        </p:sp>
        <p:sp>
          <p:nvSpPr>
            <p:cNvPr id="197" name="AutoShape 65"/>
            <p:cNvSpPr/>
            <p:nvPr/>
          </p:nvSpPr>
          <p:spPr>
            <a:xfrm flipH="1">
              <a:off x="262810" y="727461"/>
              <a:ext cx="1" cy="500563"/>
            </a:xfrm>
            <a:prstGeom prst="line">
              <a:avLst/>
            </a:prstGeom>
            <a:noFill/>
            <a:ln w="50800" cap="rnd">
              <a:solidFill>
                <a:srgbClr val="00BF63"/>
              </a:solidFill>
              <a:prstDash val="sysDot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98" name="AutoShape 66"/>
            <p:cNvSpPr/>
            <p:nvPr/>
          </p:nvSpPr>
          <p:spPr>
            <a:xfrm flipH="1">
              <a:off x="491410" y="727461"/>
              <a:ext cx="1" cy="500563"/>
            </a:xfrm>
            <a:prstGeom prst="line">
              <a:avLst/>
            </a:prstGeom>
            <a:noFill/>
            <a:ln w="50800" cap="rnd">
              <a:solidFill>
                <a:srgbClr val="00BF63"/>
              </a:solidFill>
              <a:prstDash val="sysDot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99" name="AutoShape 67"/>
            <p:cNvSpPr/>
            <p:nvPr/>
          </p:nvSpPr>
          <p:spPr>
            <a:xfrm flipH="1">
              <a:off x="720010" y="727461"/>
              <a:ext cx="1" cy="500563"/>
            </a:xfrm>
            <a:prstGeom prst="line">
              <a:avLst/>
            </a:prstGeom>
            <a:noFill/>
            <a:ln w="50800" cap="rnd">
              <a:solidFill>
                <a:srgbClr val="00BF63"/>
              </a:solidFill>
              <a:prstDash val="sysDot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00" name="AutoShape 68"/>
            <p:cNvSpPr/>
            <p:nvPr/>
          </p:nvSpPr>
          <p:spPr>
            <a:xfrm flipH="1">
              <a:off x="945417" y="727461"/>
              <a:ext cx="1" cy="500563"/>
            </a:xfrm>
            <a:prstGeom prst="line">
              <a:avLst/>
            </a:prstGeom>
            <a:noFill/>
            <a:ln w="50800" cap="rnd">
              <a:solidFill>
                <a:srgbClr val="00BF63"/>
              </a:solidFill>
              <a:prstDash val="sysDot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01" name="AutoShape 69"/>
            <p:cNvSpPr/>
            <p:nvPr/>
          </p:nvSpPr>
          <p:spPr>
            <a:xfrm flipH="1">
              <a:off x="1170823" y="727461"/>
              <a:ext cx="1" cy="500563"/>
            </a:xfrm>
            <a:prstGeom prst="line">
              <a:avLst/>
            </a:prstGeom>
            <a:noFill/>
            <a:ln w="50800" cap="rnd">
              <a:solidFill>
                <a:srgbClr val="00BF63"/>
              </a:solidFill>
              <a:prstDash val="sysDot"/>
              <a:round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02" name="TextBox 70"/>
            <p:cNvSpPr txBox="1"/>
            <p:nvPr/>
          </p:nvSpPr>
          <p:spPr>
            <a:xfrm>
              <a:off x="-1" y="747543"/>
              <a:ext cx="147242" cy="3065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ctr">
                <a:lnSpc>
                  <a:spcPts val="2500"/>
                </a:lnSpc>
                <a:defRPr b="1">
                  <a:solidFill>
                    <a:srgbClr val="00BF63"/>
                  </a:solidFill>
                  <a:latin typeface="Noto Sans T Chinese Bold"/>
                  <a:ea typeface="Noto Sans T Chinese Bold"/>
                  <a:cs typeface="Noto Sans T Chinese Bold"/>
                  <a:sym typeface="Noto Sans T Chinese Bold"/>
                </a:defRPr>
              </a:lvl1pPr>
            </a:lstStyle>
            <a:p>
              <a:pPr/>
              <a:r>
                <a:t>E</a:t>
              </a:r>
            </a:p>
          </p:txBody>
        </p:sp>
      </p:grpSp>
      <p:sp>
        <p:nvSpPr>
          <p:cNvPr id="204" name="AutoShape 71"/>
          <p:cNvSpPr/>
          <p:nvPr/>
        </p:nvSpPr>
        <p:spPr>
          <a:xfrm>
            <a:off x="1304339" y="8707579"/>
            <a:ext cx="2780287" cy="1"/>
          </a:xfrm>
          <a:prstGeom prst="line">
            <a:avLst/>
          </a:prstGeom>
          <a:ln w="190500" cap="rnd">
            <a:solidFill>
              <a:srgbClr val="67687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5" name="AutoShape 72"/>
          <p:cNvSpPr/>
          <p:nvPr/>
        </p:nvSpPr>
        <p:spPr>
          <a:xfrm>
            <a:off x="1304339" y="9433575"/>
            <a:ext cx="2780287" cy="1"/>
          </a:xfrm>
          <a:prstGeom prst="line">
            <a:avLst/>
          </a:prstGeom>
          <a:ln w="190500" cap="rnd">
            <a:solidFill>
              <a:srgbClr val="67687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6" name="Freeform 73"/>
          <p:cNvSpPr/>
          <p:nvPr/>
        </p:nvSpPr>
        <p:spPr>
          <a:xfrm rot="5400000">
            <a:off x="1304339" y="8866547"/>
            <a:ext cx="397185" cy="397185"/>
          </a:xfrm>
          <a:prstGeom prst="rect">
            <a:avLst/>
          </a:prstGeom>
          <a:blipFill>
            <a:blip r:embed="rId11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07" name="TextBox 74"/>
          <p:cNvSpPr txBox="1"/>
          <p:nvPr/>
        </p:nvSpPr>
        <p:spPr>
          <a:xfrm>
            <a:off x="4332447" y="8444372"/>
            <a:ext cx="1893962" cy="4460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just">
              <a:lnSpc>
                <a:spcPts val="3700"/>
              </a:lnSpc>
              <a:defRPr sz="2400">
                <a:solidFill>
                  <a:srgbClr val="101010"/>
                </a:solidFill>
                <a:latin typeface="Noto Sans T Chinese"/>
                <a:ea typeface="Noto Sans T Chinese"/>
                <a:cs typeface="Noto Sans T Chinese"/>
                <a:sym typeface="Noto Sans T Chinese"/>
              </a:defRPr>
            </a:lvl1pPr>
          </a:lstStyle>
          <a:p>
            <a:pPr/>
            <a:r>
              <a:t>Metal Line  1</a:t>
            </a:r>
          </a:p>
        </p:txBody>
      </p:sp>
      <p:sp>
        <p:nvSpPr>
          <p:cNvPr id="208" name="TextBox 75"/>
          <p:cNvSpPr txBox="1"/>
          <p:nvPr/>
        </p:nvSpPr>
        <p:spPr>
          <a:xfrm>
            <a:off x="4332447" y="9115941"/>
            <a:ext cx="1893962" cy="4460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just">
              <a:lnSpc>
                <a:spcPts val="3700"/>
              </a:lnSpc>
              <a:defRPr sz="2400">
                <a:solidFill>
                  <a:srgbClr val="101010"/>
                </a:solidFill>
                <a:latin typeface="Noto Sans T Chinese"/>
                <a:ea typeface="Noto Sans T Chinese"/>
                <a:cs typeface="Noto Sans T Chinese"/>
                <a:sym typeface="Noto Sans T Chinese"/>
              </a:defRPr>
            </a:lvl1pPr>
          </a:lstStyle>
          <a:p>
            <a:pPr/>
            <a:r>
              <a:t>Metal Line  2</a:t>
            </a:r>
          </a:p>
        </p:txBody>
      </p:sp>
      <p:sp>
        <p:nvSpPr>
          <p:cNvPr id="209" name="Freeform 76"/>
          <p:cNvSpPr/>
          <p:nvPr/>
        </p:nvSpPr>
        <p:spPr>
          <a:xfrm rot="5400000">
            <a:off x="1701524" y="8866547"/>
            <a:ext cx="397185" cy="397185"/>
          </a:xfrm>
          <a:prstGeom prst="rect">
            <a:avLst/>
          </a:prstGeom>
          <a:blipFill>
            <a:blip r:embed="rId11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0" name="Freeform 77"/>
          <p:cNvSpPr/>
          <p:nvPr/>
        </p:nvSpPr>
        <p:spPr>
          <a:xfrm rot="5400000">
            <a:off x="2098708" y="8866547"/>
            <a:ext cx="397184" cy="397185"/>
          </a:xfrm>
          <a:prstGeom prst="rect">
            <a:avLst/>
          </a:prstGeom>
          <a:blipFill>
            <a:blip r:embed="rId11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1" name="Freeform 78"/>
          <p:cNvSpPr/>
          <p:nvPr/>
        </p:nvSpPr>
        <p:spPr>
          <a:xfrm rot="5400000">
            <a:off x="2495891" y="8873160"/>
            <a:ext cx="397185" cy="397185"/>
          </a:xfrm>
          <a:prstGeom prst="rect">
            <a:avLst/>
          </a:prstGeom>
          <a:blipFill>
            <a:blip r:embed="rId11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2" name="Freeform 79"/>
          <p:cNvSpPr/>
          <p:nvPr/>
        </p:nvSpPr>
        <p:spPr>
          <a:xfrm rot="5400000">
            <a:off x="2893074" y="8879774"/>
            <a:ext cx="397185" cy="397185"/>
          </a:xfrm>
          <a:prstGeom prst="rect">
            <a:avLst/>
          </a:prstGeom>
          <a:blipFill>
            <a:blip r:embed="rId11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3" name="Freeform 80"/>
          <p:cNvSpPr/>
          <p:nvPr/>
        </p:nvSpPr>
        <p:spPr>
          <a:xfrm rot="5400000">
            <a:off x="3290258" y="8873160"/>
            <a:ext cx="397185" cy="397185"/>
          </a:xfrm>
          <a:prstGeom prst="rect">
            <a:avLst/>
          </a:prstGeom>
          <a:blipFill>
            <a:blip r:embed="rId11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4" name="Freeform 81"/>
          <p:cNvSpPr/>
          <p:nvPr/>
        </p:nvSpPr>
        <p:spPr>
          <a:xfrm rot="5400000">
            <a:off x="3687443" y="8862926"/>
            <a:ext cx="397184" cy="397185"/>
          </a:xfrm>
          <a:prstGeom prst="rect">
            <a:avLst/>
          </a:prstGeom>
          <a:blipFill>
            <a:blip r:embed="rId11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5" name="TextBox 82"/>
          <p:cNvSpPr txBox="1"/>
          <p:nvPr/>
        </p:nvSpPr>
        <p:spPr>
          <a:xfrm>
            <a:off x="6994243" y="8519173"/>
            <a:ext cx="2426891" cy="9159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just">
              <a:lnSpc>
                <a:spcPts val="3700"/>
              </a:lnSpc>
              <a:defRPr b="1" sz="2400">
                <a:solidFill>
                  <a:srgbClr val="10101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pPr>
            <a:r>
              <a:t>產生訊號耦合</a:t>
            </a:r>
            <a:r>
              <a:rPr b="0">
                <a:latin typeface="Noto Sans T Chinese"/>
                <a:ea typeface="Noto Sans T Chinese"/>
                <a:cs typeface="Noto Sans T Chinese"/>
                <a:sym typeface="Noto Sans T Chinese"/>
              </a:rPr>
              <a:t>  </a:t>
            </a:r>
            <a:endParaRPr b="0">
              <a:latin typeface="Noto Sans T Chinese"/>
              <a:ea typeface="Noto Sans T Chinese"/>
              <a:cs typeface="Noto Sans T Chinese"/>
              <a:sym typeface="Noto Sans T Chinese"/>
            </a:endParaRPr>
          </a:p>
          <a:p>
            <a:pPr algn="just">
              <a:lnSpc>
                <a:spcPts val="3700"/>
              </a:lnSpc>
              <a:defRPr sz="2400">
                <a:solidFill>
                  <a:srgbClr val="101010"/>
                </a:solidFill>
                <a:latin typeface="Noto Sans T Chinese"/>
                <a:ea typeface="Noto Sans T Chinese"/>
                <a:cs typeface="Noto Sans T Chinese"/>
                <a:sym typeface="Noto Sans T Chinese"/>
              </a:defRPr>
            </a:pPr>
            <a:r>
              <a:t>Signal Coupling</a:t>
            </a:r>
          </a:p>
        </p:txBody>
      </p:sp>
      <p:sp>
        <p:nvSpPr>
          <p:cNvPr id="216" name="AutoShape 83"/>
          <p:cNvSpPr/>
          <p:nvPr/>
        </p:nvSpPr>
        <p:spPr>
          <a:xfrm>
            <a:off x="6226408" y="8706309"/>
            <a:ext cx="767836" cy="308165"/>
          </a:xfrm>
          <a:prstGeom prst="line">
            <a:avLst/>
          </a:prstGeom>
          <a:ln w="38100" cap="rnd">
            <a:solidFill>
              <a:srgbClr val="33333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7" name="AutoShape 84"/>
          <p:cNvSpPr/>
          <p:nvPr/>
        </p:nvSpPr>
        <p:spPr>
          <a:xfrm flipV="1">
            <a:off x="6226409" y="9014475"/>
            <a:ext cx="767836" cy="363405"/>
          </a:xfrm>
          <a:prstGeom prst="line">
            <a:avLst/>
          </a:prstGeom>
          <a:ln w="38100" cap="rnd">
            <a:solidFill>
              <a:srgbClr val="33333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8" name="Freeform 85"/>
          <p:cNvSpPr/>
          <p:nvPr/>
        </p:nvSpPr>
        <p:spPr>
          <a:xfrm>
            <a:off x="10362847" y="7132004"/>
            <a:ext cx="1355196" cy="796112"/>
          </a:xfrm>
          <a:prstGeom prst="rect">
            <a:avLst/>
          </a:prstGeom>
          <a:blipFill>
            <a:blip r:embed="rId1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9" name="TextBox 86"/>
          <p:cNvSpPr txBox="1"/>
          <p:nvPr/>
        </p:nvSpPr>
        <p:spPr>
          <a:xfrm>
            <a:off x="1028700" y="315475"/>
            <a:ext cx="9449555" cy="19232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just">
              <a:lnSpc>
                <a:spcPts val="10200"/>
              </a:lnSpc>
              <a:defRPr b="1" sz="7300"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pPr>
            <a:r>
              <a:t>材料效應</a:t>
            </a:r>
          </a:p>
          <a:p>
            <a:pPr algn="just">
              <a:lnSpc>
                <a:spcPts val="4800"/>
              </a:lnSpc>
              <a:defRPr b="1" sz="4800"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pPr>
            <a:r>
              <a:t>Material Effects</a:t>
            </a:r>
          </a:p>
        </p:txBody>
      </p:sp>
      <p:sp>
        <p:nvSpPr>
          <p:cNvPr id="220" name="TextBox 87"/>
          <p:cNvSpPr txBox="1"/>
          <p:nvPr/>
        </p:nvSpPr>
        <p:spPr>
          <a:xfrm>
            <a:off x="1028700" y="5837435"/>
            <a:ext cx="6869594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600"/>
              </a:lnSpc>
              <a:defRPr b="1" sz="3000"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•高介電質材料  (High-K)  </a:t>
            </a:r>
          </a:p>
        </p:txBody>
      </p:sp>
      <p:sp>
        <p:nvSpPr>
          <p:cNvPr id="221" name="TextBox 88"/>
          <p:cNvSpPr txBox="1"/>
          <p:nvPr/>
        </p:nvSpPr>
        <p:spPr>
          <a:xfrm>
            <a:off x="897649" y="2985965"/>
            <a:ext cx="6869595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600"/>
              </a:lnSpc>
              <a:defRPr b="1" sz="3000"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•低介電質材料  (Low-K)</a:t>
            </a:r>
          </a:p>
        </p:txBody>
      </p:sp>
      <p:sp>
        <p:nvSpPr>
          <p:cNvPr id="222" name="TextBox 89"/>
          <p:cNvSpPr txBox="1"/>
          <p:nvPr/>
        </p:nvSpPr>
        <p:spPr>
          <a:xfrm>
            <a:off x="1304339" y="3542091"/>
            <a:ext cx="7962304" cy="18892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just">
              <a:lnSpc>
                <a:spcPts val="3700"/>
              </a:lnSpc>
              <a:defRPr sz="2400">
                <a:solidFill>
                  <a:srgbClr val="101010"/>
                </a:solidFill>
                <a:latin typeface="Noto Sans T Chinese"/>
                <a:ea typeface="Noto Sans T Chinese"/>
                <a:cs typeface="Noto Sans T Chinese"/>
                <a:sym typeface="Noto Sans T Chinese"/>
              </a:defRPr>
            </a:lvl1pPr>
          </a:lstStyle>
          <a:p>
            <a:pPr/>
            <a:r>
              <a:t>半導體製程進步使電路趨於綿密，工作頻率要求愈來愈快，晶片內部電路容易產生寄生電阻電容效應，進而使頻率無法再提升，加上寄生電阻的問題來自於線路本身的電阻性稱為阻容遲滯(RC Delay)。</a:t>
            </a:r>
          </a:p>
        </p:txBody>
      </p:sp>
      <p:sp>
        <p:nvSpPr>
          <p:cNvPr id="223" name="TextBox 90"/>
          <p:cNvSpPr txBox="1"/>
          <p:nvPr/>
        </p:nvSpPr>
        <p:spPr>
          <a:xfrm>
            <a:off x="1304339" y="6427985"/>
            <a:ext cx="8116794" cy="14193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just">
              <a:lnSpc>
                <a:spcPts val="3700"/>
              </a:lnSpc>
              <a:defRPr sz="2400">
                <a:solidFill>
                  <a:srgbClr val="101010"/>
                </a:solidFill>
                <a:latin typeface="Noto Sans T Chinese"/>
                <a:ea typeface="Noto Sans T Chinese"/>
                <a:cs typeface="Noto Sans T Chinese"/>
                <a:sym typeface="Noto Sans T Chinese"/>
              </a:defRPr>
            </a:lvl1pPr>
          </a:lstStyle>
          <a:p>
            <a:pPr/>
            <a:r>
              <a:t>電晶體製程的縮密，狹窄空間易產生漏電流，閘極的漏電在於閘極與基極間的絕緣度不夠，必須用新材料來替換，要換替成更高絕緣度(k值大)材質。</a:t>
            </a:r>
          </a:p>
        </p:txBody>
      </p:sp>
      <p:sp>
        <p:nvSpPr>
          <p:cNvPr id="224" name="TextBox 91"/>
          <p:cNvSpPr txBox="1"/>
          <p:nvPr/>
        </p:nvSpPr>
        <p:spPr>
          <a:xfrm>
            <a:off x="10556071" y="7936261"/>
            <a:ext cx="1161972" cy="3520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2700"/>
              </a:lnSpc>
              <a:defRPr>
                <a:solidFill>
                  <a:srgbClr val="101010"/>
                </a:solidFill>
                <a:latin typeface="Noto Sans T Chinese"/>
                <a:ea typeface="Noto Sans T Chinese"/>
                <a:cs typeface="Noto Sans T Chinese"/>
                <a:sym typeface="Noto Sans T Chinese"/>
              </a:defRPr>
            </a:lvl1pPr>
          </a:lstStyle>
          <a:p>
            <a:pPr/>
            <a:r>
              <a:t>d↓，C↑</a:t>
            </a:r>
          </a:p>
        </p:txBody>
      </p:sp>
      <p:sp>
        <p:nvSpPr>
          <p:cNvPr id="225" name="TextBox 92"/>
          <p:cNvSpPr txBox="1"/>
          <p:nvPr/>
        </p:nvSpPr>
        <p:spPr>
          <a:xfrm>
            <a:off x="10243652" y="8314853"/>
            <a:ext cx="1786810" cy="6949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2700"/>
              </a:lnSpc>
              <a:defRPr>
                <a:solidFill>
                  <a:srgbClr val="101010"/>
                </a:solidFill>
                <a:latin typeface="Noto Sans T Chinese"/>
                <a:ea typeface="Noto Sans T Chinese"/>
                <a:cs typeface="Noto Sans T Chinese"/>
                <a:sym typeface="Noto Sans T Chinese"/>
              </a:defRPr>
            </a:lvl1pPr>
          </a:lstStyle>
          <a:p>
            <a:pPr/>
            <a:r>
              <a:t>ε(介電質)↑，C↑</a:t>
            </a:r>
          </a:p>
        </p:txBody>
      </p:sp>
      <p:sp>
        <p:nvSpPr>
          <p:cNvPr id="226" name="TextBox 93"/>
          <p:cNvSpPr txBox="1"/>
          <p:nvPr/>
        </p:nvSpPr>
        <p:spPr>
          <a:xfrm>
            <a:off x="17259300" y="9680463"/>
            <a:ext cx="762376" cy="389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3200"/>
              </a:lnSpc>
              <a:defRPr sz="2200">
                <a:latin typeface="Noto Sans T Chinese"/>
                <a:ea typeface="Noto Sans T Chinese"/>
                <a:cs typeface="Noto Sans T Chinese"/>
                <a:sym typeface="Noto Sans T Chinese"/>
              </a:defRPr>
            </a:lvl1pPr>
          </a:lstStyle>
          <a:p>
            <a:pPr/>
            <a:r>
              <a:t>05/24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Freeform 2"/>
          <p:cNvSpPr/>
          <p:nvPr/>
        </p:nvSpPr>
        <p:spPr>
          <a:xfrm rot="7536833">
            <a:off x="-4428214" y="-2916504"/>
            <a:ext cx="9627546" cy="9651673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31" name="Freeform 4"/>
          <p:cNvSpPr/>
          <p:nvPr/>
        </p:nvSpPr>
        <p:spPr>
          <a:xfrm rot="7573184">
            <a:off x="1230110" y="7154960"/>
            <a:ext cx="1013030" cy="1013030"/>
          </a:xfrm>
          <a:prstGeom prst="ellipse">
            <a:avLst/>
          </a:prstGeom>
          <a:gradFill>
            <a:gsLst>
              <a:gs pos="0">
                <a:srgbClr val="F600FE"/>
              </a:gs>
              <a:gs pos="25000">
                <a:srgbClr val="C900FE"/>
              </a:gs>
              <a:gs pos="50000">
                <a:srgbClr val="A136FF"/>
              </a:gs>
              <a:gs pos="75000">
                <a:srgbClr val="5142F0"/>
              </a:gs>
              <a:gs pos="100000">
                <a:srgbClr val="0033D9"/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32" name="Freeform 6"/>
          <p:cNvSpPr/>
          <p:nvPr/>
        </p:nvSpPr>
        <p:spPr>
          <a:xfrm>
            <a:off x="6448847" y="4571248"/>
            <a:ext cx="4061670" cy="4061670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33" name="Freeform 8"/>
          <p:cNvSpPr/>
          <p:nvPr/>
        </p:nvSpPr>
        <p:spPr>
          <a:xfrm rot="7573184">
            <a:off x="7509843" y="6372526"/>
            <a:ext cx="459114" cy="459114"/>
          </a:xfrm>
          <a:prstGeom prst="ellipse">
            <a:avLst/>
          </a:prstGeom>
          <a:gradFill>
            <a:gsLst>
              <a:gs pos="0">
                <a:srgbClr val="F600FE"/>
              </a:gs>
              <a:gs pos="25000">
                <a:srgbClr val="C900FE"/>
              </a:gs>
              <a:gs pos="50000">
                <a:srgbClr val="A136FF"/>
              </a:gs>
              <a:gs pos="75000">
                <a:srgbClr val="5142F0"/>
              </a:gs>
              <a:gs pos="100000">
                <a:srgbClr val="0033D9"/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34" name="Freeform 10"/>
          <p:cNvSpPr/>
          <p:nvPr/>
        </p:nvSpPr>
        <p:spPr>
          <a:xfrm>
            <a:off x="11506082" y="4571248"/>
            <a:ext cx="5753218" cy="4061670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35" name="TextBox 11"/>
          <p:cNvSpPr txBox="1"/>
          <p:nvPr/>
        </p:nvSpPr>
        <p:spPr>
          <a:xfrm>
            <a:off x="6090217" y="1019175"/>
            <a:ext cx="11169084" cy="26446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ts val="12700"/>
              </a:lnSpc>
              <a:defRPr b="1" sz="10500">
                <a:solidFill>
                  <a:srgbClr val="10101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pPr>
            <a:r>
              <a:t>功能製造</a:t>
            </a:r>
          </a:p>
          <a:p>
            <a:pPr algn="ctr">
              <a:lnSpc>
                <a:spcPts val="8200"/>
              </a:lnSpc>
              <a:defRPr b="1" sz="6800">
                <a:solidFill>
                  <a:srgbClr val="10101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pPr>
            <a:r>
              <a:t>Function of Manufacture</a:t>
            </a:r>
          </a:p>
        </p:txBody>
      </p:sp>
      <p:sp>
        <p:nvSpPr>
          <p:cNvPr id="236" name="TextBox 12"/>
          <p:cNvSpPr txBox="1"/>
          <p:nvPr/>
        </p:nvSpPr>
        <p:spPr>
          <a:xfrm>
            <a:off x="385559" y="800100"/>
            <a:ext cx="2058992" cy="20573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16800"/>
              </a:lnSpc>
              <a:defRPr b="1" sz="12000">
                <a:latin typeface="Montserrat Bold"/>
                <a:ea typeface="Montserrat Bold"/>
                <a:cs typeface="Montserrat Bold"/>
                <a:sym typeface="Montserrat Bold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237" name="TextBox 13"/>
          <p:cNvSpPr txBox="1"/>
          <p:nvPr/>
        </p:nvSpPr>
        <p:spPr>
          <a:xfrm>
            <a:off x="7111927" y="9111932"/>
            <a:ext cx="9914701" cy="2882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just">
              <a:lnSpc>
                <a:spcPts val="2200"/>
              </a:lnSpc>
              <a:defRPr sz="1500">
                <a:solidFill>
                  <a:srgbClr val="101010"/>
                </a:solidFill>
                <a:latin typeface="Noto Sans T Chinese"/>
                <a:ea typeface="Noto Sans T Chinese"/>
                <a:cs typeface="Noto Sans T Chinese"/>
                <a:sym typeface="Noto Sans T Chinese"/>
              </a:defRPr>
            </a:lvl1pPr>
          </a:lstStyle>
          <a:p>
            <a:pPr/>
            <a:r>
              <a:t>用樂高積木介紹半導體製程 - 投影片完整說明 : https://youtu.be/jKqvorv0gt4?si=H87pC85Wq1wFxhGw</a:t>
            </a:r>
          </a:p>
        </p:txBody>
      </p:sp>
      <p:sp>
        <p:nvSpPr>
          <p:cNvPr id="238" name="TextBox 14"/>
          <p:cNvSpPr txBox="1"/>
          <p:nvPr/>
        </p:nvSpPr>
        <p:spPr>
          <a:xfrm>
            <a:off x="111600" y="9853782"/>
            <a:ext cx="6614239" cy="3428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sz="2000">
                <a:solidFill>
                  <a:srgbClr val="0E2C4B"/>
                </a:solidFill>
                <a:latin typeface="jf-openhuninn-2.0"/>
                <a:ea typeface="jf-openhuninn-2.0"/>
                <a:cs typeface="jf-openhuninn-2.0"/>
                <a:sym typeface="jf-openhuninn-2.0"/>
              </a:defRPr>
            </a:lvl1pPr>
          </a:lstStyle>
          <a:p>
            <a:pPr/>
            <a:r>
              <a:t>Designed by Wei Shuo Wang in Kaohsiung Use Canva.</a:t>
            </a:r>
          </a:p>
        </p:txBody>
      </p:sp>
      <p:sp>
        <p:nvSpPr>
          <p:cNvPr id="239" name="TextBox 15"/>
          <p:cNvSpPr txBox="1"/>
          <p:nvPr/>
        </p:nvSpPr>
        <p:spPr>
          <a:xfrm>
            <a:off x="17259300" y="9680463"/>
            <a:ext cx="762376" cy="389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3200"/>
              </a:lnSpc>
              <a:defRPr sz="2200">
                <a:latin typeface="Noto Sans T Chinese"/>
                <a:ea typeface="Noto Sans T Chinese"/>
                <a:cs typeface="Noto Sans T Chinese"/>
                <a:sym typeface="Noto Sans T Chinese"/>
              </a:defRPr>
            </a:lvl1pPr>
          </a:lstStyle>
          <a:p>
            <a:pPr/>
            <a:r>
              <a:t>06/24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Freeform 3"/>
          <p:cNvSpPr/>
          <p:nvPr/>
        </p:nvSpPr>
        <p:spPr>
          <a:xfrm>
            <a:off x="0" y="10098929"/>
            <a:ext cx="9853056" cy="188072"/>
          </a:xfrm>
          <a:prstGeom prst="rect">
            <a:avLst/>
          </a:prstGeom>
          <a:gradFill>
            <a:gsLst>
              <a:gs pos="0">
                <a:srgbClr val="F600FE"/>
              </a:gs>
              <a:gs pos="25000">
                <a:srgbClr val="C900FE"/>
              </a:gs>
              <a:gs pos="50000">
                <a:srgbClr val="A136FF"/>
              </a:gs>
              <a:gs pos="75000">
                <a:srgbClr val="5142F0"/>
              </a:gs>
              <a:gs pos="100000">
                <a:srgbClr val="0033D9"/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44" name="Freeform 6"/>
          <p:cNvSpPr/>
          <p:nvPr/>
        </p:nvSpPr>
        <p:spPr>
          <a:xfrm>
            <a:off x="9853055" y="0"/>
            <a:ext cx="8434945" cy="167139"/>
          </a:xfrm>
          <a:prstGeom prst="rect">
            <a:avLst/>
          </a:prstGeom>
          <a:gradFill>
            <a:gsLst>
              <a:gs pos="0">
                <a:srgbClr val="F600FE"/>
              </a:gs>
              <a:gs pos="25000">
                <a:srgbClr val="C900FE"/>
              </a:gs>
              <a:gs pos="50000">
                <a:srgbClr val="A136FF"/>
              </a:gs>
              <a:gs pos="75000">
                <a:srgbClr val="5142F0"/>
              </a:gs>
              <a:gs pos="100000">
                <a:srgbClr val="0033D9"/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45" name="Freeform 8"/>
          <p:cNvSpPr/>
          <p:nvPr/>
        </p:nvSpPr>
        <p:spPr>
          <a:xfrm>
            <a:off x="0" y="1537504"/>
            <a:ext cx="18288000" cy="7804557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46" name="TextBox 9"/>
          <p:cNvSpPr txBox="1"/>
          <p:nvPr/>
        </p:nvSpPr>
        <p:spPr>
          <a:xfrm>
            <a:off x="5664270" y="9594701"/>
            <a:ext cx="8377570" cy="3274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just">
              <a:lnSpc>
                <a:spcPts val="2500"/>
              </a:lnSpc>
              <a:defRPr sz="1700">
                <a:solidFill>
                  <a:srgbClr val="101010"/>
                </a:solidFill>
                <a:latin typeface="Noto Sans T Chinese"/>
                <a:ea typeface="Noto Sans T Chinese"/>
                <a:cs typeface="Noto Sans T Chinese"/>
                <a:sym typeface="Noto Sans T Chinese"/>
              </a:defRPr>
            </a:lvl1pPr>
          </a:lstStyle>
          <a:p>
            <a:pPr/>
            <a:r>
              <a:t>線上樂高積木網站: https://www.mecabricks.com/en</a:t>
            </a:r>
          </a:p>
        </p:txBody>
      </p:sp>
      <p:sp>
        <p:nvSpPr>
          <p:cNvPr id="247" name="TextBox 10"/>
          <p:cNvSpPr txBox="1"/>
          <p:nvPr/>
        </p:nvSpPr>
        <p:spPr>
          <a:xfrm>
            <a:off x="17259300" y="9680463"/>
            <a:ext cx="762376" cy="389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3200"/>
              </a:lnSpc>
              <a:defRPr sz="2200">
                <a:latin typeface="Noto Sans T Chinese"/>
                <a:ea typeface="Noto Sans T Chinese"/>
                <a:cs typeface="Noto Sans T Chinese"/>
                <a:sym typeface="Noto Sans T Chinese"/>
              </a:defRPr>
            </a:lvl1pPr>
          </a:lstStyle>
          <a:p>
            <a:pPr/>
            <a:r>
              <a:t>07/24</a:t>
            </a:r>
          </a:p>
        </p:txBody>
      </p:sp>
      <p:sp>
        <p:nvSpPr>
          <p:cNvPr id="248" name="TextBox 11"/>
          <p:cNvSpPr txBox="1"/>
          <p:nvPr/>
        </p:nvSpPr>
        <p:spPr>
          <a:xfrm>
            <a:off x="1231854" y="149169"/>
            <a:ext cx="11019392" cy="13515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just">
              <a:lnSpc>
                <a:spcPts val="10200"/>
              </a:lnSpc>
              <a:defRPr b="1" sz="7300"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使用線上3D樂高堆疊MOS</a:t>
            </a:r>
          </a:p>
        </p:txBody>
      </p:sp>
      <p:sp>
        <p:nvSpPr>
          <p:cNvPr id="249" name="Freeform 13"/>
          <p:cNvSpPr/>
          <p:nvPr/>
        </p:nvSpPr>
        <p:spPr>
          <a:xfrm>
            <a:off x="654818" y="654818"/>
            <a:ext cx="373882" cy="373882"/>
          </a:xfrm>
          <a:prstGeom prst="ellipse">
            <a:avLst/>
          </a:prstGeom>
          <a:gradFill>
            <a:gsLst>
              <a:gs pos="0">
                <a:srgbClr val="F600FE"/>
              </a:gs>
              <a:gs pos="25000">
                <a:srgbClr val="C900FE"/>
              </a:gs>
              <a:gs pos="50000">
                <a:srgbClr val="A136FF"/>
              </a:gs>
              <a:gs pos="75000">
                <a:srgbClr val="5142F0"/>
              </a:gs>
              <a:gs pos="100000">
                <a:srgbClr val="0033D9"/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Freeform 3"/>
          <p:cNvSpPr/>
          <p:nvPr/>
        </p:nvSpPr>
        <p:spPr>
          <a:xfrm>
            <a:off x="0" y="10098929"/>
            <a:ext cx="9853056" cy="188072"/>
          </a:xfrm>
          <a:prstGeom prst="rect">
            <a:avLst/>
          </a:prstGeom>
          <a:gradFill>
            <a:gsLst>
              <a:gs pos="0">
                <a:srgbClr val="F600FE"/>
              </a:gs>
              <a:gs pos="25000">
                <a:srgbClr val="C900FE"/>
              </a:gs>
              <a:gs pos="50000">
                <a:srgbClr val="A136FF"/>
              </a:gs>
              <a:gs pos="75000">
                <a:srgbClr val="5142F0"/>
              </a:gs>
              <a:gs pos="100000">
                <a:srgbClr val="0033D9"/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54" name="Freeform 6"/>
          <p:cNvSpPr/>
          <p:nvPr/>
        </p:nvSpPr>
        <p:spPr>
          <a:xfrm>
            <a:off x="9853055" y="0"/>
            <a:ext cx="8434945" cy="167139"/>
          </a:xfrm>
          <a:prstGeom prst="rect">
            <a:avLst/>
          </a:prstGeom>
          <a:gradFill>
            <a:gsLst>
              <a:gs pos="0">
                <a:srgbClr val="F600FE"/>
              </a:gs>
              <a:gs pos="25000">
                <a:srgbClr val="C900FE"/>
              </a:gs>
              <a:gs pos="50000">
                <a:srgbClr val="A136FF"/>
              </a:gs>
              <a:gs pos="75000">
                <a:srgbClr val="5142F0"/>
              </a:gs>
              <a:gs pos="100000">
                <a:srgbClr val="0033D9"/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55" name="Freeform 9"/>
          <p:cNvSpPr/>
          <p:nvPr/>
        </p:nvSpPr>
        <p:spPr>
          <a:xfrm>
            <a:off x="523768" y="841758"/>
            <a:ext cx="373882" cy="373882"/>
          </a:xfrm>
          <a:prstGeom prst="ellipse">
            <a:avLst/>
          </a:prstGeom>
          <a:gradFill>
            <a:gsLst>
              <a:gs pos="0">
                <a:srgbClr val="F600FE"/>
              </a:gs>
              <a:gs pos="25000">
                <a:srgbClr val="C900FE"/>
              </a:gs>
              <a:gs pos="50000">
                <a:srgbClr val="A136FF"/>
              </a:gs>
              <a:gs pos="75000">
                <a:srgbClr val="5142F0"/>
              </a:gs>
              <a:gs pos="100000">
                <a:srgbClr val="0033D9"/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56" name="Freeform 11"/>
          <p:cNvSpPr/>
          <p:nvPr/>
        </p:nvSpPr>
        <p:spPr>
          <a:xfrm>
            <a:off x="9618488" y="5410987"/>
            <a:ext cx="8669512" cy="4876013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57" name="Freeform 12"/>
          <p:cNvSpPr/>
          <p:nvPr/>
        </p:nvSpPr>
        <p:spPr>
          <a:xfrm rot="13069550">
            <a:off x="14906727" y="3873039"/>
            <a:ext cx="2259399" cy="2593285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58" name="TextBox 13"/>
          <p:cNvSpPr txBox="1"/>
          <p:nvPr/>
        </p:nvSpPr>
        <p:spPr>
          <a:xfrm>
            <a:off x="1028700" y="315475"/>
            <a:ext cx="9449555" cy="19232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just">
              <a:lnSpc>
                <a:spcPts val="10200"/>
              </a:lnSpc>
              <a:defRPr b="1" sz="7300"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pPr>
            <a:r>
              <a:t>薄膜沉積</a:t>
            </a:r>
          </a:p>
          <a:p>
            <a:pPr algn="just">
              <a:lnSpc>
                <a:spcPts val="4800"/>
              </a:lnSpc>
              <a:defRPr b="1" sz="4800"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pPr>
            <a:r>
              <a:t>Deposition</a:t>
            </a:r>
          </a:p>
        </p:txBody>
      </p:sp>
      <p:sp>
        <p:nvSpPr>
          <p:cNvPr id="259" name="TextBox 14"/>
          <p:cNvSpPr txBox="1"/>
          <p:nvPr/>
        </p:nvSpPr>
        <p:spPr>
          <a:xfrm>
            <a:off x="1057275" y="4317091"/>
            <a:ext cx="6869594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600"/>
              </a:lnSpc>
              <a:defRPr b="1" sz="3000"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•Diffusion  擴散</a:t>
            </a:r>
          </a:p>
        </p:txBody>
      </p:sp>
      <p:sp>
        <p:nvSpPr>
          <p:cNvPr id="260" name="TextBox 15"/>
          <p:cNvSpPr txBox="1"/>
          <p:nvPr/>
        </p:nvSpPr>
        <p:spPr>
          <a:xfrm>
            <a:off x="10884050" y="5204614"/>
            <a:ext cx="2548359" cy="450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500"/>
              </a:lnSpc>
              <a:defRPr b="1" sz="2500">
                <a:solidFill>
                  <a:srgbClr val="10101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Si + O₂ ⇀ SiO₂</a:t>
            </a:r>
          </a:p>
        </p:txBody>
      </p:sp>
      <p:sp>
        <p:nvSpPr>
          <p:cNvPr id="261" name="TextBox 16"/>
          <p:cNvSpPr txBox="1"/>
          <p:nvPr/>
        </p:nvSpPr>
        <p:spPr>
          <a:xfrm>
            <a:off x="15663253" y="3217740"/>
            <a:ext cx="2624748" cy="450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500"/>
              </a:lnSpc>
              <a:defRPr b="1" sz="2500">
                <a:solidFill>
                  <a:srgbClr val="10101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2H₂ + O₂ ⇀ 2H₂O</a:t>
            </a:r>
          </a:p>
        </p:txBody>
      </p:sp>
      <p:sp>
        <p:nvSpPr>
          <p:cNvPr id="262" name="TextBox 17"/>
          <p:cNvSpPr txBox="1"/>
          <p:nvPr/>
        </p:nvSpPr>
        <p:spPr>
          <a:xfrm rot="1673800">
            <a:off x="12542786" y="7259613"/>
            <a:ext cx="984122" cy="3428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b="1" sz="2000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SiO₂</a:t>
            </a:r>
          </a:p>
        </p:txBody>
      </p:sp>
      <p:sp>
        <p:nvSpPr>
          <p:cNvPr id="263" name="TextBox 18"/>
          <p:cNvSpPr txBox="1"/>
          <p:nvPr/>
        </p:nvSpPr>
        <p:spPr>
          <a:xfrm rot="2036664">
            <a:off x="12111101" y="8073857"/>
            <a:ext cx="1932338" cy="3428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b="1" sz="2000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Substrate</a:t>
            </a:r>
          </a:p>
        </p:txBody>
      </p:sp>
      <p:sp>
        <p:nvSpPr>
          <p:cNvPr id="264" name="TextBox 19"/>
          <p:cNvSpPr txBox="1"/>
          <p:nvPr/>
        </p:nvSpPr>
        <p:spPr>
          <a:xfrm>
            <a:off x="1085850" y="2985965"/>
            <a:ext cx="6869594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600"/>
              </a:lnSpc>
              <a:defRPr b="1" sz="3000"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•Oxidation 氧化  (SiO₂ )</a:t>
            </a:r>
          </a:p>
        </p:txBody>
      </p:sp>
      <p:sp>
        <p:nvSpPr>
          <p:cNvPr id="265" name="TextBox 20"/>
          <p:cNvSpPr txBox="1"/>
          <p:nvPr/>
        </p:nvSpPr>
        <p:spPr>
          <a:xfrm>
            <a:off x="1515981" y="3563506"/>
            <a:ext cx="6468038" cy="4490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400"/>
              </a:lnSpc>
              <a:defRPr sz="2400">
                <a:solidFill>
                  <a:srgbClr val="101010"/>
                </a:solidFill>
                <a:latin typeface="Noto Sans T Chinese"/>
                <a:ea typeface="Noto Sans T Chinese"/>
                <a:cs typeface="Noto Sans T Chinese"/>
                <a:sym typeface="Noto Sans T Chinese"/>
              </a:defRPr>
            </a:lvl1pPr>
          </a:lstStyle>
          <a:p>
            <a:pPr/>
            <a:r>
              <a:t>以爐管高溫烘烤方式在表面形成絕緣氧化層。</a:t>
            </a:r>
          </a:p>
        </p:txBody>
      </p:sp>
      <p:sp>
        <p:nvSpPr>
          <p:cNvPr id="266" name="TextBox 21"/>
          <p:cNvSpPr txBox="1"/>
          <p:nvPr/>
        </p:nvSpPr>
        <p:spPr>
          <a:xfrm>
            <a:off x="1057275" y="7786489"/>
            <a:ext cx="6869594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600"/>
              </a:lnSpc>
              <a:defRPr b="1" sz="3000"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•Anneal 退火</a:t>
            </a:r>
          </a:p>
        </p:txBody>
      </p:sp>
      <p:sp>
        <p:nvSpPr>
          <p:cNvPr id="267" name="TextBox 22"/>
          <p:cNvSpPr txBox="1"/>
          <p:nvPr/>
        </p:nvSpPr>
        <p:spPr>
          <a:xfrm>
            <a:off x="1505938" y="8367514"/>
            <a:ext cx="8098264" cy="13126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just">
              <a:lnSpc>
                <a:spcPts val="3400"/>
              </a:lnSpc>
              <a:defRPr sz="2400">
                <a:solidFill>
                  <a:srgbClr val="101010"/>
                </a:solidFill>
                <a:latin typeface="Noto Sans T Chinese"/>
                <a:ea typeface="Noto Sans T Chinese"/>
                <a:cs typeface="Noto Sans T Chinese"/>
                <a:sym typeface="Noto Sans T Chinese"/>
              </a:defRPr>
            </a:lvl1pPr>
          </a:lstStyle>
          <a:p>
            <a:pPr/>
            <a:r>
              <a:t>將金屬加溫到高於再結晶溫度的某一溫度並維持此溫度一段時間，再將其緩慢冷卻增加柔軟性、延展性和韌性，並釋放內部殘留應力、以及產生特定的顯微結構。</a:t>
            </a:r>
          </a:p>
        </p:txBody>
      </p:sp>
      <p:sp>
        <p:nvSpPr>
          <p:cNvPr id="268" name="TextBox 23"/>
          <p:cNvSpPr txBox="1"/>
          <p:nvPr/>
        </p:nvSpPr>
        <p:spPr>
          <a:xfrm>
            <a:off x="1085850" y="6050045"/>
            <a:ext cx="6869594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600"/>
              </a:lnSpc>
              <a:defRPr b="1" sz="3000"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•Alloy 合金</a:t>
            </a:r>
          </a:p>
        </p:txBody>
      </p:sp>
      <p:sp>
        <p:nvSpPr>
          <p:cNvPr id="269" name="TextBox 24"/>
          <p:cNvSpPr txBox="1"/>
          <p:nvPr/>
        </p:nvSpPr>
        <p:spPr>
          <a:xfrm>
            <a:off x="1548801" y="6631071"/>
            <a:ext cx="8126839" cy="8808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just">
              <a:lnSpc>
                <a:spcPts val="3400"/>
              </a:lnSpc>
              <a:defRPr sz="2400">
                <a:solidFill>
                  <a:srgbClr val="101010"/>
                </a:solidFill>
                <a:latin typeface="Noto Sans T Chinese"/>
                <a:ea typeface="Noto Sans T Chinese"/>
                <a:cs typeface="Noto Sans T Chinese"/>
                <a:sym typeface="Noto Sans T Chinese"/>
              </a:defRPr>
            </a:lvl1pPr>
          </a:lstStyle>
          <a:p>
            <a:pPr/>
            <a:r>
              <a:t>完成金屬導線製程的晶片必須經過合金的製程，使鋁金屬導線層能與矽密切熔合。</a:t>
            </a:r>
          </a:p>
        </p:txBody>
      </p:sp>
      <p:grpSp>
        <p:nvGrpSpPr>
          <p:cNvPr id="288" name="Group 25"/>
          <p:cNvGrpSpPr/>
          <p:nvPr/>
        </p:nvGrpSpPr>
        <p:grpSpPr>
          <a:xfrm>
            <a:off x="10887829" y="448825"/>
            <a:ext cx="3717913" cy="3672964"/>
            <a:chOff x="0" y="0"/>
            <a:chExt cx="3717911" cy="3672962"/>
          </a:xfrm>
        </p:grpSpPr>
        <p:sp>
          <p:nvSpPr>
            <p:cNvPr id="270" name="Freeform 27"/>
            <p:cNvSpPr/>
            <p:nvPr/>
          </p:nvSpPr>
          <p:spPr>
            <a:xfrm>
              <a:off x="2020580" y="429067"/>
              <a:ext cx="1697332" cy="324389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7204" y="482"/>
                  </a:moveTo>
                  <a:cubicBezTo>
                    <a:pt x="8308" y="191"/>
                    <a:pt x="9570" y="0"/>
                    <a:pt x="10806" y="0"/>
                  </a:cubicBezTo>
                  <a:cubicBezTo>
                    <a:pt x="12041" y="0"/>
                    <a:pt x="13230" y="164"/>
                    <a:pt x="14326" y="455"/>
                  </a:cubicBezTo>
                  <a:cubicBezTo>
                    <a:pt x="14350" y="464"/>
                    <a:pt x="14373" y="464"/>
                    <a:pt x="14396" y="473"/>
                  </a:cubicBezTo>
                  <a:cubicBezTo>
                    <a:pt x="18511" y="1637"/>
                    <a:pt x="21542" y="4712"/>
                    <a:pt x="21600" y="8329"/>
                  </a:cubicBezTo>
                  <a:lnTo>
                    <a:pt x="21600" y="17852"/>
                  </a:lnTo>
                  <a:cubicBezTo>
                    <a:pt x="21600" y="18846"/>
                    <a:pt x="20845" y="19799"/>
                    <a:pt x="19502" y="20502"/>
                  </a:cubicBezTo>
                  <a:cubicBezTo>
                    <a:pt x="18159" y="21205"/>
                    <a:pt x="16337" y="21600"/>
                    <a:pt x="14437" y="21600"/>
                  </a:cubicBezTo>
                  <a:lnTo>
                    <a:pt x="7163" y="21600"/>
                  </a:lnTo>
                  <a:cubicBezTo>
                    <a:pt x="3207" y="21600"/>
                    <a:pt x="0" y="19922"/>
                    <a:pt x="0" y="17852"/>
                  </a:cubicBezTo>
                  <a:lnTo>
                    <a:pt x="0" y="8338"/>
                  </a:lnTo>
                  <a:cubicBezTo>
                    <a:pt x="58" y="4694"/>
                    <a:pt x="3042" y="1619"/>
                    <a:pt x="7204" y="482"/>
                  </a:cubicBezTo>
                  <a:close/>
                </a:path>
              </a:pathLst>
            </a:custGeom>
            <a:noFill/>
            <a:ln w="47625" cap="rnd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71" name="Freeform 29"/>
            <p:cNvSpPr/>
            <p:nvPr/>
          </p:nvSpPr>
          <p:spPr>
            <a:xfrm>
              <a:off x="2064451" y="1645380"/>
              <a:ext cx="1642493" cy="21307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6200" fill="norm" stroke="1" extrusionOk="0">
                  <a:moveTo>
                    <a:pt x="0" y="0"/>
                  </a:moveTo>
                  <a:cubicBezTo>
                    <a:pt x="7200" y="21600"/>
                    <a:pt x="14400" y="21600"/>
                    <a:pt x="21600" y="0"/>
                  </a:cubicBezTo>
                </a:path>
              </a:pathLst>
            </a:custGeom>
            <a:noFill/>
            <a:ln w="635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72" name="Freeform 30"/>
            <p:cNvSpPr/>
            <p:nvPr/>
          </p:nvSpPr>
          <p:spPr>
            <a:xfrm>
              <a:off x="2042516" y="1903398"/>
              <a:ext cx="1642493" cy="21306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6200" fill="norm" stroke="1" extrusionOk="0">
                  <a:moveTo>
                    <a:pt x="0" y="0"/>
                  </a:moveTo>
                  <a:cubicBezTo>
                    <a:pt x="7200" y="21600"/>
                    <a:pt x="14400" y="21600"/>
                    <a:pt x="21600" y="0"/>
                  </a:cubicBezTo>
                </a:path>
              </a:pathLst>
            </a:custGeom>
            <a:noFill/>
            <a:ln w="635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73" name="Freeform 31"/>
            <p:cNvSpPr/>
            <p:nvPr/>
          </p:nvSpPr>
          <p:spPr>
            <a:xfrm>
              <a:off x="2075418" y="2166081"/>
              <a:ext cx="1642494" cy="21306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6200" fill="norm" stroke="1" extrusionOk="0">
                  <a:moveTo>
                    <a:pt x="0" y="0"/>
                  </a:moveTo>
                  <a:cubicBezTo>
                    <a:pt x="7200" y="21600"/>
                    <a:pt x="14400" y="21600"/>
                    <a:pt x="21600" y="0"/>
                  </a:cubicBezTo>
                </a:path>
              </a:pathLst>
            </a:custGeom>
            <a:noFill/>
            <a:ln w="635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74" name="Freeform 32"/>
            <p:cNvSpPr/>
            <p:nvPr/>
          </p:nvSpPr>
          <p:spPr>
            <a:xfrm>
              <a:off x="2042516" y="2570148"/>
              <a:ext cx="1642493" cy="21306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6200" fill="norm" stroke="1" extrusionOk="0">
                  <a:moveTo>
                    <a:pt x="0" y="0"/>
                  </a:moveTo>
                  <a:cubicBezTo>
                    <a:pt x="7200" y="21600"/>
                    <a:pt x="14400" y="21600"/>
                    <a:pt x="21600" y="0"/>
                  </a:cubicBezTo>
                </a:path>
              </a:pathLst>
            </a:custGeom>
            <a:noFill/>
            <a:ln w="635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75" name="Freeform 33"/>
            <p:cNvSpPr/>
            <p:nvPr/>
          </p:nvSpPr>
          <p:spPr>
            <a:xfrm>
              <a:off x="2020580" y="2828165"/>
              <a:ext cx="1642495" cy="21307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6200" fill="norm" stroke="1" extrusionOk="0">
                  <a:moveTo>
                    <a:pt x="0" y="0"/>
                  </a:moveTo>
                  <a:cubicBezTo>
                    <a:pt x="7200" y="21600"/>
                    <a:pt x="14400" y="21600"/>
                    <a:pt x="21600" y="0"/>
                  </a:cubicBezTo>
                </a:path>
              </a:pathLst>
            </a:custGeom>
            <a:noFill/>
            <a:ln w="635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76" name="Freeform 34"/>
            <p:cNvSpPr/>
            <p:nvPr/>
          </p:nvSpPr>
          <p:spPr>
            <a:xfrm>
              <a:off x="2053483" y="3090848"/>
              <a:ext cx="1642494" cy="21307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16200" fill="norm" stroke="1" extrusionOk="0">
                  <a:moveTo>
                    <a:pt x="0" y="0"/>
                  </a:moveTo>
                  <a:cubicBezTo>
                    <a:pt x="7200" y="21600"/>
                    <a:pt x="14400" y="21600"/>
                    <a:pt x="21600" y="0"/>
                  </a:cubicBezTo>
                </a:path>
              </a:pathLst>
            </a:custGeom>
            <a:noFill/>
            <a:ln w="635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grpSp>
          <p:nvGrpSpPr>
            <p:cNvPr id="279" name="Group 35"/>
            <p:cNvGrpSpPr/>
            <p:nvPr/>
          </p:nvGrpSpPr>
          <p:grpSpPr>
            <a:xfrm>
              <a:off x="0" y="1397352"/>
              <a:ext cx="1543050" cy="1005610"/>
              <a:chOff x="0" y="0"/>
              <a:chExt cx="1543049" cy="1005609"/>
            </a:xfrm>
          </p:grpSpPr>
          <p:sp>
            <p:nvSpPr>
              <p:cNvPr id="277" name="Freeform 36"/>
              <p:cNvSpPr/>
              <p:nvPr/>
            </p:nvSpPr>
            <p:spPr>
              <a:xfrm>
                <a:off x="0" y="-1"/>
                <a:ext cx="1543050" cy="100561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7038" y="0"/>
                    </a:moveTo>
                    <a:lnTo>
                      <a:pt x="14562" y="0"/>
                    </a:lnTo>
                    <a:cubicBezTo>
                      <a:pt x="16428" y="0"/>
                      <a:pt x="18219" y="1138"/>
                      <a:pt x="19538" y="3163"/>
                    </a:cubicBezTo>
                    <a:cubicBezTo>
                      <a:pt x="20858" y="5189"/>
                      <a:pt x="21600" y="7936"/>
                      <a:pt x="21600" y="10800"/>
                    </a:cubicBezTo>
                    <a:cubicBezTo>
                      <a:pt x="21600" y="16765"/>
                      <a:pt x="18449" y="21600"/>
                      <a:pt x="14562" y="21600"/>
                    </a:cubicBezTo>
                    <a:lnTo>
                      <a:pt x="7038" y="21600"/>
                    </a:lnTo>
                    <a:cubicBezTo>
                      <a:pt x="5172" y="21600"/>
                      <a:pt x="3381" y="20462"/>
                      <a:pt x="2062" y="18437"/>
                    </a:cubicBezTo>
                    <a:cubicBezTo>
                      <a:pt x="742" y="16411"/>
                      <a:pt x="0" y="13664"/>
                      <a:pt x="0" y="10800"/>
                    </a:cubicBezTo>
                    <a:cubicBezTo>
                      <a:pt x="0" y="7936"/>
                      <a:pt x="742" y="5189"/>
                      <a:pt x="2062" y="3163"/>
                    </a:cubicBezTo>
                    <a:cubicBezTo>
                      <a:pt x="3381" y="1138"/>
                      <a:pt x="5172" y="0"/>
                      <a:pt x="7038" y="0"/>
                    </a:cubicBezTo>
                    <a:close/>
                  </a:path>
                </a:pathLst>
              </a:custGeom>
              <a:noFill/>
              <a:ln w="38100" cap="rnd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278" name="TextBox 37"/>
              <p:cNvSpPr txBox="1"/>
              <p:nvPr/>
            </p:nvSpPr>
            <p:spPr>
              <a:xfrm>
                <a:off x="-1" y="181934"/>
                <a:ext cx="1543051" cy="49707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algn="ctr">
                  <a:lnSpc>
                    <a:spcPts val="3000"/>
                  </a:lnSpc>
                  <a:defRPr sz="2100">
                    <a:latin typeface="Noto Sans T Chinese"/>
                    <a:ea typeface="Noto Sans T Chinese"/>
                    <a:cs typeface="Noto Sans T Chinese"/>
                    <a:sym typeface="Noto Sans T Chinese"/>
                  </a:defRPr>
                </a:lvl1pPr>
              </a:lstStyle>
              <a:p>
                <a:pPr/>
                <a:r>
                  <a:t>加熱器</a:t>
                </a:r>
              </a:p>
            </p:txBody>
          </p:sp>
        </p:grpSp>
        <p:sp>
          <p:nvSpPr>
            <p:cNvPr id="280" name="AutoShape 38"/>
            <p:cNvSpPr/>
            <p:nvPr/>
          </p:nvSpPr>
          <p:spPr>
            <a:xfrm>
              <a:off x="1467587" y="1664430"/>
              <a:ext cx="627666" cy="1"/>
            </a:xfrm>
            <a:prstGeom prst="line">
              <a:avLst/>
            </a:prstGeom>
            <a:noFill/>
            <a:ln w="508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81" name="AutoShape 39"/>
            <p:cNvSpPr/>
            <p:nvPr/>
          </p:nvSpPr>
          <p:spPr>
            <a:xfrm>
              <a:off x="1447753" y="2147031"/>
              <a:ext cx="627666" cy="1"/>
            </a:xfrm>
            <a:prstGeom prst="line">
              <a:avLst/>
            </a:prstGeom>
            <a:noFill/>
            <a:ln w="508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82" name="AutoShape 40"/>
            <p:cNvSpPr/>
            <p:nvPr/>
          </p:nvSpPr>
          <p:spPr>
            <a:xfrm>
              <a:off x="1425818" y="2589198"/>
              <a:ext cx="627666" cy="1"/>
            </a:xfrm>
            <a:prstGeom prst="line">
              <a:avLst/>
            </a:prstGeom>
            <a:noFill/>
            <a:ln w="508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83" name="AutoShape 41"/>
            <p:cNvSpPr/>
            <p:nvPr/>
          </p:nvSpPr>
          <p:spPr>
            <a:xfrm>
              <a:off x="1467587" y="3109898"/>
              <a:ext cx="627666" cy="1"/>
            </a:xfrm>
            <a:prstGeom prst="line">
              <a:avLst/>
            </a:prstGeom>
            <a:noFill/>
            <a:ln w="50800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grpSp>
          <p:nvGrpSpPr>
            <p:cNvPr id="286" name="Group 42"/>
            <p:cNvGrpSpPr/>
            <p:nvPr/>
          </p:nvGrpSpPr>
          <p:grpSpPr>
            <a:xfrm>
              <a:off x="0" y="2402962"/>
              <a:ext cx="1543050" cy="1005610"/>
              <a:chOff x="0" y="0"/>
              <a:chExt cx="1543049" cy="1005609"/>
            </a:xfrm>
          </p:grpSpPr>
          <p:sp>
            <p:nvSpPr>
              <p:cNvPr id="284" name="Freeform 43"/>
              <p:cNvSpPr/>
              <p:nvPr/>
            </p:nvSpPr>
            <p:spPr>
              <a:xfrm>
                <a:off x="0" y="-1"/>
                <a:ext cx="1543050" cy="100561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7038" y="0"/>
                    </a:moveTo>
                    <a:lnTo>
                      <a:pt x="14562" y="0"/>
                    </a:lnTo>
                    <a:cubicBezTo>
                      <a:pt x="16428" y="0"/>
                      <a:pt x="18219" y="1138"/>
                      <a:pt x="19538" y="3163"/>
                    </a:cubicBezTo>
                    <a:cubicBezTo>
                      <a:pt x="20858" y="5189"/>
                      <a:pt x="21600" y="7936"/>
                      <a:pt x="21600" y="10800"/>
                    </a:cubicBezTo>
                    <a:cubicBezTo>
                      <a:pt x="21600" y="16765"/>
                      <a:pt x="18449" y="21600"/>
                      <a:pt x="14562" y="21600"/>
                    </a:cubicBezTo>
                    <a:lnTo>
                      <a:pt x="7038" y="21600"/>
                    </a:lnTo>
                    <a:cubicBezTo>
                      <a:pt x="5172" y="21600"/>
                      <a:pt x="3381" y="20462"/>
                      <a:pt x="2062" y="18437"/>
                    </a:cubicBezTo>
                    <a:cubicBezTo>
                      <a:pt x="742" y="16411"/>
                      <a:pt x="0" y="13664"/>
                      <a:pt x="0" y="10800"/>
                    </a:cubicBezTo>
                    <a:cubicBezTo>
                      <a:pt x="0" y="7936"/>
                      <a:pt x="742" y="5189"/>
                      <a:pt x="2062" y="3163"/>
                    </a:cubicBezTo>
                    <a:cubicBezTo>
                      <a:pt x="3381" y="1138"/>
                      <a:pt x="5172" y="0"/>
                      <a:pt x="7038" y="0"/>
                    </a:cubicBezTo>
                    <a:close/>
                  </a:path>
                </a:pathLst>
              </a:custGeom>
              <a:noFill/>
              <a:ln w="38100" cap="rnd">
                <a:solidFill>
                  <a:srgbClr val="000000"/>
                </a:solidFill>
                <a:prstDash val="solid"/>
                <a:round/>
              </a:ln>
              <a:effectLst/>
            </p:spPr>
            <p:txBody>
              <a:bodyPr wrap="square" lIns="45719" tIns="45719" rIns="45719" bIns="45719" numCol="1" anchor="t">
                <a:noAutofit/>
              </a:bodyPr>
              <a:lstStyle/>
              <a:p>
                <a:pPr/>
              </a:p>
            </p:txBody>
          </p:sp>
          <p:sp>
            <p:nvSpPr>
              <p:cNvPr id="285" name="TextBox 44"/>
              <p:cNvSpPr txBox="1"/>
              <p:nvPr/>
            </p:nvSpPr>
            <p:spPr>
              <a:xfrm>
                <a:off x="-1" y="181934"/>
                <a:ext cx="1543051" cy="49707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spAutoFit/>
              </a:bodyPr>
              <a:lstStyle>
                <a:lvl1pPr algn="ctr">
                  <a:lnSpc>
                    <a:spcPts val="3000"/>
                  </a:lnSpc>
                  <a:defRPr sz="2100">
                    <a:latin typeface="Noto Sans T Chinese"/>
                    <a:ea typeface="Noto Sans T Chinese"/>
                    <a:cs typeface="Noto Sans T Chinese"/>
                    <a:sym typeface="Noto Sans T Chinese"/>
                  </a:defRPr>
                </a:lvl1pPr>
              </a:lstStyle>
              <a:p>
                <a:pPr/>
                <a:r>
                  <a:t>加熱器</a:t>
                </a:r>
              </a:p>
            </p:txBody>
          </p:sp>
        </p:grpSp>
        <p:sp>
          <p:nvSpPr>
            <p:cNvPr id="287" name="TextBox 45"/>
            <p:cNvSpPr txBox="1"/>
            <p:nvPr/>
          </p:nvSpPr>
          <p:spPr>
            <a:xfrm>
              <a:off x="2074157" y="0"/>
              <a:ext cx="1590177" cy="3022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lnSpc>
                  <a:spcPts val="2400"/>
                </a:lnSpc>
                <a:defRPr b="1" sz="2000">
                  <a:latin typeface="Noto Sans T Chinese Bold"/>
                  <a:ea typeface="Noto Sans T Chinese Bold"/>
                  <a:cs typeface="Noto Sans T Chinese Bold"/>
                  <a:sym typeface="Noto Sans T Chinese Bold"/>
                </a:defRPr>
              </a:lvl1pPr>
            </a:lstStyle>
            <a:p>
              <a:pPr/>
              <a:r>
                <a:t>Quartz tube</a:t>
              </a:r>
            </a:p>
          </p:txBody>
        </p:sp>
      </p:grpSp>
      <p:sp>
        <p:nvSpPr>
          <p:cNvPr id="289" name="TextBox 46"/>
          <p:cNvSpPr txBox="1"/>
          <p:nvPr/>
        </p:nvSpPr>
        <p:spPr>
          <a:xfrm>
            <a:off x="10884050" y="4786693"/>
            <a:ext cx="3274370" cy="450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500"/>
              </a:lnSpc>
              <a:defRPr b="1" sz="2500">
                <a:solidFill>
                  <a:srgbClr val="10101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Si + 2H₂O ⇀ SiO₂+2H₂</a:t>
            </a:r>
          </a:p>
        </p:txBody>
      </p:sp>
      <p:sp>
        <p:nvSpPr>
          <p:cNvPr id="290" name="TextBox 47"/>
          <p:cNvSpPr txBox="1"/>
          <p:nvPr/>
        </p:nvSpPr>
        <p:spPr>
          <a:xfrm>
            <a:off x="1487406" y="4856245"/>
            <a:ext cx="8116794" cy="8808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just">
              <a:lnSpc>
                <a:spcPts val="3400"/>
              </a:lnSpc>
              <a:defRPr sz="2400">
                <a:solidFill>
                  <a:srgbClr val="101010"/>
                </a:solidFill>
                <a:latin typeface="Noto Sans T Chinese"/>
                <a:ea typeface="Noto Sans T Chinese"/>
                <a:cs typeface="Noto Sans T Chinese"/>
                <a:sym typeface="Noto Sans T Chinese"/>
              </a:defRPr>
            </a:lvl1pPr>
          </a:lstStyle>
          <a:p>
            <a:pPr/>
            <a:r>
              <a:t>分子通過布朗運動從高濃度區域向低濃度區域的運輸的過程，利用此過程稱為擴散。</a:t>
            </a:r>
          </a:p>
        </p:txBody>
      </p:sp>
      <p:sp>
        <p:nvSpPr>
          <p:cNvPr id="291" name="AutoShape 48"/>
          <p:cNvSpPr/>
          <p:nvPr/>
        </p:nvSpPr>
        <p:spPr>
          <a:xfrm flipH="1">
            <a:off x="710710" y="3224090"/>
            <a:ext cx="375141" cy="5191051"/>
          </a:xfrm>
          <a:prstGeom prst="line">
            <a:avLst/>
          </a:prstGeom>
          <a:ln w="47625" cap="rnd">
            <a:solidFill>
              <a:srgbClr val="000000"/>
            </a:solidFill>
            <a:headEnd type="diamond"/>
            <a:tailEnd type="diamond"/>
          </a:ln>
        </p:spPr>
        <p:txBody>
          <a:bodyPr lIns="45719" rIns="45719"/>
          <a:lstStyle/>
          <a:p>
            <a:pPr/>
          </a:p>
        </p:txBody>
      </p:sp>
      <p:sp>
        <p:nvSpPr>
          <p:cNvPr id="292" name="TextBox 49"/>
          <p:cNvSpPr txBox="1"/>
          <p:nvPr/>
        </p:nvSpPr>
        <p:spPr>
          <a:xfrm>
            <a:off x="440450" y="4999170"/>
            <a:ext cx="457201" cy="140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600"/>
              </a:lnSpc>
              <a:defRPr b="1" sz="3000"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熱製程</a:t>
            </a:r>
          </a:p>
        </p:txBody>
      </p:sp>
      <p:sp>
        <p:nvSpPr>
          <p:cNvPr id="293" name="TextBox 50"/>
          <p:cNvSpPr txBox="1"/>
          <p:nvPr/>
        </p:nvSpPr>
        <p:spPr>
          <a:xfrm>
            <a:off x="17259300" y="9680463"/>
            <a:ext cx="762376" cy="389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3200"/>
              </a:lnSpc>
              <a:defRPr sz="2200">
                <a:latin typeface="Noto Sans T Chinese"/>
                <a:ea typeface="Noto Sans T Chinese"/>
                <a:cs typeface="Noto Sans T Chinese"/>
                <a:sym typeface="Noto Sans T Chinese"/>
              </a:defRPr>
            </a:lvl1pPr>
          </a:lstStyle>
          <a:p>
            <a:pPr/>
            <a:r>
              <a:t>08/24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Freeform 2"/>
          <p:cNvSpPr/>
          <p:nvPr/>
        </p:nvSpPr>
        <p:spPr>
          <a:xfrm>
            <a:off x="9576503" y="3722434"/>
            <a:ext cx="8711497" cy="489661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96" name="Freeform 4"/>
          <p:cNvSpPr/>
          <p:nvPr/>
        </p:nvSpPr>
        <p:spPr>
          <a:xfrm>
            <a:off x="0" y="10119862"/>
            <a:ext cx="9853056" cy="187241"/>
          </a:xfrm>
          <a:prstGeom prst="rect">
            <a:avLst/>
          </a:prstGeom>
          <a:gradFill>
            <a:gsLst>
              <a:gs pos="0">
                <a:srgbClr val="F600FE"/>
              </a:gs>
              <a:gs pos="25000">
                <a:srgbClr val="C900FE"/>
              </a:gs>
              <a:gs pos="50000">
                <a:srgbClr val="A136FF"/>
              </a:gs>
              <a:gs pos="75000">
                <a:srgbClr val="5142F0"/>
              </a:gs>
              <a:gs pos="100000">
                <a:srgbClr val="0033D9"/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97" name="Freeform 7"/>
          <p:cNvSpPr/>
          <p:nvPr/>
        </p:nvSpPr>
        <p:spPr>
          <a:xfrm>
            <a:off x="9853055" y="0"/>
            <a:ext cx="8434945" cy="167139"/>
          </a:xfrm>
          <a:prstGeom prst="rect">
            <a:avLst/>
          </a:prstGeom>
          <a:gradFill>
            <a:gsLst>
              <a:gs pos="0">
                <a:srgbClr val="F600FE"/>
              </a:gs>
              <a:gs pos="25000">
                <a:srgbClr val="C900FE"/>
              </a:gs>
              <a:gs pos="50000">
                <a:srgbClr val="A136FF"/>
              </a:gs>
              <a:gs pos="75000">
                <a:srgbClr val="5142F0"/>
              </a:gs>
              <a:gs pos="100000">
                <a:srgbClr val="0033D9"/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98" name="Freeform 10"/>
          <p:cNvSpPr/>
          <p:nvPr/>
        </p:nvSpPr>
        <p:spPr>
          <a:xfrm>
            <a:off x="523768" y="841758"/>
            <a:ext cx="373882" cy="373882"/>
          </a:xfrm>
          <a:prstGeom prst="ellipse">
            <a:avLst/>
          </a:prstGeom>
          <a:gradFill>
            <a:gsLst>
              <a:gs pos="0">
                <a:srgbClr val="F600FE"/>
              </a:gs>
              <a:gs pos="25000">
                <a:srgbClr val="C900FE"/>
              </a:gs>
              <a:gs pos="50000">
                <a:srgbClr val="A136FF"/>
              </a:gs>
              <a:gs pos="75000">
                <a:srgbClr val="5142F0"/>
              </a:gs>
              <a:gs pos="100000">
                <a:srgbClr val="0033D9"/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99" name="Freeform 12"/>
          <p:cNvSpPr/>
          <p:nvPr/>
        </p:nvSpPr>
        <p:spPr>
          <a:xfrm rot="1107567">
            <a:off x="15228535" y="2358942"/>
            <a:ext cx="1426443" cy="1858557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00" name="TextBox 13"/>
          <p:cNvSpPr txBox="1"/>
          <p:nvPr/>
        </p:nvSpPr>
        <p:spPr>
          <a:xfrm rot="1673800">
            <a:off x="12160197" y="5661337"/>
            <a:ext cx="984122" cy="3428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b="1" sz="2000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SiO₂</a:t>
            </a:r>
          </a:p>
        </p:txBody>
      </p:sp>
      <p:sp>
        <p:nvSpPr>
          <p:cNvPr id="301" name="TextBox 14"/>
          <p:cNvSpPr txBox="1"/>
          <p:nvPr/>
        </p:nvSpPr>
        <p:spPr>
          <a:xfrm rot="1882112">
            <a:off x="11853165" y="6491236"/>
            <a:ext cx="1932339" cy="3428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b="1" sz="2000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Substrate</a:t>
            </a:r>
          </a:p>
        </p:txBody>
      </p:sp>
      <p:sp>
        <p:nvSpPr>
          <p:cNvPr id="302" name="TextBox 15"/>
          <p:cNvSpPr txBox="1"/>
          <p:nvPr/>
        </p:nvSpPr>
        <p:spPr>
          <a:xfrm rot="1451484">
            <a:off x="11967218" y="5129380"/>
            <a:ext cx="1520520" cy="3428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800"/>
              </a:lnSpc>
              <a:defRPr b="1" sz="2000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Photoresist</a:t>
            </a:r>
          </a:p>
        </p:txBody>
      </p:sp>
      <p:sp>
        <p:nvSpPr>
          <p:cNvPr id="303" name="TextBox 16"/>
          <p:cNvSpPr txBox="1"/>
          <p:nvPr/>
        </p:nvSpPr>
        <p:spPr>
          <a:xfrm>
            <a:off x="1028700" y="315475"/>
            <a:ext cx="5389851" cy="19232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just">
              <a:lnSpc>
                <a:spcPts val="10200"/>
              </a:lnSpc>
              <a:defRPr b="1" sz="7300"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pPr>
            <a:r>
              <a:t>光阻劑</a:t>
            </a:r>
          </a:p>
          <a:p>
            <a:pPr algn="just">
              <a:lnSpc>
                <a:spcPts val="4800"/>
              </a:lnSpc>
              <a:defRPr b="1" sz="4800"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pPr>
            <a:r>
              <a:t>Photoresist</a:t>
            </a:r>
          </a:p>
        </p:txBody>
      </p:sp>
      <p:sp>
        <p:nvSpPr>
          <p:cNvPr id="304" name="TextBox 17"/>
          <p:cNvSpPr txBox="1"/>
          <p:nvPr/>
        </p:nvSpPr>
        <p:spPr>
          <a:xfrm>
            <a:off x="1028700" y="2988312"/>
            <a:ext cx="6869594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600"/>
              </a:lnSpc>
              <a:defRPr b="1" sz="3000"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•Vapor Prime 表面預處理</a:t>
            </a:r>
          </a:p>
        </p:txBody>
      </p:sp>
      <p:sp>
        <p:nvSpPr>
          <p:cNvPr id="305" name="TextBox 18"/>
          <p:cNvSpPr txBox="1"/>
          <p:nvPr/>
        </p:nvSpPr>
        <p:spPr>
          <a:xfrm>
            <a:off x="1363581" y="3615421"/>
            <a:ext cx="8489475" cy="8808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400"/>
              </a:lnSpc>
              <a:defRPr sz="2400">
                <a:solidFill>
                  <a:srgbClr val="101010"/>
                </a:solidFill>
                <a:latin typeface="Noto Sans T Chinese"/>
                <a:ea typeface="Noto Sans T Chinese"/>
                <a:cs typeface="Noto Sans T Chinese"/>
                <a:sym typeface="Noto Sans T Chinese"/>
              </a:defRPr>
            </a:lvl1pPr>
          </a:lstStyle>
          <a:p>
            <a:pPr/>
            <a:r>
              <a:t>為了確保光阻有效的附著於晶圓上，必須確認晶圓是乾淨且沒有水分的狀態，若有水分，必須進行脫水烘烤。</a:t>
            </a:r>
          </a:p>
        </p:txBody>
      </p:sp>
      <p:sp>
        <p:nvSpPr>
          <p:cNvPr id="306" name="Freeform 19"/>
          <p:cNvSpPr/>
          <p:nvPr/>
        </p:nvSpPr>
        <p:spPr>
          <a:xfrm rot="1107567">
            <a:off x="13733161" y="1965099"/>
            <a:ext cx="1426442" cy="1858556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07" name="TextBox 20"/>
          <p:cNvSpPr txBox="1"/>
          <p:nvPr/>
        </p:nvSpPr>
        <p:spPr>
          <a:xfrm>
            <a:off x="1028700" y="4800327"/>
            <a:ext cx="6869594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600"/>
              </a:lnSpc>
              <a:defRPr b="1" sz="3000"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•Spin Coat 旋轉塗佈</a:t>
            </a:r>
          </a:p>
        </p:txBody>
      </p:sp>
      <p:sp>
        <p:nvSpPr>
          <p:cNvPr id="308" name="TextBox 21"/>
          <p:cNvSpPr txBox="1"/>
          <p:nvPr/>
        </p:nvSpPr>
        <p:spPr>
          <a:xfrm>
            <a:off x="1363581" y="5425945"/>
            <a:ext cx="8212923" cy="8808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just">
              <a:lnSpc>
                <a:spcPts val="3400"/>
              </a:lnSpc>
              <a:defRPr sz="2400">
                <a:solidFill>
                  <a:srgbClr val="101010"/>
                </a:solidFill>
                <a:latin typeface="Noto Sans T Chinese"/>
                <a:ea typeface="Noto Sans T Chinese"/>
                <a:cs typeface="Noto Sans T Chinese"/>
                <a:sym typeface="Noto Sans T Chinese"/>
              </a:defRPr>
            </a:lvl1pPr>
          </a:lstStyle>
          <a:p>
            <a:pPr/>
            <a:r>
              <a:t>以噴嘴噴射或滴落光阻液至晶片或基材上，利用離心力使溶液擴散。控制厚度因子:  旋轉速度</a:t>
            </a:r>
          </a:p>
        </p:txBody>
      </p:sp>
      <p:sp>
        <p:nvSpPr>
          <p:cNvPr id="309" name="TextBox 22"/>
          <p:cNvSpPr txBox="1"/>
          <p:nvPr/>
        </p:nvSpPr>
        <p:spPr>
          <a:xfrm>
            <a:off x="1028700" y="6610219"/>
            <a:ext cx="6869594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600"/>
              </a:lnSpc>
              <a:defRPr b="1" sz="3000"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•Soft bake 軟烘烤</a:t>
            </a:r>
          </a:p>
        </p:txBody>
      </p:sp>
      <p:sp>
        <p:nvSpPr>
          <p:cNvPr id="310" name="TextBox 23"/>
          <p:cNvSpPr txBox="1"/>
          <p:nvPr/>
        </p:nvSpPr>
        <p:spPr>
          <a:xfrm>
            <a:off x="1363581" y="7238869"/>
            <a:ext cx="8212923" cy="8808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just">
              <a:lnSpc>
                <a:spcPts val="3400"/>
              </a:lnSpc>
              <a:defRPr sz="2400">
                <a:solidFill>
                  <a:srgbClr val="101010"/>
                </a:solidFill>
                <a:latin typeface="Noto Sans T Chinese"/>
                <a:ea typeface="Noto Sans T Chinese"/>
                <a:cs typeface="Noto Sans T Chinese"/>
                <a:sym typeface="Noto Sans T Chinese"/>
              </a:defRPr>
            </a:lvl1pPr>
          </a:lstStyle>
          <a:p>
            <a:pPr/>
            <a:r>
              <a:t>透過溫度90 - 100°C進行烘烤，除了可去除光阻大部分溶劑外，還可以提高光阻黏著度，將抗蝕刻均勻性提高。</a:t>
            </a:r>
          </a:p>
        </p:txBody>
      </p:sp>
      <p:sp>
        <p:nvSpPr>
          <p:cNvPr id="311" name="TextBox 24"/>
          <p:cNvSpPr txBox="1"/>
          <p:nvPr/>
        </p:nvSpPr>
        <p:spPr>
          <a:xfrm>
            <a:off x="1028700" y="8423146"/>
            <a:ext cx="6869594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600"/>
              </a:lnSpc>
              <a:defRPr b="1" sz="3000"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•Cooling 冷卻</a:t>
            </a:r>
          </a:p>
        </p:txBody>
      </p:sp>
      <p:sp>
        <p:nvSpPr>
          <p:cNvPr id="312" name="TextBox 25"/>
          <p:cNvSpPr txBox="1"/>
          <p:nvPr/>
        </p:nvSpPr>
        <p:spPr>
          <a:xfrm>
            <a:off x="1363581" y="9051796"/>
            <a:ext cx="8212923" cy="4490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just">
              <a:lnSpc>
                <a:spcPts val="3400"/>
              </a:lnSpc>
              <a:defRPr sz="2400">
                <a:solidFill>
                  <a:srgbClr val="101010"/>
                </a:solidFill>
                <a:latin typeface="Noto Sans T Chinese"/>
                <a:ea typeface="Noto Sans T Chinese"/>
                <a:cs typeface="Noto Sans T Chinese"/>
                <a:sym typeface="Noto Sans T Chinese"/>
              </a:defRPr>
            </a:lvl1pPr>
          </a:lstStyle>
          <a:p>
            <a:pPr/>
            <a:r>
              <a:t>必須在冷板上快速進行冷卻。</a:t>
            </a:r>
          </a:p>
        </p:txBody>
      </p:sp>
      <p:sp>
        <p:nvSpPr>
          <p:cNvPr id="313" name="TextBox 26"/>
          <p:cNvSpPr txBox="1"/>
          <p:nvPr/>
        </p:nvSpPr>
        <p:spPr>
          <a:xfrm>
            <a:off x="17259300" y="9680463"/>
            <a:ext cx="762376" cy="389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3200"/>
              </a:lnSpc>
              <a:defRPr sz="2200">
                <a:latin typeface="Noto Sans T Chinese"/>
                <a:ea typeface="Noto Sans T Chinese"/>
                <a:cs typeface="Noto Sans T Chinese"/>
                <a:sym typeface="Noto Sans T Chinese"/>
              </a:defRPr>
            </a:lvl1pPr>
          </a:lstStyle>
          <a:p>
            <a:pPr/>
            <a:r>
              <a:t>09/24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Freeform 3"/>
          <p:cNvSpPr/>
          <p:nvPr/>
        </p:nvSpPr>
        <p:spPr>
          <a:xfrm>
            <a:off x="0" y="10098929"/>
            <a:ext cx="9853056" cy="188072"/>
          </a:xfrm>
          <a:prstGeom prst="rect">
            <a:avLst/>
          </a:prstGeom>
          <a:gradFill>
            <a:gsLst>
              <a:gs pos="0">
                <a:srgbClr val="F600FE"/>
              </a:gs>
              <a:gs pos="25000">
                <a:srgbClr val="C900FE"/>
              </a:gs>
              <a:gs pos="50000">
                <a:srgbClr val="A136FF"/>
              </a:gs>
              <a:gs pos="75000">
                <a:srgbClr val="5142F0"/>
              </a:gs>
              <a:gs pos="100000">
                <a:srgbClr val="0033D9"/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16" name="Freeform 6"/>
          <p:cNvSpPr/>
          <p:nvPr/>
        </p:nvSpPr>
        <p:spPr>
          <a:xfrm>
            <a:off x="9853055" y="0"/>
            <a:ext cx="8434945" cy="167139"/>
          </a:xfrm>
          <a:prstGeom prst="rect">
            <a:avLst/>
          </a:prstGeom>
          <a:gradFill>
            <a:gsLst>
              <a:gs pos="0">
                <a:srgbClr val="F600FE"/>
              </a:gs>
              <a:gs pos="25000">
                <a:srgbClr val="C900FE"/>
              </a:gs>
              <a:gs pos="50000">
                <a:srgbClr val="A136FF"/>
              </a:gs>
              <a:gs pos="75000">
                <a:srgbClr val="5142F0"/>
              </a:gs>
              <a:gs pos="100000">
                <a:srgbClr val="0033D9"/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17" name="Freeform 9"/>
          <p:cNvSpPr/>
          <p:nvPr/>
        </p:nvSpPr>
        <p:spPr>
          <a:xfrm>
            <a:off x="523768" y="841758"/>
            <a:ext cx="373882" cy="373882"/>
          </a:xfrm>
          <a:prstGeom prst="ellipse">
            <a:avLst/>
          </a:prstGeom>
          <a:gradFill>
            <a:gsLst>
              <a:gs pos="0">
                <a:srgbClr val="F600FE"/>
              </a:gs>
              <a:gs pos="25000">
                <a:srgbClr val="C900FE"/>
              </a:gs>
              <a:gs pos="50000">
                <a:srgbClr val="A136FF"/>
              </a:gs>
              <a:gs pos="75000">
                <a:srgbClr val="5142F0"/>
              </a:gs>
              <a:gs pos="100000">
                <a:srgbClr val="0033D9"/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18" name="Freeform 11"/>
          <p:cNvSpPr/>
          <p:nvPr/>
        </p:nvSpPr>
        <p:spPr>
          <a:xfrm>
            <a:off x="10059569" y="1226475"/>
            <a:ext cx="8373878" cy="4706839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19" name="Freeform 12"/>
          <p:cNvSpPr/>
          <p:nvPr/>
        </p:nvSpPr>
        <p:spPr>
          <a:xfrm rot="5400000">
            <a:off x="11885377" y="40929"/>
            <a:ext cx="2754819" cy="504361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20" name="TextBox 13"/>
          <p:cNvSpPr txBox="1"/>
          <p:nvPr/>
        </p:nvSpPr>
        <p:spPr>
          <a:xfrm rot="1673800">
            <a:off x="13032351" y="3886524"/>
            <a:ext cx="878747" cy="3036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500"/>
              </a:lnSpc>
              <a:defRPr b="1" sz="1700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SiO₂</a:t>
            </a:r>
          </a:p>
        </p:txBody>
      </p:sp>
      <p:sp>
        <p:nvSpPr>
          <p:cNvPr id="321" name="TextBox 14"/>
          <p:cNvSpPr txBox="1"/>
          <p:nvPr/>
        </p:nvSpPr>
        <p:spPr>
          <a:xfrm rot="1882112">
            <a:off x="12742405" y="4451209"/>
            <a:ext cx="1725433" cy="3036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500"/>
              </a:lnSpc>
              <a:defRPr b="1" sz="1700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Substrate</a:t>
            </a:r>
          </a:p>
        </p:txBody>
      </p:sp>
      <p:sp>
        <p:nvSpPr>
          <p:cNvPr id="322" name="TextBox 15"/>
          <p:cNvSpPr txBox="1"/>
          <p:nvPr/>
        </p:nvSpPr>
        <p:spPr>
          <a:xfrm rot="1761636">
            <a:off x="12742579" y="3474255"/>
            <a:ext cx="1357710" cy="3036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500"/>
              </a:lnSpc>
              <a:defRPr b="1" sz="1700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Photoresist</a:t>
            </a:r>
          </a:p>
        </p:txBody>
      </p:sp>
      <p:sp>
        <p:nvSpPr>
          <p:cNvPr id="323" name="Freeform 16"/>
          <p:cNvSpPr/>
          <p:nvPr/>
        </p:nvSpPr>
        <p:spPr>
          <a:xfrm rot="5400000">
            <a:off x="13267008" y="316253"/>
            <a:ext cx="3305464" cy="504361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24" name="TextBox 17"/>
          <p:cNvSpPr txBox="1"/>
          <p:nvPr/>
        </p:nvSpPr>
        <p:spPr>
          <a:xfrm>
            <a:off x="1028700" y="315475"/>
            <a:ext cx="5389851" cy="19232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just">
              <a:lnSpc>
                <a:spcPts val="10200"/>
              </a:lnSpc>
              <a:defRPr b="1" sz="7300"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pPr>
            <a:r>
              <a:t>微影製程</a:t>
            </a:r>
          </a:p>
          <a:p>
            <a:pPr algn="just">
              <a:lnSpc>
                <a:spcPts val="4800"/>
              </a:lnSpc>
              <a:defRPr b="1" sz="4800"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pPr>
            <a:r>
              <a:t>Photolithography</a:t>
            </a:r>
          </a:p>
        </p:txBody>
      </p:sp>
      <p:sp>
        <p:nvSpPr>
          <p:cNvPr id="325" name="TextBox 18"/>
          <p:cNvSpPr txBox="1"/>
          <p:nvPr/>
        </p:nvSpPr>
        <p:spPr>
          <a:xfrm>
            <a:off x="1028700" y="4166173"/>
            <a:ext cx="6869594" cy="4953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600"/>
              </a:lnSpc>
              <a:defRPr b="1" sz="3000"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•曝光後烘烤  (顯影前)</a:t>
            </a:r>
          </a:p>
        </p:txBody>
      </p:sp>
      <p:sp>
        <p:nvSpPr>
          <p:cNvPr id="326" name="TextBox 19"/>
          <p:cNvSpPr txBox="1"/>
          <p:nvPr/>
        </p:nvSpPr>
        <p:spPr>
          <a:xfrm>
            <a:off x="1430256" y="4791792"/>
            <a:ext cx="8422800" cy="13126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just">
              <a:lnSpc>
                <a:spcPts val="3400"/>
              </a:lnSpc>
              <a:defRPr sz="2400">
                <a:solidFill>
                  <a:srgbClr val="101010"/>
                </a:solidFill>
                <a:latin typeface="Noto Sans T Chinese"/>
                <a:ea typeface="Noto Sans T Chinese"/>
                <a:cs typeface="Noto Sans T Chinese"/>
                <a:sym typeface="Noto Sans T Chinese"/>
              </a:defRPr>
            </a:lvl1pPr>
          </a:lstStyle>
          <a:p>
            <a:pPr/>
            <a:r>
              <a:t>在曝光過程中，在曝光區與非曝光區邊界將會出現駐波效應，此效應將會在兩個區域的邊界附近形成強弱相間的過渡區，這將影響顯影後形成的圖形尺寸和解析度。</a:t>
            </a:r>
          </a:p>
        </p:txBody>
      </p:sp>
      <p:sp>
        <p:nvSpPr>
          <p:cNvPr id="327" name="TextBox 20"/>
          <p:cNvSpPr txBox="1"/>
          <p:nvPr/>
        </p:nvSpPr>
        <p:spPr>
          <a:xfrm>
            <a:off x="1028700" y="6426884"/>
            <a:ext cx="6869594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600"/>
              </a:lnSpc>
              <a:defRPr b="1" sz="3000"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•顯影</a:t>
            </a:r>
          </a:p>
        </p:txBody>
      </p:sp>
      <p:sp>
        <p:nvSpPr>
          <p:cNvPr id="328" name="TextBox 21"/>
          <p:cNvSpPr txBox="1"/>
          <p:nvPr/>
        </p:nvSpPr>
        <p:spPr>
          <a:xfrm>
            <a:off x="1430256" y="7052502"/>
            <a:ext cx="8422800" cy="8808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just">
              <a:lnSpc>
                <a:spcPts val="3400"/>
              </a:lnSpc>
              <a:defRPr sz="2400">
                <a:solidFill>
                  <a:srgbClr val="101010"/>
                </a:solidFill>
                <a:latin typeface="Noto Sans T Chinese"/>
                <a:ea typeface="Noto Sans T Chinese"/>
                <a:cs typeface="Noto Sans T Chinese"/>
                <a:sym typeface="Noto Sans T Chinese"/>
              </a:defRPr>
            </a:lvl1pPr>
          </a:lstStyle>
          <a:p>
            <a:pPr/>
            <a:r>
              <a:t>照射到光的部分，發生光化學反應，使光阻劑產生化學變化，並溶於特定顯影液，沒照光的地方不溶。</a:t>
            </a:r>
          </a:p>
        </p:txBody>
      </p:sp>
      <p:sp>
        <p:nvSpPr>
          <p:cNvPr id="329" name="TextBox 22"/>
          <p:cNvSpPr txBox="1"/>
          <p:nvPr/>
        </p:nvSpPr>
        <p:spPr>
          <a:xfrm>
            <a:off x="1028700" y="8332929"/>
            <a:ext cx="6869594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600"/>
              </a:lnSpc>
              <a:defRPr b="1" sz="3000"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•硬烘烤  (顯影後)</a:t>
            </a:r>
          </a:p>
        </p:txBody>
      </p:sp>
      <p:sp>
        <p:nvSpPr>
          <p:cNvPr id="330" name="TextBox 23"/>
          <p:cNvSpPr txBox="1"/>
          <p:nvPr/>
        </p:nvSpPr>
        <p:spPr>
          <a:xfrm>
            <a:off x="1430256" y="8958546"/>
            <a:ext cx="8422800" cy="8808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just">
              <a:lnSpc>
                <a:spcPts val="3400"/>
              </a:lnSpc>
              <a:defRPr sz="2400">
                <a:solidFill>
                  <a:srgbClr val="101010"/>
                </a:solidFill>
                <a:latin typeface="Noto Sans T Chinese"/>
                <a:ea typeface="Noto Sans T Chinese"/>
                <a:cs typeface="Noto Sans T Chinese"/>
                <a:sym typeface="Noto Sans T Chinese"/>
              </a:defRPr>
            </a:lvl1pPr>
          </a:lstStyle>
          <a:p>
            <a:pPr/>
            <a:r>
              <a:t>蒸發所有光阻中的溶劑，增加抗蝕刻及佈植能力，增加光阻和表面的附著力，改善材質穩定度。</a:t>
            </a:r>
          </a:p>
        </p:txBody>
      </p:sp>
      <p:grpSp>
        <p:nvGrpSpPr>
          <p:cNvPr id="334" name="Group 24"/>
          <p:cNvGrpSpPr/>
          <p:nvPr/>
        </p:nvGrpSpPr>
        <p:grpSpPr>
          <a:xfrm>
            <a:off x="9440238" y="5763380"/>
            <a:ext cx="7797497" cy="4581411"/>
            <a:chOff x="0" y="0"/>
            <a:chExt cx="7797495" cy="4581409"/>
          </a:xfrm>
        </p:grpSpPr>
        <p:sp>
          <p:nvSpPr>
            <p:cNvPr id="331" name="Freeform 25"/>
            <p:cNvSpPr/>
            <p:nvPr/>
          </p:nvSpPr>
          <p:spPr>
            <a:xfrm rot="21471440">
              <a:off x="77688" y="141359"/>
              <a:ext cx="7642120" cy="4298693"/>
            </a:xfrm>
            <a:prstGeom prst="rect">
              <a:avLst/>
            </a:prstGeom>
            <a:blipFill rotWithShape="1">
              <a:blip r:embed="rId4"/>
              <a:srcRect l="0" t="0" r="0" b="0"/>
              <a:stretch>
                <a:fillRect/>
              </a:stretch>
            </a:blip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32" name="Freeform 26"/>
            <p:cNvSpPr/>
            <p:nvPr/>
          </p:nvSpPr>
          <p:spPr>
            <a:xfrm rot="19726306">
              <a:off x="1137259" y="3318938"/>
              <a:ext cx="701729" cy="486825"/>
            </a:xfrm>
            <a:prstGeom prst="rect">
              <a:avLst/>
            </a:prstGeom>
            <a:blipFill rotWithShape="1">
              <a:blip r:embed="rId5"/>
              <a:srcRect l="0" t="0" r="0" b="0"/>
              <a:stretch>
                <a:fillRect/>
              </a:stretch>
            </a:blip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33" name="Freeform 27"/>
            <p:cNvSpPr/>
            <p:nvPr/>
          </p:nvSpPr>
          <p:spPr>
            <a:xfrm rot="19726306">
              <a:off x="653811" y="1763242"/>
              <a:ext cx="701730" cy="486826"/>
            </a:xfrm>
            <a:prstGeom prst="rect">
              <a:avLst/>
            </a:prstGeom>
            <a:blipFill rotWithShape="1">
              <a:blip r:embed="rId5"/>
              <a:srcRect l="0" t="0" r="0" b="0"/>
              <a:stretch>
                <a:fillRect/>
              </a:stretch>
            </a:blip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sp>
        <p:nvSpPr>
          <p:cNvPr id="335" name="TextBox 28"/>
          <p:cNvSpPr txBox="1"/>
          <p:nvPr/>
        </p:nvSpPr>
        <p:spPr>
          <a:xfrm rot="1189885">
            <a:off x="12995582" y="2049642"/>
            <a:ext cx="630290" cy="3036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500"/>
              </a:lnSpc>
              <a:defRPr b="1" sz="1700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Mask</a:t>
            </a:r>
          </a:p>
        </p:txBody>
      </p:sp>
      <p:sp>
        <p:nvSpPr>
          <p:cNvPr id="336" name="TextBox 29"/>
          <p:cNvSpPr txBox="1"/>
          <p:nvPr/>
        </p:nvSpPr>
        <p:spPr>
          <a:xfrm>
            <a:off x="1028700" y="2784905"/>
            <a:ext cx="6869594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600"/>
              </a:lnSpc>
              <a:defRPr b="1" sz="3000"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•曝光</a:t>
            </a:r>
          </a:p>
        </p:txBody>
      </p:sp>
      <p:sp>
        <p:nvSpPr>
          <p:cNvPr id="337" name="TextBox 30"/>
          <p:cNvSpPr txBox="1"/>
          <p:nvPr/>
        </p:nvSpPr>
        <p:spPr>
          <a:xfrm>
            <a:off x="1430256" y="3410523"/>
            <a:ext cx="8422800" cy="4490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just">
              <a:lnSpc>
                <a:spcPts val="3400"/>
              </a:lnSpc>
              <a:defRPr sz="2400">
                <a:solidFill>
                  <a:srgbClr val="101010"/>
                </a:solidFill>
                <a:latin typeface="Noto Sans T Chinese"/>
                <a:ea typeface="Noto Sans T Chinese"/>
                <a:cs typeface="Noto Sans T Chinese"/>
                <a:sym typeface="Noto Sans T Chinese"/>
              </a:defRPr>
            </a:lvl1pPr>
          </a:lstStyle>
          <a:p>
            <a:pPr/>
            <a:r>
              <a:t>使用曝光機，使用光罩搭配對準機制進行曝光。</a:t>
            </a:r>
          </a:p>
        </p:txBody>
      </p:sp>
      <p:sp>
        <p:nvSpPr>
          <p:cNvPr id="338" name="TextBox 31"/>
          <p:cNvSpPr txBox="1"/>
          <p:nvPr/>
        </p:nvSpPr>
        <p:spPr>
          <a:xfrm rot="1905145">
            <a:off x="13961627" y="6495379"/>
            <a:ext cx="1357710" cy="3036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500"/>
              </a:lnSpc>
              <a:defRPr b="1" sz="1700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Photoresist</a:t>
            </a:r>
          </a:p>
        </p:txBody>
      </p:sp>
      <p:sp>
        <p:nvSpPr>
          <p:cNvPr id="339" name="TextBox 32"/>
          <p:cNvSpPr txBox="1"/>
          <p:nvPr/>
        </p:nvSpPr>
        <p:spPr>
          <a:xfrm rot="2572722">
            <a:off x="13199690" y="7600099"/>
            <a:ext cx="552972" cy="3036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500"/>
              </a:lnSpc>
              <a:defRPr b="1" sz="1700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SiO₂</a:t>
            </a:r>
          </a:p>
        </p:txBody>
      </p:sp>
      <p:sp>
        <p:nvSpPr>
          <p:cNvPr id="340" name="TextBox 33"/>
          <p:cNvSpPr txBox="1"/>
          <p:nvPr/>
        </p:nvSpPr>
        <p:spPr>
          <a:xfrm rot="2700000">
            <a:off x="12754880" y="7954873"/>
            <a:ext cx="1127097" cy="3036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500"/>
              </a:lnSpc>
              <a:defRPr b="1" sz="1700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Substrate</a:t>
            </a:r>
          </a:p>
        </p:txBody>
      </p:sp>
      <p:sp>
        <p:nvSpPr>
          <p:cNvPr id="341" name="TextBox 34"/>
          <p:cNvSpPr txBox="1"/>
          <p:nvPr/>
        </p:nvSpPr>
        <p:spPr>
          <a:xfrm>
            <a:off x="17259300" y="9680463"/>
            <a:ext cx="762376" cy="389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3200"/>
              </a:lnSpc>
              <a:defRPr sz="2200">
                <a:latin typeface="Noto Sans T Chinese"/>
                <a:ea typeface="Noto Sans T Chinese"/>
                <a:cs typeface="Noto Sans T Chinese"/>
                <a:sym typeface="Noto Sans T Chinese"/>
              </a:defRPr>
            </a:lvl1pPr>
          </a:lstStyle>
          <a:p>
            <a:pPr/>
            <a:r>
              <a:t>10/24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Freeform 3"/>
          <p:cNvSpPr/>
          <p:nvPr/>
        </p:nvSpPr>
        <p:spPr>
          <a:xfrm>
            <a:off x="0" y="10098929"/>
            <a:ext cx="9853056" cy="188072"/>
          </a:xfrm>
          <a:prstGeom prst="rect">
            <a:avLst/>
          </a:prstGeom>
          <a:gradFill>
            <a:gsLst>
              <a:gs pos="0">
                <a:srgbClr val="F600FE"/>
              </a:gs>
              <a:gs pos="25000">
                <a:srgbClr val="C900FE"/>
              </a:gs>
              <a:gs pos="50000">
                <a:srgbClr val="A136FF"/>
              </a:gs>
              <a:gs pos="75000">
                <a:srgbClr val="5142F0"/>
              </a:gs>
              <a:gs pos="100000">
                <a:srgbClr val="0033D9"/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44" name="Freeform 6"/>
          <p:cNvSpPr/>
          <p:nvPr/>
        </p:nvSpPr>
        <p:spPr>
          <a:xfrm>
            <a:off x="9853055" y="0"/>
            <a:ext cx="8434945" cy="167139"/>
          </a:xfrm>
          <a:prstGeom prst="rect">
            <a:avLst/>
          </a:prstGeom>
          <a:gradFill>
            <a:gsLst>
              <a:gs pos="0">
                <a:srgbClr val="F600FE"/>
              </a:gs>
              <a:gs pos="25000">
                <a:srgbClr val="C900FE"/>
              </a:gs>
              <a:gs pos="50000">
                <a:srgbClr val="A136FF"/>
              </a:gs>
              <a:gs pos="75000">
                <a:srgbClr val="5142F0"/>
              </a:gs>
              <a:gs pos="100000">
                <a:srgbClr val="0033D9"/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45" name="Freeform 9"/>
          <p:cNvSpPr/>
          <p:nvPr/>
        </p:nvSpPr>
        <p:spPr>
          <a:xfrm>
            <a:off x="523768" y="841758"/>
            <a:ext cx="373882" cy="373882"/>
          </a:xfrm>
          <a:prstGeom prst="ellipse">
            <a:avLst/>
          </a:prstGeom>
          <a:gradFill>
            <a:gsLst>
              <a:gs pos="0">
                <a:srgbClr val="F600FE"/>
              </a:gs>
              <a:gs pos="25000">
                <a:srgbClr val="C900FE"/>
              </a:gs>
              <a:gs pos="50000">
                <a:srgbClr val="A136FF"/>
              </a:gs>
              <a:gs pos="75000">
                <a:srgbClr val="5142F0"/>
              </a:gs>
              <a:gs pos="100000">
                <a:srgbClr val="0033D9"/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46" name="Freeform 11"/>
          <p:cNvSpPr/>
          <p:nvPr/>
        </p:nvSpPr>
        <p:spPr>
          <a:xfrm rot="19726306">
            <a:off x="13958470" y="3748688"/>
            <a:ext cx="634629" cy="440275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47" name="Freeform 12"/>
          <p:cNvSpPr/>
          <p:nvPr/>
        </p:nvSpPr>
        <p:spPr>
          <a:xfrm rot="19726306">
            <a:off x="12077451" y="2512949"/>
            <a:ext cx="634630" cy="440275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48" name="Freeform 13"/>
          <p:cNvSpPr/>
          <p:nvPr/>
        </p:nvSpPr>
        <p:spPr>
          <a:xfrm>
            <a:off x="11918694" y="-9185"/>
            <a:ext cx="6369307" cy="5484544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49" name="TextBox 14"/>
          <p:cNvSpPr txBox="1"/>
          <p:nvPr/>
        </p:nvSpPr>
        <p:spPr>
          <a:xfrm rot="1505403">
            <a:off x="14494417" y="2145906"/>
            <a:ext cx="794720" cy="2702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200"/>
              </a:lnSpc>
              <a:defRPr b="1" sz="1600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SiO₂</a:t>
            </a:r>
          </a:p>
        </p:txBody>
      </p:sp>
      <p:sp>
        <p:nvSpPr>
          <p:cNvPr id="350" name="TextBox 15"/>
          <p:cNvSpPr txBox="1"/>
          <p:nvPr/>
        </p:nvSpPr>
        <p:spPr>
          <a:xfrm rot="1548860">
            <a:off x="14111727" y="2538320"/>
            <a:ext cx="1560445" cy="2702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200"/>
              </a:lnSpc>
              <a:defRPr b="1" sz="1600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Substrate</a:t>
            </a:r>
          </a:p>
        </p:txBody>
      </p:sp>
      <p:sp>
        <p:nvSpPr>
          <p:cNvPr id="351" name="TextBox 16"/>
          <p:cNvSpPr txBox="1"/>
          <p:nvPr/>
        </p:nvSpPr>
        <p:spPr>
          <a:xfrm rot="1461251">
            <a:off x="14277658" y="1853751"/>
            <a:ext cx="1227885" cy="2702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200"/>
              </a:lnSpc>
              <a:defRPr b="1" sz="1600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Photoresist</a:t>
            </a:r>
          </a:p>
        </p:txBody>
      </p:sp>
      <p:sp>
        <p:nvSpPr>
          <p:cNvPr id="352" name="Freeform 17"/>
          <p:cNvSpPr/>
          <p:nvPr/>
        </p:nvSpPr>
        <p:spPr>
          <a:xfrm>
            <a:off x="11289934" y="5288033"/>
            <a:ext cx="6998066" cy="4998967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53" name="TextBox 18"/>
          <p:cNvSpPr txBox="1"/>
          <p:nvPr/>
        </p:nvSpPr>
        <p:spPr>
          <a:xfrm>
            <a:off x="1028700" y="315475"/>
            <a:ext cx="5389851" cy="19232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just">
              <a:lnSpc>
                <a:spcPts val="10200"/>
              </a:lnSpc>
              <a:defRPr b="1" sz="7300"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pPr>
            <a:r>
              <a:t>蝕刻</a:t>
            </a:r>
          </a:p>
          <a:p>
            <a:pPr algn="just">
              <a:lnSpc>
                <a:spcPts val="4800"/>
              </a:lnSpc>
              <a:defRPr b="1" sz="4800"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pPr>
            <a:r>
              <a:t>Etching</a:t>
            </a:r>
          </a:p>
        </p:txBody>
      </p:sp>
      <p:sp>
        <p:nvSpPr>
          <p:cNvPr id="354" name="TextBox 19"/>
          <p:cNvSpPr txBox="1"/>
          <p:nvPr/>
        </p:nvSpPr>
        <p:spPr>
          <a:xfrm>
            <a:off x="1028700" y="4614791"/>
            <a:ext cx="6869594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600"/>
              </a:lnSpc>
              <a:defRPr b="1" sz="3000"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•乾式蝕刻  (電漿蝕刻)</a:t>
            </a:r>
          </a:p>
        </p:txBody>
      </p:sp>
      <p:sp>
        <p:nvSpPr>
          <p:cNvPr id="355" name="TextBox 20"/>
          <p:cNvSpPr txBox="1"/>
          <p:nvPr/>
        </p:nvSpPr>
        <p:spPr>
          <a:xfrm>
            <a:off x="1028700" y="6806127"/>
            <a:ext cx="6869594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600"/>
              </a:lnSpc>
              <a:defRPr b="1" sz="3000"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•透過溶劑或電漿清除剩餘光阻</a:t>
            </a:r>
          </a:p>
        </p:txBody>
      </p:sp>
      <p:sp>
        <p:nvSpPr>
          <p:cNvPr id="356" name="TextBox 21"/>
          <p:cNvSpPr txBox="1"/>
          <p:nvPr/>
        </p:nvSpPr>
        <p:spPr>
          <a:xfrm>
            <a:off x="1430256" y="5250994"/>
            <a:ext cx="8422800" cy="8808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just">
              <a:lnSpc>
                <a:spcPts val="3400"/>
              </a:lnSpc>
              <a:defRPr sz="2400">
                <a:solidFill>
                  <a:srgbClr val="101010"/>
                </a:solidFill>
                <a:latin typeface="Noto Sans T Chinese"/>
                <a:ea typeface="Noto Sans T Chinese"/>
                <a:cs typeface="Noto Sans T Chinese"/>
                <a:sym typeface="Noto Sans T Chinese"/>
              </a:defRPr>
            </a:lvl1pPr>
          </a:lstStyle>
          <a:p>
            <a:pPr/>
            <a:r>
              <a:t>使用RF高頻高能量粒子束，例如產生自由電子的方式，通入鈍性氣體離子如 Ar+ 進行轟擊。</a:t>
            </a:r>
          </a:p>
        </p:txBody>
      </p:sp>
      <p:sp>
        <p:nvSpPr>
          <p:cNvPr id="357" name="TextBox 22"/>
          <p:cNvSpPr txBox="1"/>
          <p:nvPr/>
        </p:nvSpPr>
        <p:spPr>
          <a:xfrm>
            <a:off x="1028700" y="2784905"/>
            <a:ext cx="6869594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600"/>
              </a:lnSpc>
              <a:defRPr b="1" sz="3000"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•濕式蝕刻  (↑3μm 製程 )</a:t>
            </a:r>
          </a:p>
        </p:txBody>
      </p:sp>
      <p:sp>
        <p:nvSpPr>
          <p:cNvPr id="358" name="TextBox 23"/>
          <p:cNvSpPr txBox="1"/>
          <p:nvPr/>
        </p:nvSpPr>
        <p:spPr>
          <a:xfrm>
            <a:off x="1430256" y="3410523"/>
            <a:ext cx="8422800" cy="8808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just">
              <a:lnSpc>
                <a:spcPts val="3400"/>
              </a:lnSpc>
              <a:defRPr sz="2400">
                <a:solidFill>
                  <a:srgbClr val="101010"/>
                </a:solidFill>
                <a:latin typeface="Noto Sans T Chinese"/>
                <a:ea typeface="Noto Sans T Chinese"/>
                <a:cs typeface="Noto Sans T Chinese"/>
                <a:sym typeface="Noto Sans T Chinese"/>
              </a:defRPr>
            </a:lvl1pPr>
          </a:lstStyle>
          <a:p>
            <a:pPr/>
            <a:r>
              <a:t>使用化學溶液，如氫氟酸(HF)溶解晶圓表面上的物質，可以透過緩衝液或去離子水調整蝕刻速率。</a:t>
            </a:r>
          </a:p>
        </p:txBody>
      </p:sp>
      <p:sp>
        <p:nvSpPr>
          <p:cNvPr id="359" name="TextBox 24"/>
          <p:cNvSpPr txBox="1"/>
          <p:nvPr/>
        </p:nvSpPr>
        <p:spPr>
          <a:xfrm>
            <a:off x="1028700" y="7967560"/>
            <a:ext cx="6869594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600"/>
              </a:lnSpc>
              <a:defRPr b="1" sz="3000"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•三步驟</a:t>
            </a:r>
          </a:p>
        </p:txBody>
      </p:sp>
      <p:sp>
        <p:nvSpPr>
          <p:cNvPr id="360" name="TextBox 25"/>
          <p:cNvSpPr txBox="1"/>
          <p:nvPr/>
        </p:nvSpPr>
        <p:spPr>
          <a:xfrm>
            <a:off x="1430256" y="8593177"/>
            <a:ext cx="8422800" cy="4490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just">
              <a:lnSpc>
                <a:spcPts val="3400"/>
              </a:lnSpc>
              <a:defRPr sz="2400">
                <a:solidFill>
                  <a:srgbClr val="101010"/>
                </a:solidFill>
                <a:latin typeface="Noto Sans T Chinese"/>
                <a:ea typeface="Noto Sans T Chinese"/>
                <a:cs typeface="Noto Sans T Chinese"/>
                <a:sym typeface="Noto Sans T Chinese"/>
              </a:defRPr>
            </a:lvl1pPr>
          </a:lstStyle>
          <a:p>
            <a:pPr/>
            <a:r>
              <a:t>蝕刻、沖洗、旋乾</a:t>
            </a:r>
          </a:p>
        </p:txBody>
      </p:sp>
      <p:sp>
        <p:nvSpPr>
          <p:cNvPr id="361" name="TextBox 26"/>
          <p:cNvSpPr txBox="1"/>
          <p:nvPr/>
        </p:nvSpPr>
        <p:spPr>
          <a:xfrm rot="1792518">
            <a:off x="14696902" y="6871332"/>
            <a:ext cx="490677" cy="2702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200"/>
              </a:lnSpc>
              <a:defRPr b="1" sz="1600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SiO₂</a:t>
            </a:r>
          </a:p>
        </p:txBody>
      </p:sp>
      <p:sp>
        <p:nvSpPr>
          <p:cNvPr id="362" name="TextBox 27"/>
          <p:cNvSpPr txBox="1"/>
          <p:nvPr/>
        </p:nvSpPr>
        <p:spPr>
          <a:xfrm rot="1928031">
            <a:off x="14384983" y="7266133"/>
            <a:ext cx="1084068" cy="2702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200"/>
              </a:lnSpc>
              <a:defRPr b="1" sz="1600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Substrate</a:t>
            </a:r>
          </a:p>
        </p:txBody>
      </p:sp>
      <p:sp>
        <p:nvSpPr>
          <p:cNvPr id="363" name="TextBox 28"/>
          <p:cNvSpPr txBox="1"/>
          <p:nvPr/>
        </p:nvSpPr>
        <p:spPr>
          <a:xfrm rot="2198619">
            <a:off x="12720175" y="8680778"/>
            <a:ext cx="1227886" cy="2702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200"/>
              </a:lnSpc>
              <a:defRPr b="1" sz="1600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Photoresist</a:t>
            </a:r>
          </a:p>
        </p:txBody>
      </p:sp>
      <p:sp>
        <p:nvSpPr>
          <p:cNvPr id="364" name="Freeform 29"/>
          <p:cNvSpPr/>
          <p:nvPr/>
        </p:nvSpPr>
        <p:spPr>
          <a:xfrm rot="20315912">
            <a:off x="11713554" y="6776256"/>
            <a:ext cx="701730" cy="486825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65" name="TextBox 30"/>
          <p:cNvSpPr txBox="1"/>
          <p:nvPr/>
        </p:nvSpPr>
        <p:spPr>
          <a:xfrm>
            <a:off x="17259300" y="9680463"/>
            <a:ext cx="762376" cy="389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3200"/>
              </a:lnSpc>
              <a:defRPr sz="2200">
                <a:latin typeface="Noto Sans T Chinese"/>
                <a:ea typeface="Noto Sans T Chinese"/>
                <a:cs typeface="Noto Sans T Chinese"/>
                <a:sym typeface="Noto Sans T Chinese"/>
              </a:defRPr>
            </a:lvl1pPr>
          </a:lstStyle>
          <a:p>
            <a:pPr/>
            <a:r>
              <a:t>11/24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Freeform 3"/>
          <p:cNvSpPr/>
          <p:nvPr/>
        </p:nvSpPr>
        <p:spPr>
          <a:xfrm>
            <a:off x="0" y="10098929"/>
            <a:ext cx="9853056" cy="188072"/>
          </a:xfrm>
          <a:prstGeom prst="rect">
            <a:avLst/>
          </a:prstGeom>
          <a:gradFill>
            <a:gsLst>
              <a:gs pos="0">
                <a:srgbClr val="F600FE"/>
              </a:gs>
              <a:gs pos="25000">
                <a:srgbClr val="C900FE"/>
              </a:gs>
              <a:gs pos="50000">
                <a:srgbClr val="A136FF"/>
              </a:gs>
              <a:gs pos="75000">
                <a:srgbClr val="5142F0"/>
              </a:gs>
              <a:gs pos="100000">
                <a:srgbClr val="0033D9"/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68" name="Freeform 6"/>
          <p:cNvSpPr/>
          <p:nvPr/>
        </p:nvSpPr>
        <p:spPr>
          <a:xfrm>
            <a:off x="9853055" y="0"/>
            <a:ext cx="8434945" cy="167139"/>
          </a:xfrm>
          <a:prstGeom prst="rect">
            <a:avLst/>
          </a:prstGeom>
          <a:gradFill>
            <a:gsLst>
              <a:gs pos="0">
                <a:srgbClr val="F600FE"/>
              </a:gs>
              <a:gs pos="25000">
                <a:srgbClr val="C900FE"/>
              </a:gs>
              <a:gs pos="50000">
                <a:srgbClr val="A136FF"/>
              </a:gs>
              <a:gs pos="75000">
                <a:srgbClr val="5142F0"/>
              </a:gs>
              <a:gs pos="100000">
                <a:srgbClr val="0033D9"/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69" name="Freeform 9"/>
          <p:cNvSpPr/>
          <p:nvPr/>
        </p:nvSpPr>
        <p:spPr>
          <a:xfrm>
            <a:off x="523768" y="841758"/>
            <a:ext cx="373882" cy="373882"/>
          </a:xfrm>
          <a:prstGeom prst="ellipse">
            <a:avLst/>
          </a:prstGeom>
          <a:gradFill>
            <a:gsLst>
              <a:gs pos="0">
                <a:srgbClr val="F600FE"/>
              </a:gs>
              <a:gs pos="25000">
                <a:srgbClr val="C900FE"/>
              </a:gs>
              <a:gs pos="50000">
                <a:srgbClr val="A136FF"/>
              </a:gs>
              <a:gs pos="75000">
                <a:srgbClr val="5142F0"/>
              </a:gs>
              <a:gs pos="100000">
                <a:srgbClr val="0033D9"/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70" name="TextBox 11"/>
          <p:cNvSpPr txBox="1"/>
          <p:nvPr/>
        </p:nvSpPr>
        <p:spPr>
          <a:xfrm>
            <a:off x="1028700" y="315475"/>
            <a:ext cx="5389851" cy="19232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just">
              <a:lnSpc>
                <a:spcPts val="10200"/>
              </a:lnSpc>
              <a:defRPr b="1" sz="7300"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pPr>
            <a:r>
              <a:t>薄膜沉積</a:t>
            </a:r>
          </a:p>
          <a:p>
            <a:pPr algn="just">
              <a:lnSpc>
                <a:spcPts val="4800"/>
              </a:lnSpc>
              <a:defRPr b="1" sz="4800"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pPr>
            <a:r>
              <a:t>Deposition</a:t>
            </a:r>
          </a:p>
        </p:txBody>
      </p:sp>
      <p:sp>
        <p:nvSpPr>
          <p:cNvPr id="371" name="TextBox 12"/>
          <p:cNvSpPr txBox="1"/>
          <p:nvPr/>
        </p:nvSpPr>
        <p:spPr>
          <a:xfrm>
            <a:off x="5086350" y="7090349"/>
            <a:ext cx="5541610" cy="2011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3900"/>
              </a:lnSpc>
              <a:defRPr b="1" sz="3000"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pPr>
            <a:r>
              <a:t>1. Vapor Prime 表面預處理</a:t>
            </a:r>
          </a:p>
          <a:p>
            <a:pPr>
              <a:lnSpc>
                <a:spcPts val="3900"/>
              </a:lnSpc>
              <a:defRPr b="1" sz="3000"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pPr>
            <a:r>
              <a:t>2. Spin Coat 旋轉塗佈</a:t>
            </a:r>
          </a:p>
          <a:p>
            <a:pPr>
              <a:lnSpc>
                <a:spcPts val="3900"/>
              </a:lnSpc>
              <a:defRPr b="1" sz="3000"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pPr>
            <a:r>
              <a:t>3. Soft bake 軟烘烤</a:t>
            </a:r>
          </a:p>
          <a:p>
            <a:pPr>
              <a:lnSpc>
                <a:spcPts val="3900"/>
              </a:lnSpc>
              <a:defRPr b="1" sz="3000"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pPr>
            <a:r>
              <a:t>4. Cooling 冷卻</a:t>
            </a:r>
          </a:p>
        </p:txBody>
      </p:sp>
      <p:sp>
        <p:nvSpPr>
          <p:cNvPr id="372" name="TextBox 13"/>
          <p:cNvSpPr txBox="1"/>
          <p:nvPr/>
        </p:nvSpPr>
        <p:spPr>
          <a:xfrm>
            <a:off x="1028700" y="2784905"/>
            <a:ext cx="8115300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600"/>
              </a:lnSpc>
              <a:defRPr b="1" sz="3000"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•沉積導電的多晶矽 (Polycrystalline Silicon)</a:t>
            </a:r>
          </a:p>
        </p:txBody>
      </p:sp>
      <p:sp>
        <p:nvSpPr>
          <p:cNvPr id="373" name="TextBox 14"/>
          <p:cNvSpPr txBox="1"/>
          <p:nvPr/>
        </p:nvSpPr>
        <p:spPr>
          <a:xfrm>
            <a:off x="1430256" y="3410523"/>
            <a:ext cx="8422800" cy="26080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just">
              <a:lnSpc>
                <a:spcPts val="3400"/>
              </a:lnSpc>
              <a:defRPr sz="2400">
                <a:solidFill>
                  <a:srgbClr val="101010"/>
                </a:solidFill>
                <a:latin typeface="Noto Sans T Chinese"/>
                <a:ea typeface="Noto Sans T Chinese"/>
                <a:cs typeface="Noto Sans T Chinese"/>
                <a:sym typeface="Noto Sans T Chinese"/>
              </a:defRPr>
            </a:pPr>
            <a:r>
              <a:t>- 運用  </a:t>
            </a:r>
            <a:r>
              <a:rPr b="1"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L</a:t>
            </a:r>
            <a:r>
              <a:t>ow </a:t>
            </a:r>
            <a:r>
              <a:rPr b="1"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P</a:t>
            </a:r>
            <a:r>
              <a:t>ressure </a:t>
            </a:r>
            <a:r>
              <a:rPr b="1"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CVD  </a:t>
            </a:r>
            <a:r>
              <a:t>或 </a:t>
            </a:r>
            <a:r>
              <a:rPr b="1"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P</a:t>
            </a:r>
            <a:r>
              <a:t>lasma-</a:t>
            </a:r>
            <a:r>
              <a:rPr b="1"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E</a:t>
            </a:r>
            <a:r>
              <a:t>nhanced </a:t>
            </a:r>
            <a:r>
              <a:rPr b="1"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CVD</a:t>
            </a:r>
            <a:r>
              <a:t>將Poly沉積在表面，用以形成MOSFET電晶體中的輸入端Gate(閘極)。</a:t>
            </a:r>
          </a:p>
          <a:p>
            <a:pPr algn="just">
              <a:lnSpc>
                <a:spcPts val="3400"/>
              </a:lnSpc>
            </a:pPr>
          </a:p>
          <a:p>
            <a:pPr algn="just">
              <a:lnSpc>
                <a:spcPts val="3400"/>
              </a:lnSpc>
              <a:defRPr sz="2400">
                <a:solidFill>
                  <a:srgbClr val="101010"/>
                </a:solidFill>
                <a:latin typeface="Noto Sans T Chinese"/>
                <a:ea typeface="Noto Sans T Chinese"/>
                <a:cs typeface="Noto Sans T Chinese"/>
                <a:sym typeface="Noto Sans T Chinese"/>
              </a:defRPr>
            </a:pPr>
            <a:r>
              <a:t>- 透過矽烷 (SiH) 在580至650°C的高溫下</a:t>
            </a: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2" invalidUrl="" action="" tgtFrame="" tooltip="" history="1" highlightClick="0" endSnd="0"/>
              </a:rPr>
              <a:t>化學分解來實現的。</a:t>
            </a:r>
            <a:r>
              <a:t>SiH₄(g) → Si(s) + 2H₂(g) </a:t>
            </a: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3" invalidUrl="" action="" tgtFrame="" tooltip="" history="1" highlightClick="0" endSnd="0"/>
              </a:rPr>
              <a:t>CVD</a:t>
            </a:r>
            <a:r>
              <a:t> at 500-800°C。</a:t>
            </a:r>
          </a:p>
        </p:txBody>
      </p:sp>
      <p:sp>
        <p:nvSpPr>
          <p:cNvPr id="374" name="Freeform 16"/>
          <p:cNvSpPr/>
          <p:nvPr/>
        </p:nvSpPr>
        <p:spPr>
          <a:xfrm>
            <a:off x="523768" y="7521381"/>
            <a:ext cx="373882" cy="373882"/>
          </a:xfrm>
          <a:prstGeom prst="ellipse">
            <a:avLst/>
          </a:prstGeom>
          <a:gradFill>
            <a:gsLst>
              <a:gs pos="0">
                <a:srgbClr val="F600FE"/>
              </a:gs>
              <a:gs pos="25000">
                <a:srgbClr val="C900FE"/>
              </a:gs>
              <a:gs pos="50000">
                <a:srgbClr val="A136FF"/>
              </a:gs>
              <a:gs pos="75000">
                <a:srgbClr val="5142F0"/>
              </a:gs>
              <a:gs pos="100000">
                <a:srgbClr val="0033D9"/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75" name="TextBox 18"/>
          <p:cNvSpPr txBox="1"/>
          <p:nvPr/>
        </p:nvSpPr>
        <p:spPr>
          <a:xfrm>
            <a:off x="1028700" y="6995099"/>
            <a:ext cx="5389851" cy="1923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just">
              <a:lnSpc>
                <a:spcPts val="10200"/>
              </a:lnSpc>
              <a:defRPr b="1" sz="7300"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pPr>
            <a:r>
              <a:t>光阻劑</a:t>
            </a:r>
          </a:p>
          <a:p>
            <a:pPr algn="just">
              <a:lnSpc>
                <a:spcPts val="4800"/>
              </a:lnSpc>
              <a:defRPr b="1" sz="4800"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pPr>
            <a:r>
              <a:t>Photoresist</a:t>
            </a:r>
          </a:p>
        </p:txBody>
      </p:sp>
      <p:grpSp>
        <p:nvGrpSpPr>
          <p:cNvPr id="380" name="Group 19"/>
          <p:cNvGrpSpPr/>
          <p:nvPr/>
        </p:nvGrpSpPr>
        <p:grpSpPr>
          <a:xfrm>
            <a:off x="11409318" y="167137"/>
            <a:ext cx="6878682" cy="4608083"/>
            <a:chOff x="0" y="0"/>
            <a:chExt cx="6878681" cy="4608081"/>
          </a:xfrm>
        </p:grpSpPr>
        <p:sp>
          <p:nvSpPr>
            <p:cNvPr id="376" name="Freeform 20"/>
            <p:cNvSpPr/>
            <p:nvPr/>
          </p:nvSpPr>
          <p:spPr>
            <a:xfrm>
              <a:off x="-1" y="-1"/>
              <a:ext cx="6878683" cy="4608083"/>
            </a:xfrm>
            <a:prstGeom prst="rect">
              <a:avLst/>
            </a:prstGeom>
            <a:blipFill rotWithShape="1">
              <a:blip r:embed="rId4"/>
              <a:srcRect l="0" t="0" r="0" b="0"/>
              <a:stretch>
                <a:fillRect/>
              </a:stretch>
            </a:blip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77" name="TextBox 21"/>
            <p:cNvSpPr txBox="1"/>
            <p:nvPr/>
          </p:nvSpPr>
          <p:spPr>
            <a:xfrm rot="1376246">
              <a:off x="1941685" y="1876739"/>
              <a:ext cx="490677" cy="2702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lnSpc>
                  <a:spcPts val="2200"/>
                </a:lnSpc>
                <a:defRPr b="1" sz="1600">
                  <a:solidFill>
                    <a:srgbClr val="FFFFFF"/>
                  </a:solidFill>
                  <a:latin typeface="Noto Sans T Chinese Bold"/>
                  <a:ea typeface="Noto Sans T Chinese Bold"/>
                  <a:cs typeface="Noto Sans T Chinese Bold"/>
                  <a:sym typeface="Noto Sans T Chinese Bold"/>
                </a:defRPr>
              </a:lvl1pPr>
            </a:lstStyle>
            <a:p>
              <a:pPr/>
              <a:r>
                <a:t>SiO₂</a:t>
              </a:r>
            </a:p>
          </p:txBody>
        </p:sp>
        <p:sp>
          <p:nvSpPr>
            <p:cNvPr id="378" name="TextBox 22"/>
            <p:cNvSpPr txBox="1"/>
            <p:nvPr/>
          </p:nvSpPr>
          <p:spPr>
            <a:xfrm rot="1563745">
              <a:off x="1582306" y="2547499"/>
              <a:ext cx="1084068" cy="2702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lnSpc>
                  <a:spcPts val="2200"/>
                </a:lnSpc>
                <a:defRPr b="1" sz="1600">
                  <a:solidFill>
                    <a:srgbClr val="FFFFFF"/>
                  </a:solidFill>
                  <a:latin typeface="Noto Sans T Chinese Bold"/>
                  <a:ea typeface="Noto Sans T Chinese Bold"/>
                  <a:cs typeface="Noto Sans T Chinese Bold"/>
                  <a:sym typeface="Noto Sans T Chinese Bold"/>
                </a:defRPr>
              </a:lvl1pPr>
            </a:lstStyle>
            <a:p>
              <a:pPr/>
              <a:r>
                <a:t>Substrate</a:t>
              </a:r>
            </a:p>
          </p:txBody>
        </p:sp>
        <p:sp>
          <p:nvSpPr>
            <p:cNvPr id="379" name="TextBox 23"/>
            <p:cNvSpPr txBox="1"/>
            <p:nvPr/>
          </p:nvSpPr>
          <p:spPr>
            <a:xfrm rot="1220273">
              <a:off x="1794082" y="1381588"/>
              <a:ext cx="1208005" cy="2702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lnSpc>
                  <a:spcPts val="2200"/>
                </a:lnSpc>
                <a:defRPr b="1" sz="1600">
                  <a:solidFill>
                    <a:srgbClr val="FFFFFF"/>
                  </a:solidFill>
                  <a:latin typeface="Noto Sans T Chinese Bold"/>
                  <a:ea typeface="Noto Sans T Chinese Bold"/>
                  <a:cs typeface="Noto Sans T Chinese Bold"/>
                  <a:sym typeface="Noto Sans T Chinese Bold"/>
                </a:defRPr>
              </a:lvl1pPr>
            </a:lstStyle>
            <a:p>
              <a:pPr/>
              <a:r>
                <a:t>Poly Silicon </a:t>
              </a:r>
            </a:p>
          </p:txBody>
        </p:sp>
      </p:grpSp>
      <p:sp>
        <p:nvSpPr>
          <p:cNvPr id="381" name="Freeform 24"/>
          <p:cNvSpPr/>
          <p:nvPr/>
        </p:nvSpPr>
        <p:spPr>
          <a:xfrm>
            <a:off x="11409318" y="5072619"/>
            <a:ext cx="6682519" cy="5259537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82" name="TextBox 25"/>
          <p:cNvSpPr txBox="1"/>
          <p:nvPr/>
        </p:nvSpPr>
        <p:spPr>
          <a:xfrm rot="1557773">
            <a:off x="13190642" y="6636597"/>
            <a:ext cx="1227885" cy="2702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200"/>
              </a:lnSpc>
              <a:defRPr b="1" sz="1600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Photoresist</a:t>
            </a:r>
          </a:p>
        </p:txBody>
      </p:sp>
      <p:sp>
        <p:nvSpPr>
          <p:cNvPr id="383" name="TextBox 26"/>
          <p:cNvSpPr txBox="1"/>
          <p:nvPr/>
        </p:nvSpPr>
        <p:spPr>
          <a:xfrm rot="1712596">
            <a:off x="13355129" y="7538981"/>
            <a:ext cx="490677" cy="2702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200"/>
              </a:lnSpc>
              <a:defRPr b="1" sz="1600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SiO₂</a:t>
            </a:r>
          </a:p>
        </p:txBody>
      </p:sp>
      <p:sp>
        <p:nvSpPr>
          <p:cNvPr id="384" name="TextBox 27"/>
          <p:cNvSpPr txBox="1"/>
          <p:nvPr/>
        </p:nvSpPr>
        <p:spPr>
          <a:xfrm rot="1704641">
            <a:off x="13109239" y="7101127"/>
            <a:ext cx="1208006" cy="2702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200"/>
              </a:lnSpc>
              <a:defRPr b="1" sz="1600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Poly Silicon </a:t>
            </a:r>
          </a:p>
        </p:txBody>
      </p:sp>
      <p:sp>
        <p:nvSpPr>
          <p:cNvPr id="385" name="TextBox 28"/>
          <p:cNvSpPr txBox="1"/>
          <p:nvPr/>
        </p:nvSpPr>
        <p:spPr>
          <a:xfrm rot="1811816">
            <a:off x="12985044" y="8124858"/>
            <a:ext cx="1084068" cy="2702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200"/>
              </a:lnSpc>
              <a:defRPr b="1" sz="1600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Substrate</a:t>
            </a:r>
          </a:p>
        </p:txBody>
      </p:sp>
      <p:sp>
        <p:nvSpPr>
          <p:cNvPr id="386" name="TextBox 29"/>
          <p:cNvSpPr txBox="1"/>
          <p:nvPr/>
        </p:nvSpPr>
        <p:spPr>
          <a:xfrm>
            <a:off x="17259300" y="9680463"/>
            <a:ext cx="762376" cy="389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3200"/>
              </a:lnSpc>
              <a:defRPr sz="2200">
                <a:latin typeface="Noto Sans T Chinese"/>
                <a:ea typeface="Noto Sans T Chinese"/>
                <a:cs typeface="Noto Sans T Chinese"/>
                <a:sym typeface="Noto Sans T Chinese"/>
              </a:defRPr>
            </a:lvl1pPr>
          </a:lstStyle>
          <a:p>
            <a:pPr/>
            <a:r>
              <a:t>12/24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Freeform 3"/>
          <p:cNvSpPr/>
          <p:nvPr/>
        </p:nvSpPr>
        <p:spPr>
          <a:xfrm>
            <a:off x="0" y="10098929"/>
            <a:ext cx="9853056" cy="188072"/>
          </a:xfrm>
          <a:prstGeom prst="rect">
            <a:avLst/>
          </a:prstGeom>
          <a:gradFill>
            <a:gsLst>
              <a:gs pos="0">
                <a:srgbClr val="F600FE"/>
              </a:gs>
              <a:gs pos="25000">
                <a:srgbClr val="C900FE"/>
              </a:gs>
              <a:gs pos="50000">
                <a:srgbClr val="A136FF"/>
              </a:gs>
              <a:gs pos="75000">
                <a:srgbClr val="5142F0"/>
              </a:gs>
              <a:gs pos="100000">
                <a:srgbClr val="0033D9"/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89" name="Freeform 6"/>
          <p:cNvSpPr/>
          <p:nvPr/>
        </p:nvSpPr>
        <p:spPr>
          <a:xfrm>
            <a:off x="9853055" y="0"/>
            <a:ext cx="8434945" cy="167139"/>
          </a:xfrm>
          <a:prstGeom prst="rect">
            <a:avLst/>
          </a:prstGeom>
          <a:gradFill>
            <a:gsLst>
              <a:gs pos="0">
                <a:srgbClr val="F600FE"/>
              </a:gs>
              <a:gs pos="25000">
                <a:srgbClr val="C900FE"/>
              </a:gs>
              <a:gs pos="50000">
                <a:srgbClr val="A136FF"/>
              </a:gs>
              <a:gs pos="75000">
                <a:srgbClr val="5142F0"/>
              </a:gs>
              <a:gs pos="100000">
                <a:srgbClr val="0033D9"/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90" name="Freeform 9"/>
          <p:cNvSpPr/>
          <p:nvPr/>
        </p:nvSpPr>
        <p:spPr>
          <a:xfrm>
            <a:off x="523768" y="841758"/>
            <a:ext cx="373882" cy="373882"/>
          </a:xfrm>
          <a:prstGeom prst="ellipse">
            <a:avLst/>
          </a:prstGeom>
          <a:gradFill>
            <a:gsLst>
              <a:gs pos="0">
                <a:srgbClr val="F600FE"/>
              </a:gs>
              <a:gs pos="25000">
                <a:srgbClr val="C900FE"/>
              </a:gs>
              <a:gs pos="50000">
                <a:srgbClr val="A136FF"/>
              </a:gs>
              <a:gs pos="75000">
                <a:srgbClr val="5142F0"/>
              </a:gs>
              <a:gs pos="100000">
                <a:srgbClr val="0033D9"/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91" name="TextBox 11"/>
          <p:cNvSpPr txBox="1"/>
          <p:nvPr/>
        </p:nvSpPr>
        <p:spPr>
          <a:xfrm>
            <a:off x="1028700" y="315475"/>
            <a:ext cx="5389851" cy="19232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just">
              <a:lnSpc>
                <a:spcPts val="10200"/>
              </a:lnSpc>
              <a:defRPr b="1" sz="7300"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pPr>
            <a:r>
              <a:t>微影製程</a:t>
            </a:r>
          </a:p>
          <a:p>
            <a:pPr algn="just">
              <a:lnSpc>
                <a:spcPts val="4800"/>
              </a:lnSpc>
              <a:defRPr b="1" sz="4800"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pPr>
            <a:r>
              <a:t>Photolithography</a:t>
            </a:r>
          </a:p>
        </p:txBody>
      </p:sp>
      <p:sp>
        <p:nvSpPr>
          <p:cNvPr id="392" name="TextBox 12"/>
          <p:cNvSpPr txBox="1"/>
          <p:nvPr/>
        </p:nvSpPr>
        <p:spPr>
          <a:xfrm rot="1811816">
            <a:off x="11997370" y="5274186"/>
            <a:ext cx="826019" cy="207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z="1200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Substrate</a:t>
            </a:r>
          </a:p>
        </p:txBody>
      </p:sp>
      <p:sp>
        <p:nvSpPr>
          <p:cNvPr id="393" name="TextBox 13"/>
          <p:cNvSpPr txBox="1"/>
          <p:nvPr/>
        </p:nvSpPr>
        <p:spPr>
          <a:xfrm>
            <a:off x="1028700" y="3124748"/>
            <a:ext cx="6869594" cy="4953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600"/>
              </a:lnSpc>
              <a:defRPr b="1" sz="3000"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•曝光後烘烤  (顯影前)</a:t>
            </a:r>
          </a:p>
        </p:txBody>
      </p:sp>
      <p:sp>
        <p:nvSpPr>
          <p:cNvPr id="394" name="TextBox 14"/>
          <p:cNvSpPr txBox="1"/>
          <p:nvPr/>
        </p:nvSpPr>
        <p:spPr>
          <a:xfrm>
            <a:off x="1028700" y="3753399"/>
            <a:ext cx="6869594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600"/>
              </a:lnSpc>
              <a:defRPr b="1" sz="3000"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•顯影</a:t>
            </a:r>
          </a:p>
        </p:txBody>
      </p:sp>
      <p:sp>
        <p:nvSpPr>
          <p:cNvPr id="395" name="TextBox 15"/>
          <p:cNvSpPr txBox="1"/>
          <p:nvPr/>
        </p:nvSpPr>
        <p:spPr>
          <a:xfrm>
            <a:off x="1028700" y="4382049"/>
            <a:ext cx="6869594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600"/>
              </a:lnSpc>
              <a:defRPr b="1" sz="3000"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•硬烘烤  (顯影後)</a:t>
            </a:r>
          </a:p>
        </p:txBody>
      </p:sp>
      <p:sp>
        <p:nvSpPr>
          <p:cNvPr id="396" name="TextBox 16"/>
          <p:cNvSpPr txBox="1"/>
          <p:nvPr/>
        </p:nvSpPr>
        <p:spPr>
          <a:xfrm>
            <a:off x="1028700" y="2496098"/>
            <a:ext cx="6869594" cy="4953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600"/>
              </a:lnSpc>
              <a:defRPr b="1" sz="3000"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•曝光</a:t>
            </a:r>
          </a:p>
        </p:txBody>
      </p:sp>
      <p:sp>
        <p:nvSpPr>
          <p:cNvPr id="397" name="Freeform 18"/>
          <p:cNvSpPr/>
          <p:nvPr/>
        </p:nvSpPr>
        <p:spPr>
          <a:xfrm>
            <a:off x="523768" y="5536432"/>
            <a:ext cx="373882" cy="373882"/>
          </a:xfrm>
          <a:prstGeom prst="ellipse">
            <a:avLst/>
          </a:prstGeom>
          <a:gradFill>
            <a:gsLst>
              <a:gs pos="0">
                <a:srgbClr val="F600FE"/>
              </a:gs>
              <a:gs pos="25000">
                <a:srgbClr val="C900FE"/>
              </a:gs>
              <a:gs pos="50000">
                <a:srgbClr val="A136FF"/>
              </a:gs>
              <a:gs pos="75000">
                <a:srgbClr val="5142F0"/>
              </a:gs>
              <a:gs pos="100000">
                <a:srgbClr val="0033D9"/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98" name="TextBox 20"/>
          <p:cNvSpPr txBox="1"/>
          <p:nvPr/>
        </p:nvSpPr>
        <p:spPr>
          <a:xfrm>
            <a:off x="1028700" y="5010150"/>
            <a:ext cx="5389851" cy="1923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just">
              <a:lnSpc>
                <a:spcPts val="10200"/>
              </a:lnSpc>
              <a:defRPr b="1" sz="7300"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pPr>
            <a:r>
              <a:t>蝕刻</a:t>
            </a:r>
          </a:p>
          <a:p>
            <a:pPr algn="just">
              <a:lnSpc>
                <a:spcPts val="4800"/>
              </a:lnSpc>
              <a:defRPr b="1" sz="4800"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pPr>
            <a:r>
              <a:t>Etching</a:t>
            </a:r>
          </a:p>
        </p:txBody>
      </p:sp>
      <p:sp>
        <p:nvSpPr>
          <p:cNvPr id="399" name="TextBox 21"/>
          <p:cNvSpPr txBox="1"/>
          <p:nvPr/>
        </p:nvSpPr>
        <p:spPr>
          <a:xfrm>
            <a:off x="1028700" y="7902061"/>
            <a:ext cx="6869594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600"/>
              </a:lnSpc>
              <a:defRPr b="1" sz="3000"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•乾式蝕刻  (電漿蝕刻)</a:t>
            </a:r>
          </a:p>
        </p:txBody>
      </p:sp>
      <p:sp>
        <p:nvSpPr>
          <p:cNvPr id="400" name="TextBox 22"/>
          <p:cNvSpPr txBox="1"/>
          <p:nvPr/>
        </p:nvSpPr>
        <p:spPr>
          <a:xfrm>
            <a:off x="1028700" y="8530711"/>
            <a:ext cx="6869594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600"/>
              </a:lnSpc>
              <a:defRPr b="1" sz="3000"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•透過溶劑或電漿清除剩餘光阻</a:t>
            </a:r>
          </a:p>
        </p:txBody>
      </p:sp>
      <p:sp>
        <p:nvSpPr>
          <p:cNvPr id="401" name="TextBox 23"/>
          <p:cNvSpPr txBox="1"/>
          <p:nvPr/>
        </p:nvSpPr>
        <p:spPr>
          <a:xfrm>
            <a:off x="1028700" y="7273411"/>
            <a:ext cx="6869594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600"/>
              </a:lnSpc>
              <a:defRPr b="1" sz="3000"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•濕式蝕刻  (↑3μm 製程 )</a:t>
            </a:r>
          </a:p>
        </p:txBody>
      </p:sp>
      <p:sp>
        <p:nvSpPr>
          <p:cNvPr id="402" name="TextBox 24"/>
          <p:cNvSpPr txBox="1"/>
          <p:nvPr/>
        </p:nvSpPr>
        <p:spPr>
          <a:xfrm>
            <a:off x="1028700" y="9159361"/>
            <a:ext cx="6869594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600"/>
              </a:lnSpc>
              <a:defRPr b="1" sz="3000"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•三步驟 : 蝕刻、沖洗、旋乾</a:t>
            </a:r>
          </a:p>
        </p:txBody>
      </p:sp>
      <p:grpSp>
        <p:nvGrpSpPr>
          <p:cNvPr id="406" name="Group 25"/>
          <p:cNvGrpSpPr/>
          <p:nvPr/>
        </p:nvGrpSpPr>
        <p:grpSpPr>
          <a:xfrm>
            <a:off x="6201162" y="4987673"/>
            <a:ext cx="6374633" cy="5299327"/>
            <a:chOff x="0" y="0"/>
            <a:chExt cx="6374632" cy="5299326"/>
          </a:xfrm>
        </p:grpSpPr>
        <p:sp>
          <p:nvSpPr>
            <p:cNvPr id="403" name="Freeform 26"/>
            <p:cNvSpPr/>
            <p:nvPr/>
          </p:nvSpPr>
          <p:spPr>
            <a:xfrm>
              <a:off x="0" y="-1"/>
              <a:ext cx="6374633" cy="5299328"/>
            </a:xfrm>
            <a:prstGeom prst="rect">
              <a:avLst/>
            </a:prstGeom>
            <a:blipFill rotWithShape="1">
              <a:blip r:embed="rId2"/>
              <a:srcRect l="0" t="0" r="0" b="0"/>
              <a:stretch>
                <a:fillRect/>
              </a:stretch>
            </a:blip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404" name="Freeform 27"/>
            <p:cNvSpPr/>
            <p:nvPr/>
          </p:nvSpPr>
          <p:spPr>
            <a:xfrm rot="20315912">
              <a:off x="64628" y="1565879"/>
              <a:ext cx="701729" cy="486825"/>
            </a:xfrm>
            <a:prstGeom prst="rect">
              <a:avLst/>
            </a:prstGeom>
            <a:blipFill rotWithShape="1">
              <a:blip r:embed="rId3"/>
              <a:srcRect l="0" t="0" r="0" b="0"/>
              <a:stretch>
                <a:fillRect/>
              </a:stretch>
            </a:blip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405" name="Freeform 28"/>
            <p:cNvSpPr/>
            <p:nvPr/>
          </p:nvSpPr>
          <p:spPr>
            <a:xfrm rot="20315912">
              <a:off x="631889" y="3589582"/>
              <a:ext cx="701730" cy="486825"/>
            </a:xfrm>
            <a:prstGeom prst="rect">
              <a:avLst/>
            </a:prstGeom>
            <a:blipFill rotWithShape="1">
              <a:blip r:embed="rId3"/>
              <a:srcRect l="0" t="0" r="0" b="0"/>
              <a:stretch>
                <a:fillRect/>
              </a:stretch>
            </a:blip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410" name="Group 29"/>
          <p:cNvGrpSpPr/>
          <p:nvPr/>
        </p:nvGrpSpPr>
        <p:grpSpPr>
          <a:xfrm>
            <a:off x="12438736" y="5993538"/>
            <a:ext cx="5849265" cy="4293297"/>
            <a:chOff x="0" y="0"/>
            <a:chExt cx="5849263" cy="4293296"/>
          </a:xfrm>
        </p:grpSpPr>
        <p:sp>
          <p:nvSpPr>
            <p:cNvPr id="407" name="Freeform 30"/>
            <p:cNvSpPr/>
            <p:nvPr/>
          </p:nvSpPr>
          <p:spPr>
            <a:xfrm>
              <a:off x="0" y="0"/>
              <a:ext cx="5849264" cy="4293297"/>
            </a:xfrm>
            <a:prstGeom prst="rect">
              <a:avLst/>
            </a:prstGeom>
            <a:blipFill rotWithShape="1">
              <a:blip r:embed="rId4"/>
              <a:srcRect l="0" t="0" r="0" b="0"/>
              <a:stretch>
                <a:fillRect/>
              </a:stretch>
            </a:blip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408" name="Freeform 31"/>
            <p:cNvSpPr/>
            <p:nvPr/>
          </p:nvSpPr>
          <p:spPr>
            <a:xfrm rot="20315912">
              <a:off x="109239" y="1173670"/>
              <a:ext cx="600703" cy="416738"/>
            </a:xfrm>
            <a:prstGeom prst="rect">
              <a:avLst/>
            </a:prstGeom>
            <a:blipFill rotWithShape="1">
              <a:blip r:embed="rId3"/>
              <a:srcRect l="0" t="0" r="0" b="0"/>
              <a:stretch>
                <a:fillRect/>
              </a:stretch>
            </a:blip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409" name="Freeform 32"/>
            <p:cNvSpPr/>
            <p:nvPr/>
          </p:nvSpPr>
          <p:spPr>
            <a:xfrm rot="20315912">
              <a:off x="1335761" y="2515566"/>
              <a:ext cx="600703" cy="416738"/>
            </a:xfrm>
            <a:prstGeom prst="rect">
              <a:avLst/>
            </a:prstGeom>
            <a:blipFill rotWithShape="1">
              <a:blip r:embed="rId3"/>
              <a:srcRect l="0" t="0" r="0" b="0"/>
              <a:stretch>
                <a:fillRect/>
              </a:stretch>
            </a:blip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sp>
        <p:nvSpPr>
          <p:cNvPr id="411" name="TextBox 33"/>
          <p:cNvSpPr txBox="1"/>
          <p:nvPr/>
        </p:nvSpPr>
        <p:spPr>
          <a:xfrm rot="1189885">
            <a:off x="11942597" y="2369981"/>
            <a:ext cx="480258" cy="2310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900"/>
              </a:lnSpc>
              <a:defRPr b="1" sz="1300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Mask</a:t>
            </a:r>
          </a:p>
        </p:txBody>
      </p:sp>
      <p:sp>
        <p:nvSpPr>
          <p:cNvPr id="412" name="TextBox 34"/>
          <p:cNvSpPr txBox="1"/>
          <p:nvPr/>
        </p:nvSpPr>
        <p:spPr>
          <a:xfrm rot="1557773">
            <a:off x="11974728" y="4097837"/>
            <a:ext cx="935603" cy="207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z="1200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Photoresist</a:t>
            </a:r>
          </a:p>
        </p:txBody>
      </p:sp>
      <p:sp>
        <p:nvSpPr>
          <p:cNvPr id="413" name="TextBox 35"/>
          <p:cNvSpPr txBox="1"/>
          <p:nvPr/>
        </p:nvSpPr>
        <p:spPr>
          <a:xfrm rot="1712596">
            <a:off x="12204150" y="4599912"/>
            <a:ext cx="373878" cy="207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z="1200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SiO₂</a:t>
            </a:r>
          </a:p>
        </p:txBody>
      </p:sp>
      <p:sp>
        <p:nvSpPr>
          <p:cNvPr id="414" name="TextBox 36"/>
          <p:cNvSpPr txBox="1"/>
          <p:nvPr/>
        </p:nvSpPr>
        <p:spPr>
          <a:xfrm rot="1704641">
            <a:off x="12005890" y="4386409"/>
            <a:ext cx="920455" cy="207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z="1200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Poly Silicon </a:t>
            </a:r>
          </a:p>
        </p:txBody>
      </p:sp>
      <p:sp>
        <p:nvSpPr>
          <p:cNvPr id="415" name="TextBox 37"/>
          <p:cNvSpPr txBox="1"/>
          <p:nvPr/>
        </p:nvSpPr>
        <p:spPr>
          <a:xfrm rot="1811816">
            <a:off x="11978519" y="4939161"/>
            <a:ext cx="826019" cy="207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z="1200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Substrate</a:t>
            </a:r>
          </a:p>
        </p:txBody>
      </p:sp>
      <p:sp>
        <p:nvSpPr>
          <p:cNvPr id="416" name="Freeform 38"/>
          <p:cNvSpPr/>
          <p:nvPr/>
        </p:nvSpPr>
        <p:spPr>
          <a:xfrm rot="5400000">
            <a:off x="13146695" y="3110115"/>
            <a:ext cx="1544887" cy="384305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17" name="Freeform 39"/>
          <p:cNvSpPr/>
          <p:nvPr/>
        </p:nvSpPr>
        <p:spPr>
          <a:xfrm rot="5400000">
            <a:off x="11509661" y="2819636"/>
            <a:ext cx="1312299" cy="384305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18" name="Freeform 40"/>
          <p:cNvSpPr/>
          <p:nvPr/>
        </p:nvSpPr>
        <p:spPr>
          <a:xfrm>
            <a:off x="10372414" y="1220631"/>
            <a:ext cx="5405185" cy="5045071"/>
          </a:xfrm>
          <a:prstGeom prst="rect">
            <a:avLst/>
          </a:prstGeom>
          <a:blipFill>
            <a:blip r:embed="rId6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19" name="Freeform 41"/>
          <p:cNvSpPr/>
          <p:nvPr/>
        </p:nvSpPr>
        <p:spPr>
          <a:xfrm rot="5400000">
            <a:off x="11184180" y="800689"/>
            <a:ext cx="1979991" cy="384305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20" name="Freeform 42"/>
          <p:cNvSpPr/>
          <p:nvPr/>
        </p:nvSpPr>
        <p:spPr>
          <a:xfrm rot="5400000">
            <a:off x="12533603" y="1196229"/>
            <a:ext cx="2771070" cy="384305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21" name="Freeform 43"/>
          <p:cNvSpPr/>
          <p:nvPr/>
        </p:nvSpPr>
        <p:spPr>
          <a:xfrm rot="5400000">
            <a:off x="12001118" y="3274805"/>
            <a:ext cx="329383" cy="384305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22" name="Freeform 44"/>
          <p:cNvSpPr/>
          <p:nvPr/>
        </p:nvSpPr>
        <p:spPr>
          <a:xfrm rot="5400000">
            <a:off x="13733930" y="3827724"/>
            <a:ext cx="370417" cy="384305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23" name="TextBox 45"/>
          <p:cNvSpPr txBox="1"/>
          <p:nvPr/>
        </p:nvSpPr>
        <p:spPr>
          <a:xfrm rot="1627529">
            <a:off x="11974774" y="4131000"/>
            <a:ext cx="1013955" cy="220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800"/>
              </a:lnSpc>
              <a:defRPr b="1" sz="1300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Photoresist</a:t>
            </a:r>
          </a:p>
        </p:txBody>
      </p:sp>
      <p:sp>
        <p:nvSpPr>
          <p:cNvPr id="424" name="TextBox 46"/>
          <p:cNvSpPr txBox="1"/>
          <p:nvPr/>
        </p:nvSpPr>
        <p:spPr>
          <a:xfrm rot="1704641">
            <a:off x="11955904" y="4390475"/>
            <a:ext cx="1060177" cy="220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800"/>
              </a:lnSpc>
              <a:defRPr b="1" sz="1300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Poly Silicon </a:t>
            </a:r>
          </a:p>
        </p:txBody>
      </p:sp>
      <p:sp>
        <p:nvSpPr>
          <p:cNvPr id="425" name="TextBox 47"/>
          <p:cNvSpPr txBox="1"/>
          <p:nvPr/>
        </p:nvSpPr>
        <p:spPr>
          <a:xfrm rot="1811816">
            <a:off x="11908776" y="4979142"/>
            <a:ext cx="1084068" cy="220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800"/>
              </a:lnSpc>
              <a:defRPr b="1" sz="1300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Substrate</a:t>
            </a:r>
          </a:p>
        </p:txBody>
      </p:sp>
      <p:sp>
        <p:nvSpPr>
          <p:cNvPr id="426" name="TextBox 48"/>
          <p:cNvSpPr txBox="1"/>
          <p:nvPr/>
        </p:nvSpPr>
        <p:spPr>
          <a:xfrm rot="1193115">
            <a:off x="11849593" y="2356170"/>
            <a:ext cx="569892" cy="2702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200"/>
              </a:lnSpc>
              <a:defRPr b="1" sz="1600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Mask</a:t>
            </a:r>
          </a:p>
        </p:txBody>
      </p:sp>
      <p:sp>
        <p:nvSpPr>
          <p:cNvPr id="427" name="TextBox 49"/>
          <p:cNvSpPr txBox="1"/>
          <p:nvPr/>
        </p:nvSpPr>
        <p:spPr>
          <a:xfrm rot="1712596">
            <a:off x="12249234" y="4630962"/>
            <a:ext cx="401943" cy="2208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800"/>
              </a:lnSpc>
              <a:defRPr b="1" sz="1300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SiO₂</a:t>
            </a:r>
          </a:p>
        </p:txBody>
      </p:sp>
      <p:sp>
        <p:nvSpPr>
          <p:cNvPr id="428" name="TextBox 50"/>
          <p:cNvSpPr txBox="1"/>
          <p:nvPr/>
        </p:nvSpPr>
        <p:spPr>
          <a:xfrm rot="2013851">
            <a:off x="9175157" y="6375737"/>
            <a:ext cx="773345" cy="171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defRPr b="1" sz="1000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Photoresist</a:t>
            </a:r>
          </a:p>
        </p:txBody>
      </p:sp>
      <p:sp>
        <p:nvSpPr>
          <p:cNvPr id="429" name="TextBox 51"/>
          <p:cNvSpPr txBox="1"/>
          <p:nvPr/>
        </p:nvSpPr>
        <p:spPr>
          <a:xfrm rot="2082935">
            <a:off x="9180067" y="6695905"/>
            <a:ext cx="771700" cy="171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defRPr b="1" sz="1000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Poly Silicon </a:t>
            </a:r>
          </a:p>
        </p:txBody>
      </p:sp>
      <p:sp>
        <p:nvSpPr>
          <p:cNvPr id="430" name="TextBox 52"/>
          <p:cNvSpPr txBox="1"/>
          <p:nvPr/>
        </p:nvSpPr>
        <p:spPr>
          <a:xfrm rot="2218629">
            <a:off x="9387591" y="6975880"/>
            <a:ext cx="287078" cy="1714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defRPr b="1" sz="1000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SiO₂</a:t>
            </a:r>
          </a:p>
        </p:txBody>
      </p:sp>
      <p:sp>
        <p:nvSpPr>
          <p:cNvPr id="431" name="TextBox 53"/>
          <p:cNvSpPr txBox="1"/>
          <p:nvPr/>
        </p:nvSpPr>
        <p:spPr>
          <a:xfrm rot="2312135">
            <a:off x="9200326" y="7401434"/>
            <a:ext cx="662282" cy="1714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defRPr b="1" sz="1000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Substrate</a:t>
            </a:r>
          </a:p>
        </p:txBody>
      </p:sp>
      <p:sp>
        <p:nvSpPr>
          <p:cNvPr id="432" name="TextBox 54"/>
          <p:cNvSpPr txBox="1"/>
          <p:nvPr/>
        </p:nvSpPr>
        <p:spPr>
          <a:xfrm rot="1838267">
            <a:off x="15331358" y="6909249"/>
            <a:ext cx="773345" cy="1714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defRPr b="1" sz="1000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Photoresist</a:t>
            </a:r>
          </a:p>
        </p:txBody>
      </p:sp>
      <p:sp>
        <p:nvSpPr>
          <p:cNvPr id="433" name="TextBox 55"/>
          <p:cNvSpPr txBox="1"/>
          <p:nvPr/>
        </p:nvSpPr>
        <p:spPr>
          <a:xfrm rot="1885014">
            <a:off x="15329801" y="7183829"/>
            <a:ext cx="771700" cy="1714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defRPr b="1" sz="1000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Poly Silicon </a:t>
            </a:r>
          </a:p>
        </p:txBody>
      </p:sp>
      <p:sp>
        <p:nvSpPr>
          <p:cNvPr id="434" name="TextBox 56"/>
          <p:cNvSpPr txBox="1"/>
          <p:nvPr/>
        </p:nvSpPr>
        <p:spPr>
          <a:xfrm rot="1977546">
            <a:off x="15524237" y="7412653"/>
            <a:ext cx="287078" cy="1714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defRPr b="1" sz="1000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SiO₂</a:t>
            </a:r>
          </a:p>
        </p:txBody>
      </p:sp>
      <p:sp>
        <p:nvSpPr>
          <p:cNvPr id="435" name="TextBox 57"/>
          <p:cNvSpPr txBox="1"/>
          <p:nvPr/>
        </p:nvSpPr>
        <p:spPr>
          <a:xfrm rot="2066356">
            <a:off x="15263162" y="7738792"/>
            <a:ext cx="662282" cy="1714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defRPr b="1" sz="1000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Substrate</a:t>
            </a:r>
          </a:p>
        </p:txBody>
      </p:sp>
      <p:sp>
        <p:nvSpPr>
          <p:cNvPr id="436" name="TextBox 58"/>
          <p:cNvSpPr txBox="1"/>
          <p:nvPr/>
        </p:nvSpPr>
        <p:spPr>
          <a:xfrm>
            <a:off x="17259300" y="9680463"/>
            <a:ext cx="762376" cy="389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3200"/>
              </a:lnSpc>
              <a:defRPr sz="2200">
                <a:latin typeface="Noto Sans T Chinese"/>
                <a:ea typeface="Noto Sans T Chinese"/>
                <a:cs typeface="Noto Sans T Chinese"/>
                <a:sym typeface="Noto Sans T Chinese"/>
              </a:defRPr>
            </a:lvl1pPr>
          </a:lstStyle>
          <a:p>
            <a:pPr/>
            <a:r>
              <a:t>13/24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Freeform 3"/>
          <p:cNvSpPr/>
          <p:nvPr/>
        </p:nvSpPr>
        <p:spPr>
          <a:xfrm>
            <a:off x="0" y="10098929"/>
            <a:ext cx="9853056" cy="188072"/>
          </a:xfrm>
          <a:prstGeom prst="rect">
            <a:avLst/>
          </a:prstGeom>
          <a:gradFill>
            <a:gsLst>
              <a:gs pos="0">
                <a:srgbClr val="F600FE"/>
              </a:gs>
              <a:gs pos="25000">
                <a:srgbClr val="C900FE"/>
              </a:gs>
              <a:gs pos="50000">
                <a:srgbClr val="A136FF"/>
              </a:gs>
              <a:gs pos="75000">
                <a:srgbClr val="5142F0"/>
              </a:gs>
              <a:gs pos="100000">
                <a:srgbClr val="0033D9"/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39" name="Freeform 6"/>
          <p:cNvSpPr/>
          <p:nvPr/>
        </p:nvSpPr>
        <p:spPr>
          <a:xfrm>
            <a:off x="9853055" y="0"/>
            <a:ext cx="8434945" cy="167139"/>
          </a:xfrm>
          <a:prstGeom prst="rect">
            <a:avLst/>
          </a:prstGeom>
          <a:gradFill>
            <a:gsLst>
              <a:gs pos="0">
                <a:srgbClr val="F600FE"/>
              </a:gs>
              <a:gs pos="25000">
                <a:srgbClr val="C900FE"/>
              </a:gs>
              <a:gs pos="50000">
                <a:srgbClr val="A136FF"/>
              </a:gs>
              <a:gs pos="75000">
                <a:srgbClr val="5142F0"/>
              </a:gs>
              <a:gs pos="100000">
                <a:srgbClr val="0033D9"/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40" name="Freeform 9"/>
          <p:cNvSpPr/>
          <p:nvPr/>
        </p:nvSpPr>
        <p:spPr>
          <a:xfrm>
            <a:off x="523768" y="841758"/>
            <a:ext cx="373882" cy="373882"/>
          </a:xfrm>
          <a:prstGeom prst="ellipse">
            <a:avLst/>
          </a:prstGeom>
          <a:gradFill>
            <a:gsLst>
              <a:gs pos="0">
                <a:srgbClr val="F600FE"/>
              </a:gs>
              <a:gs pos="25000">
                <a:srgbClr val="C900FE"/>
              </a:gs>
              <a:gs pos="50000">
                <a:srgbClr val="A136FF"/>
              </a:gs>
              <a:gs pos="75000">
                <a:srgbClr val="5142F0"/>
              </a:gs>
              <a:gs pos="100000">
                <a:srgbClr val="0033D9"/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41" name="Freeform 11"/>
          <p:cNvSpPr/>
          <p:nvPr/>
        </p:nvSpPr>
        <p:spPr>
          <a:xfrm>
            <a:off x="11080711" y="594007"/>
            <a:ext cx="6442615" cy="4528008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42" name="Freeform 12"/>
          <p:cNvSpPr/>
          <p:nvPr/>
        </p:nvSpPr>
        <p:spPr>
          <a:xfrm rot="21531597">
            <a:off x="10667100" y="5189232"/>
            <a:ext cx="6806854" cy="5030551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43" name="AutoShape 13"/>
          <p:cNvSpPr/>
          <p:nvPr/>
        </p:nvSpPr>
        <p:spPr>
          <a:xfrm>
            <a:off x="12405760" y="186184"/>
            <a:ext cx="46172" cy="2608247"/>
          </a:xfrm>
          <a:prstGeom prst="line">
            <a:avLst/>
          </a:prstGeom>
          <a:ln w="38100">
            <a:solidFill>
              <a:srgbClr val="FF66C4"/>
            </a:solidFill>
            <a:prstDash val="sysDash"/>
            <a:headEnd type="oval"/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444" name="AutoShape 14"/>
          <p:cNvSpPr/>
          <p:nvPr/>
        </p:nvSpPr>
        <p:spPr>
          <a:xfrm>
            <a:off x="12698613" y="186187"/>
            <a:ext cx="1" cy="2033906"/>
          </a:xfrm>
          <a:prstGeom prst="line">
            <a:avLst/>
          </a:prstGeom>
          <a:ln w="38100">
            <a:solidFill>
              <a:srgbClr val="FF66C4"/>
            </a:solidFill>
            <a:prstDash val="sysDash"/>
            <a:headEnd type="oval"/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445" name="AutoShape 15"/>
          <p:cNvSpPr/>
          <p:nvPr/>
        </p:nvSpPr>
        <p:spPr>
          <a:xfrm>
            <a:off x="12960514" y="186188"/>
            <a:ext cx="1" cy="1436303"/>
          </a:xfrm>
          <a:prstGeom prst="line">
            <a:avLst/>
          </a:prstGeom>
          <a:ln w="38100">
            <a:solidFill>
              <a:srgbClr val="FF66C4"/>
            </a:solidFill>
            <a:prstDash val="sysDash"/>
            <a:headEnd type="oval"/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446" name="AutoShape 16"/>
          <p:cNvSpPr/>
          <p:nvPr/>
        </p:nvSpPr>
        <p:spPr>
          <a:xfrm>
            <a:off x="13222415" y="186188"/>
            <a:ext cx="1" cy="1436303"/>
          </a:xfrm>
          <a:prstGeom prst="line">
            <a:avLst/>
          </a:prstGeom>
          <a:ln w="38100">
            <a:solidFill>
              <a:srgbClr val="FF66C4"/>
            </a:solidFill>
            <a:prstDash val="sysDash"/>
            <a:headEnd type="oval"/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447" name="AutoShape 17"/>
          <p:cNvSpPr/>
          <p:nvPr/>
        </p:nvSpPr>
        <p:spPr>
          <a:xfrm>
            <a:off x="13476494" y="186188"/>
            <a:ext cx="1" cy="1436303"/>
          </a:xfrm>
          <a:prstGeom prst="line">
            <a:avLst/>
          </a:prstGeom>
          <a:ln w="38100">
            <a:solidFill>
              <a:srgbClr val="FF66C4"/>
            </a:solidFill>
            <a:prstDash val="sysDash"/>
            <a:headEnd type="oval"/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448" name="AutoShape 18"/>
          <p:cNvSpPr/>
          <p:nvPr/>
        </p:nvSpPr>
        <p:spPr>
          <a:xfrm>
            <a:off x="13722754" y="186188"/>
            <a:ext cx="1" cy="1436303"/>
          </a:xfrm>
          <a:prstGeom prst="line">
            <a:avLst/>
          </a:prstGeom>
          <a:ln w="38100">
            <a:solidFill>
              <a:srgbClr val="FF66C4"/>
            </a:solidFill>
            <a:prstDash val="sysDash"/>
            <a:headEnd type="oval"/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449" name="AutoShape 19"/>
          <p:cNvSpPr/>
          <p:nvPr/>
        </p:nvSpPr>
        <p:spPr>
          <a:xfrm>
            <a:off x="13953368" y="186188"/>
            <a:ext cx="1" cy="1436303"/>
          </a:xfrm>
          <a:prstGeom prst="line">
            <a:avLst/>
          </a:prstGeom>
          <a:ln w="38100">
            <a:solidFill>
              <a:srgbClr val="FF66C4"/>
            </a:solidFill>
            <a:prstDash val="sysDash"/>
            <a:headEnd type="oval"/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450" name="AutoShape 20"/>
          <p:cNvSpPr/>
          <p:nvPr/>
        </p:nvSpPr>
        <p:spPr>
          <a:xfrm>
            <a:off x="14189110" y="186188"/>
            <a:ext cx="1" cy="1436303"/>
          </a:xfrm>
          <a:prstGeom prst="line">
            <a:avLst/>
          </a:prstGeom>
          <a:ln w="38100">
            <a:solidFill>
              <a:srgbClr val="FF66C4"/>
            </a:solidFill>
            <a:prstDash val="sysDash"/>
            <a:headEnd type="oval"/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451" name="AutoShape 21"/>
          <p:cNvSpPr/>
          <p:nvPr/>
        </p:nvSpPr>
        <p:spPr>
          <a:xfrm>
            <a:off x="14435368" y="186188"/>
            <a:ext cx="1" cy="1436303"/>
          </a:xfrm>
          <a:prstGeom prst="line">
            <a:avLst/>
          </a:prstGeom>
          <a:ln w="38100">
            <a:solidFill>
              <a:srgbClr val="FF66C4"/>
            </a:solidFill>
            <a:prstDash val="sysDash"/>
            <a:headEnd type="oval"/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452" name="AutoShape 22"/>
          <p:cNvSpPr/>
          <p:nvPr/>
        </p:nvSpPr>
        <p:spPr>
          <a:xfrm>
            <a:off x="14673804" y="186188"/>
            <a:ext cx="1" cy="1436303"/>
          </a:xfrm>
          <a:prstGeom prst="line">
            <a:avLst/>
          </a:prstGeom>
          <a:ln w="38100">
            <a:solidFill>
              <a:srgbClr val="FF66C4"/>
            </a:solidFill>
            <a:prstDash val="sysDash"/>
            <a:headEnd type="oval"/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453" name="AutoShape 23"/>
          <p:cNvSpPr/>
          <p:nvPr/>
        </p:nvSpPr>
        <p:spPr>
          <a:xfrm>
            <a:off x="14904420" y="186188"/>
            <a:ext cx="1" cy="1436303"/>
          </a:xfrm>
          <a:prstGeom prst="line">
            <a:avLst/>
          </a:prstGeom>
          <a:ln w="38100">
            <a:solidFill>
              <a:srgbClr val="FF66C4"/>
            </a:solidFill>
            <a:prstDash val="sysDash"/>
            <a:headEnd type="oval"/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454" name="AutoShape 24"/>
          <p:cNvSpPr/>
          <p:nvPr/>
        </p:nvSpPr>
        <p:spPr>
          <a:xfrm>
            <a:off x="15127214" y="186188"/>
            <a:ext cx="1" cy="2144901"/>
          </a:xfrm>
          <a:prstGeom prst="line">
            <a:avLst/>
          </a:prstGeom>
          <a:ln w="38100">
            <a:solidFill>
              <a:srgbClr val="FF66C4"/>
            </a:solidFill>
            <a:prstDash val="sysDash"/>
            <a:headEnd type="oval"/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455" name="AutoShape 25"/>
          <p:cNvSpPr/>
          <p:nvPr/>
        </p:nvSpPr>
        <p:spPr>
          <a:xfrm>
            <a:off x="15396937" y="186668"/>
            <a:ext cx="1" cy="2144419"/>
          </a:xfrm>
          <a:prstGeom prst="line">
            <a:avLst/>
          </a:prstGeom>
          <a:ln w="38100">
            <a:solidFill>
              <a:srgbClr val="FF66C4"/>
            </a:solidFill>
            <a:prstDash val="sysDash"/>
            <a:headEnd type="oval"/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456" name="AutoShape 26"/>
          <p:cNvSpPr/>
          <p:nvPr/>
        </p:nvSpPr>
        <p:spPr>
          <a:xfrm>
            <a:off x="15666659" y="186668"/>
            <a:ext cx="1" cy="2607763"/>
          </a:xfrm>
          <a:prstGeom prst="line">
            <a:avLst/>
          </a:prstGeom>
          <a:ln w="38100">
            <a:solidFill>
              <a:srgbClr val="FF66C4"/>
            </a:solidFill>
            <a:prstDash val="sysDash"/>
            <a:headEnd type="oval"/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457" name="AutoShape 27"/>
          <p:cNvSpPr/>
          <p:nvPr/>
        </p:nvSpPr>
        <p:spPr>
          <a:xfrm>
            <a:off x="15947178" y="186187"/>
            <a:ext cx="1" cy="2836844"/>
          </a:xfrm>
          <a:prstGeom prst="line">
            <a:avLst/>
          </a:prstGeom>
          <a:ln w="38100">
            <a:solidFill>
              <a:srgbClr val="FF66C4"/>
            </a:solidFill>
            <a:prstDash val="sysDash"/>
            <a:headEnd type="oval"/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458" name="AutoShape 28"/>
          <p:cNvSpPr/>
          <p:nvPr/>
        </p:nvSpPr>
        <p:spPr>
          <a:xfrm>
            <a:off x="12121926" y="185849"/>
            <a:ext cx="1" cy="1594631"/>
          </a:xfrm>
          <a:prstGeom prst="line">
            <a:avLst/>
          </a:prstGeom>
          <a:ln w="38100">
            <a:solidFill>
              <a:srgbClr val="FF66C4"/>
            </a:solidFill>
            <a:prstDash val="sysDash"/>
            <a:headEnd type="oval"/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459" name="AutoShape 29"/>
          <p:cNvSpPr/>
          <p:nvPr/>
        </p:nvSpPr>
        <p:spPr>
          <a:xfrm>
            <a:off x="11827229" y="185849"/>
            <a:ext cx="1" cy="1809739"/>
          </a:xfrm>
          <a:prstGeom prst="line">
            <a:avLst/>
          </a:prstGeom>
          <a:ln w="38100">
            <a:solidFill>
              <a:srgbClr val="FF66C4"/>
            </a:solidFill>
            <a:prstDash val="sysDash"/>
            <a:headEnd type="oval"/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460" name="AutoShape 30"/>
          <p:cNvSpPr/>
          <p:nvPr/>
        </p:nvSpPr>
        <p:spPr>
          <a:xfrm>
            <a:off x="16225779" y="185849"/>
            <a:ext cx="1" cy="2607763"/>
          </a:xfrm>
          <a:prstGeom prst="line">
            <a:avLst/>
          </a:prstGeom>
          <a:ln w="38100">
            <a:solidFill>
              <a:srgbClr val="FF66C4"/>
            </a:solidFill>
            <a:prstDash val="sysDash"/>
            <a:headEnd type="oval"/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461" name="AutoShape 31"/>
          <p:cNvSpPr/>
          <p:nvPr/>
        </p:nvSpPr>
        <p:spPr>
          <a:xfrm>
            <a:off x="16487679" y="185849"/>
            <a:ext cx="1" cy="2672163"/>
          </a:xfrm>
          <a:prstGeom prst="line">
            <a:avLst/>
          </a:prstGeom>
          <a:ln w="38100">
            <a:solidFill>
              <a:srgbClr val="FF66C4"/>
            </a:solidFill>
            <a:prstDash val="sysDash"/>
            <a:headEnd type="oval"/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462" name="AutoShape 32"/>
          <p:cNvSpPr/>
          <p:nvPr/>
        </p:nvSpPr>
        <p:spPr>
          <a:xfrm>
            <a:off x="16773045" y="185849"/>
            <a:ext cx="1" cy="2837182"/>
          </a:xfrm>
          <a:prstGeom prst="line">
            <a:avLst/>
          </a:prstGeom>
          <a:ln w="38100">
            <a:solidFill>
              <a:srgbClr val="FF66C4"/>
            </a:solidFill>
            <a:prstDash val="sysDash"/>
            <a:headEnd type="oval"/>
            <a:tailEnd type="triangle"/>
          </a:ln>
        </p:spPr>
        <p:txBody>
          <a:bodyPr lIns="45719" rIns="45719"/>
          <a:lstStyle/>
          <a:p>
            <a:pPr/>
          </a:p>
        </p:txBody>
      </p:sp>
      <p:sp>
        <p:nvSpPr>
          <p:cNvPr id="463" name="TextBox 33"/>
          <p:cNvSpPr txBox="1"/>
          <p:nvPr/>
        </p:nvSpPr>
        <p:spPr>
          <a:xfrm>
            <a:off x="1430256" y="3410523"/>
            <a:ext cx="8547945" cy="68795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just">
              <a:lnSpc>
                <a:spcPts val="3400"/>
              </a:lnSpc>
              <a:defRPr b="1" sz="2400">
                <a:solidFill>
                  <a:srgbClr val="10101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pP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4" invalidUrl="" action="" tgtFrame="" tooltip="" history="1" highlightClick="0" endSnd="0"/>
              </a:rPr>
              <a:t>本質半導體</a:t>
            </a:r>
            <a:r>
              <a:rPr b="0">
                <a:latin typeface="Noto Sans T Chinese"/>
                <a:ea typeface="Noto Sans T Chinese"/>
                <a:cs typeface="Noto Sans T Chinese"/>
                <a:sym typeface="Noto Sans T Chinese"/>
              </a:rPr>
              <a:t>引入雜質，使其屬性被改變的過程，大致是將特定離子在電場裡加速，並用磁場來改變方向，這可以穩定的把離子嵌入到固體材料中，摻雜後若有較多的電子稱n+。</a:t>
            </a:r>
            <a:endParaRPr b="0">
              <a:latin typeface="Noto Sans T Chinese"/>
              <a:ea typeface="Noto Sans T Chinese"/>
              <a:cs typeface="Noto Sans T Chinese"/>
              <a:sym typeface="Noto Sans T Chinese"/>
            </a:endParaRPr>
          </a:p>
          <a:p>
            <a:pPr algn="just">
              <a:lnSpc>
                <a:spcPts val="3400"/>
              </a:lnSpc>
            </a:pPr>
            <a:endParaRPr>
              <a:latin typeface="Noto Sans T Chinese"/>
              <a:ea typeface="Noto Sans T Chinese"/>
              <a:cs typeface="Noto Sans T Chinese"/>
              <a:sym typeface="Noto Sans T Chinese"/>
            </a:endParaRPr>
          </a:p>
          <a:p>
            <a:pPr algn="just">
              <a:lnSpc>
                <a:spcPts val="3400"/>
              </a:lnSpc>
              <a:defRPr sz="2400">
                <a:solidFill>
                  <a:srgbClr val="101010"/>
                </a:solidFill>
                <a:latin typeface="Noto Sans T Chinese"/>
                <a:ea typeface="Noto Sans T Chinese"/>
                <a:cs typeface="Noto Sans T Chinese"/>
                <a:sym typeface="Noto Sans T Chinese"/>
              </a:defRPr>
            </a:pPr>
            <a:r>
              <a:t>- </a:t>
            </a:r>
            <a:r>
              <a:rPr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4" invalidUrl="" action="" tgtFrame="" tooltip="" history="1" highlightClick="0" endSnd="0"/>
              </a:rPr>
              <a:t>本質</a:t>
            </a:r>
            <a:r>
              <a:t>半導體 (無雜質)</a:t>
            </a:r>
          </a:p>
          <a:p>
            <a:pPr algn="just">
              <a:lnSpc>
                <a:spcPts val="3400"/>
              </a:lnSpc>
            </a:pPr>
          </a:p>
          <a:p>
            <a:pPr algn="just">
              <a:lnSpc>
                <a:spcPts val="3400"/>
              </a:lnSpc>
            </a:pPr>
          </a:p>
          <a:p>
            <a:pPr algn="just">
              <a:lnSpc>
                <a:spcPts val="3400"/>
              </a:lnSpc>
            </a:pPr>
          </a:p>
          <a:p>
            <a:pPr algn="just">
              <a:lnSpc>
                <a:spcPts val="3400"/>
              </a:lnSpc>
            </a:pPr>
          </a:p>
          <a:p>
            <a:pPr algn="just">
              <a:lnSpc>
                <a:spcPts val="3400"/>
              </a:lnSpc>
            </a:pPr>
          </a:p>
          <a:p>
            <a:pPr algn="just">
              <a:lnSpc>
                <a:spcPts val="3400"/>
              </a:lnSpc>
              <a:defRPr sz="2400">
                <a:solidFill>
                  <a:srgbClr val="101010"/>
                </a:solidFill>
                <a:latin typeface="Noto Sans T Chinese"/>
                <a:ea typeface="Noto Sans T Chinese"/>
                <a:cs typeface="Noto Sans T Chinese"/>
                <a:sym typeface="Noto Sans T Chinese"/>
              </a:defRPr>
            </a:pPr>
            <a:r>
              <a:t>- </a:t>
            </a:r>
            <a:r>
              <a:rPr b="1"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N型</a:t>
            </a:r>
            <a:r>
              <a:t>半導體 (5A族，磷P) Layout: NIMP</a:t>
            </a:r>
          </a:p>
          <a:p>
            <a:pPr algn="just">
              <a:lnSpc>
                <a:spcPts val="3400"/>
              </a:lnSpc>
              <a:defRPr sz="2400">
                <a:solidFill>
                  <a:srgbClr val="101010"/>
                </a:solidFill>
                <a:latin typeface="Noto Sans T Chinese"/>
                <a:ea typeface="Noto Sans T Chinese"/>
                <a:cs typeface="Noto Sans T Chinese"/>
                <a:sym typeface="Noto Sans T Chinese"/>
              </a:defRPr>
            </a:pPr>
            <a:r>
              <a:t>  特徵:  多電子 nₙ</a:t>
            </a:r>
          </a:p>
          <a:p>
            <a:pPr algn="just">
              <a:lnSpc>
                <a:spcPts val="3400"/>
              </a:lnSpc>
            </a:pPr>
          </a:p>
          <a:p>
            <a:pPr algn="just">
              <a:lnSpc>
                <a:spcPts val="3400"/>
              </a:lnSpc>
              <a:defRPr sz="2400">
                <a:solidFill>
                  <a:srgbClr val="101010"/>
                </a:solidFill>
                <a:latin typeface="Noto Sans T Chinese"/>
                <a:ea typeface="Noto Sans T Chinese"/>
                <a:cs typeface="Noto Sans T Chinese"/>
                <a:sym typeface="Noto Sans T Chinese"/>
              </a:defRPr>
            </a:pPr>
            <a:r>
              <a:t>- </a:t>
            </a:r>
            <a:r>
              <a:rPr b="1"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P型</a:t>
            </a:r>
            <a:r>
              <a:t>半導體  (3A族，硼B) Layout: PIMP</a:t>
            </a:r>
          </a:p>
          <a:p>
            <a:pPr algn="just">
              <a:lnSpc>
                <a:spcPts val="3400"/>
              </a:lnSpc>
              <a:defRPr sz="2400">
                <a:solidFill>
                  <a:srgbClr val="101010"/>
                </a:solidFill>
                <a:latin typeface="Noto Sans T Chinese"/>
                <a:ea typeface="Noto Sans T Chinese"/>
                <a:cs typeface="Noto Sans T Chinese"/>
                <a:sym typeface="Noto Sans T Chinese"/>
              </a:defRPr>
            </a:pPr>
            <a:r>
              <a:t>   特徵: 多電洞 pₚ</a:t>
            </a:r>
          </a:p>
        </p:txBody>
      </p:sp>
      <p:sp>
        <p:nvSpPr>
          <p:cNvPr id="464" name="Freeform 34"/>
          <p:cNvSpPr/>
          <p:nvPr/>
        </p:nvSpPr>
        <p:spPr>
          <a:xfrm>
            <a:off x="4143804" y="5866603"/>
            <a:ext cx="1839148" cy="337178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65" name="Freeform 35"/>
          <p:cNvSpPr/>
          <p:nvPr/>
        </p:nvSpPr>
        <p:spPr>
          <a:xfrm>
            <a:off x="4344377" y="9571163"/>
            <a:ext cx="2347137" cy="413629"/>
          </a:xfrm>
          <a:prstGeom prst="rect">
            <a:avLst/>
          </a:prstGeom>
          <a:blipFill>
            <a:blip r:embed="rId6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66" name="Freeform 36"/>
          <p:cNvSpPr/>
          <p:nvPr/>
        </p:nvSpPr>
        <p:spPr>
          <a:xfrm>
            <a:off x="4143804" y="8291945"/>
            <a:ext cx="2719702" cy="383958"/>
          </a:xfrm>
          <a:prstGeom prst="rect">
            <a:avLst/>
          </a:prstGeom>
          <a:blipFill>
            <a:blip r:embed="rId7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67" name="TextBox 37"/>
          <p:cNvSpPr txBox="1"/>
          <p:nvPr/>
        </p:nvSpPr>
        <p:spPr>
          <a:xfrm>
            <a:off x="1028700" y="315475"/>
            <a:ext cx="5389851" cy="19232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just">
              <a:lnSpc>
                <a:spcPts val="10200"/>
              </a:lnSpc>
              <a:defRPr b="1" sz="7300"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pPr>
            <a:r>
              <a:t>離子佈植</a:t>
            </a:r>
          </a:p>
          <a:p>
            <a:pPr algn="just">
              <a:lnSpc>
                <a:spcPts val="4800"/>
              </a:lnSpc>
              <a:defRPr b="1" sz="4800"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pPr>
            <a:r>
              <a:t>Ion Implantation</a:t>
            </a:r>
          </a:p>
        </p:txBody>
      </p:sp>
      <p:sp>
        <p:nvSpPr>
          <p:cNvPr id="468" name="TextBox 38"/>
          <p:cNvSpPr txBox="1"/>
          <p:nvPr/>
        </p:nvSpPr>
        <p:spPr>
          <a:xfrm>
            <a:off x="1028700" y="2784905"/>
            <a:ext cx="8115300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600"/>
              </a:lnSpc>
              <a:defRPr b="1" sz="3000"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•摻雜 (Doping)</a:t>
            </a:r>
          </a:p>
        </p:txBody>
      </p:sp>
      <p:sp>
        <p:nvSpPr>
          <p:cNvPr id="469" name="TextBox 39"/>
          <p:cNvSpPr txBox="1"/>
          <p:nvPr/>
        </p:nvSpPr>
        <p:spPr>
          <a:xfrm>
            <a:off x="6074838" y="5828503"/>
            <a:ext cx="3069163" cy="3428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just">
              <a:lnSpc>
                <a:spcPts val="2800"/>
              </a:lnSpc>
              <a:defRPr sz="2000">
                <a:solidFill>
                  <a:srgbClr val="101010"/>
                </a:solidFill>
                <a:latin typeface="Noto Sans T Chinese"/>
                <a:ea typeface="Noto Sans T Chinese"/>
                <a:cs typeface="Noto Sans T Chinese"/>
                <a:sym typeface="Noto Sans T Chinese"/>
              </a:defRPr>
            </a:lvl1pPr>
          </a:lstStyle>
          <a:p>
            <a:pPr/>
            <a:r>
              <a:t>= 1.5 x 10¹⁰ carriers / cm³</a:t>
            </a:r>
          </a:p>
        </p:txBody>
      </p:sp>
      <p:sp>
        <p:nvSpPr>
          <p:cNvPr id="470" name="TextBox 40"/>
          <p:cNvSpPr txBox="1"/>
          <p:nvPr/>
        </p:nvSpPr>
        <p:spPr>
          <a:xfrm>
            <a:off x="1608965" y="6536259"/>
            <a:ext cx="5270184" cy="8808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just">
              <a:lnSpc>
                <a:spcPts val="3400"/>
              </a:lnSpc>
              <a:defRPr sz="2400">
                <a:solidFill>
                  <a:srgbClr val="101010"/>
                </a:solidFill>
                <a:latin typeface="Noto Sans T Chinese"/>
                <a:ea typeface="Noto Sans T Chinese"/>
                <a:cs typeface="Noto Sans T Chinese"/>
                <a:sym typeface="Noto Sans T Chinese"/>
              </a:defRPr>
            </a:pPr>
            <a:r>
              <a:t>nₙ : n型電子濃度   pₚ :p型電洞濃度   </a:t>
            </a:r>
          </a:p>
          <a:p>
            <a:pPr algn="just">
              <a:lnSpc>
                <a:spcPts val="3400"/>
              </a:lnSpc>
              <a:defRPr sz="2400">
                <a:solidFill>
                  <a:srgbClr val="101010"/>
                </a:solidFill>
                <a:latin typeface="Noto Sans T Chinese"/>
                <a:ea typeface="Noto Sans T Chinese"/>
                <a:cs typeface="Noto Sans T Chinese"/>
                <a:sym typeface="Noto Sans T Chinese"/>
              </a:defRPr>
            </a:pPr>
            <a:r>
              <a:t>nᵢ :單位體積內自由電子與電洞數 </a:t>
            </a:r>
          </a:p>
        </p:txBody>
      </p:sp>
      <p:sp>
        <p:nvSpPr>
          <p:cNvPr id="471" name="TextBox 41"/>
          <p:cNvSpPr txBox="1"/>
          <p:nvPr/>
        </p:nvSpPr>
        <p:spPr>
          <a:xfrm rot="1009578">
            <a:off x="13128230" y="1987352"/>
            <a:ext cx="917748" cy="207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z="1200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Photoresist</a:t>
            </a:r>
          </a:p>
        </p:txBody>
      </p:sp>
      <p:sp>
        <p:nvSpPr>
          <p:cNvPr id="472" name="TextBox 42"/>
          <p:cNvSpPr txBox="1"/>
          <p:nvPr/>
        </p:nvSpPr>
        <p:spPr>
          <a:xfrm rot="976650">
            <a:off x="13130283" y="2464659"/>
            <a:ext cx="913559" cy="207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z="1200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Poly Silicon </a:t>
            </a:r>
          </a:p>
        </p:txBody>
      </p:sp>
      <p:sp>
        <p:nvSpPr>
          <p:cNvPr id="473" name="TextBox 43"/>
          <p:cNvSpPr txBox="1"/>
          <p:nvPr/>
        </p:nvSpPr>
        <p:spPr>
          <a:xfrm rot="1116264">
            <a:off x="13420011" y="2914873"/>
            <a:ext cx="334453" cy="207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z="1200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SiO₂</a:t>
            </a:r>
          </a:p>
        </p:txBody>
      </p:sp>
      <p:sp>
        <p:nvSpPr>
          <p:cNvPr id="474" name="TextBox 44"/>
          <p:cNvSpPr txBox="1"/>
          <p:nvPr/>
        </p:nvSpPr>
        <p:spPr>
          <a:xfrm rot="1186097">
            <a:off x="13231357" y="3744721"/>
            <a:ext cx="773787" cy="207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z="1200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Substrate</a:t>
            </a:r>
          </a:p>
        </p:txBody>
      </p:sp>
      <p:sp>
        <p:nvSpPr>
          <p:cNvPr id="475" name="TextBox 45"/>
          <p:cNvSpPr txBox="1"/>
          <p:nvPr/>
        </p:nvSpPr>
        <p:spPr>
          <a:xfrm rot="1186097">
            <a:off x="12126402" y="2983164"/>
            <a:ext cx="882290" cy="207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z="1200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Source (n+)</a:t>
            </a:r>
          </a:p>
        </p:txBody>
      </p:sp>
      <p:sp>
        <p:nvSpPr>
          <p:cNvPr id="476" name="TextBox 46"/>
          <p:cNvSpPr txBox="1"/>
          <p:nvPr/>
        </p:nvSpPr>
        <p:spPr>
          <a:xfrm rot="1186097">
            <a:off x="14441112" y="3744721"/>
            <a:ext cx="882290" cy="207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z="1200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Drain (n+)</a:t>
            </a:r>
          </a:p>
        </p:txBody>
      </p:sp>
      <p:sp>
        <p:nvSpPr>
          <p:cNvPr id="477" name="TextBox 47"/>
          <p:cNvSpPr txBox="1"/>
          <p:nvPr/>
        </p:nvSpPr>
        <p:spPr>
          <a:xfrm rot="1522546">
            <a:off x="12556539" y="7100118"/>
            <a:ext cx="913559" cy="207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z="1200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Poly Silicon </a:t>
            </a:r>
          </a:p>
        </p:txBody>
      </p:sp>
      <p:sp>
        <p:nvSpPr>
          <p:cNvPr id="478" name="TextBox 48"/>
          <p:cNvSpPr txBox="1"/>
          <p:nvPr/>
        </p:nvSpPr>
        <p:spPr>
          <a:xfrm rot="1555494">
            <a:off x="12867702" y="7538361"/>
            <a:ext cx="334453" cy="207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z="1200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SiO₂</a:t>
            </a:r>
          </a:p>
        </p:txBody>
      </p:sp>
      <p:sp>
        <p:nvSpPr>
          <p:cNvPr id="479" name="TextBox 49"/>
          <p:cNvSpPr txBox="1"/>
          <p:nvPr/>
        </p:nvSpPr>
        <p:spPr>
          <a:xfrm rot="1606683">
            <a:off x="11681544" y="7449403"/>
            <a:ext cx="882289" cy="207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z="1200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Source (n+)</a:t>
            </a:r>
          </a:p>
        </p:txBody>
      </p:sp>
      <p:sp>
        <p:nvSpPr>
          <p:cNvPr id="480" name="TextBox 50"/>
          <p:cNvSpPr txBox="1"/>
          <p:nvPr/>
        </p:nvSpPr>
        <p:spPr>
          <a:xfrm rot="1642333">
            <a:off x="13894857" y="8569965"/>
            <a:ext cx="882290" cy="207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z="1200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Drain (n+)</a:t>
            </a:r>
          </a:p>
        </p:txBody>
      </p:sp>
      <p:sp>
        <p:nvSpPr>
          <p:cNvPr id="481" name="TextBox 51"/>
          <p:cNvSpPr txBox="1"/>
          <p:nvPr/>
        </p:nvSpPr>
        <p:spPr>
          <a:xfrm rot="1715779">
            <a:off x="12735974" y="8304433"/>
            <a:ext cx="773787" cy="207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z="1200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Substrate</a:t>
            </a:r>
          </a:p>
        </p:txBody>
      </p:sp>
      <p:sp>
        <p:nvSpPr>
          <p:cNvPr id="482" name="TextBox 52"/>
          <p:cNvSpPr txBox="1"/>
          <p:nvPr/>
        </p:nvSpPr>
        <p:spPr>
          <a:xfrm>
            <a:off x="17259300" y="9680463"/>
            <a:ext cx="762376" cy="389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3200"/>
              </a:lnSpc>
              <a:defRPr sz="2200">
                <a:latin typeface="Noto Sans T Chinese"/>
                <a:ea typeface="Noto Sans T Chinese"/>
                <a:cs typeface="Noto Sans T Chinese"/>
                <a:sym typeface="Noto Sans T Chinese"/>
              </a:defRPr>
            </a:lvl1pPr>
          </a:lstStyle>
          <a:p>
            <a:pPr/>
            <a:r>
              <a:t>14/24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Freeform 3"/>
          <p:cNvSpPr/>
          <p:nvPr/>
        </p:nvSpPr>
        <p:spPr>
          <a:xfrm>
            <a:off x="0" y="10098929"/>
            <a:ext cx="9853056" cy="188072"/>
          </a:xfrm>
          <a:prstGeom prst="rect">
            <a:avLst/>
          </a:prstGeom>
          <a:gradFill>
            <a:gsLst>
              <a:gs pos="0">
                <a:srgbClr val="F600FE"/>
              </a:gs>
              <a:gs pos="25000">
                <a:srgbClr val="C900FE"/>
              </a:gs>
              <a:gs pos="50000">
                <a:srgbClr val="A136FF"/>
              </a:gs>
              <a:gs pos="75000">
                <a:srgbClr val="5142F0"/>
              </a:gs>
              <a:gs pos="100000">
                <a:srgbClr val="0033D9"/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85" name="Freeform 6"/>
          <p:cNvSpPr/>
          <p:nvPr/>
        </p:nvSpPr>
        <p:spPr>
          <a:xfrm>
            <a:off x="9853055" y="0"/>
            <a:ext cx="8434945" cy="167139"/>
          </a:xfrm>
          <a:prstGeom prst="rect">
            <a:avLst/>
          </a:prstGeom>
          <a:gradFill>
            <a:gsLst>
              <a:gs pos="0">
                <a:srgbClr val="F600FE"/>
              </a:gs>
              <a:gs pos="25000">
                <a:srgbClr val="C900FE"/>
              </a:gs>
              <a:gs pos="50000">
                <a:srgbClr val="A136FF"/>
              </a:gs>
              <a:gs pos="75000">
                <a:srgbClr val="5142F0"/>
              </a:gs>
              <a:gs pos="100000">
                <a:srgbClr val="0033D9"/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86" name="Freeform 9"/>
          <p:cNvSpPr/>
          <p:nvPr/>
        </p:nvSpPr>
        <p:spPr>
          <a:xfrm>
            <a:off x="523768" y="841758"/>
            <a:ext cx="373882" cy="373882"/>
          </a:xfrm>
          <a:prstGeom prst="ellipse">
            <a:avLst/>
          </a:prstGeom>
          <a:gradFill>
            <a:gsLst>
              <a:gs pos="0">
                <a:srgbClr val="F600FE"/>
              </a:gs>
              <a:gs pos="25000">
                <a:srgbClr val="C900FE"/>
              </a:gs>
              <a:gs pos="50000">
                <a:srgbClr val="A136FF"/>
              </a:gs>
              <a:gs pos="75000">
                <a:srgbClr val="5142F0"/>
              </a:gs>
              <a:gs pos="100000">
                <a:srgbClr val="0033D9"/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87" name="Freeform 11"/>
          <p:cNvSpPr/>
          <p:nvPr/>
        </p:nvSpPr>
        <p:spPr>
          <a:xfrm>
            <a:off x="10500083" y="-1"/>
            <a:ext cx="7787917" cy="527914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88" name="Freeform 12"/>
          <p:cNvSpPr/>
          <p:nvPr/>
        </p:nvSpPr>
        <p:spPr>
          <a:xfrm>
            <a:off x="10148552" y="4450358"/>
            <a:ext cx="7580674" cy="5836642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89" name="TextBox 13"/>
          <p:cNvSpPr txBox="1"/>
          <p:nvPr/>
        </p:nvSpPr>
        <p:spPr>
          <a:xfrm>
            <a:off x="1028700" y="315475"/>
            <a:ext cx="5389851" cy="19232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just">
              <a:lnSpc>
                <a:spcPts val="10200"/>
              </a:lnSpc>
              <a:defRPr b="1" sz="7300"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pPr>
            <a:r>
              <a:t>薄膜沉積</a:t>
            </a:r>
          </a:p>
          <a:p>
            <a:pPr algn="just">
              <a:lnSpc>
                <a:spcPts val="4800"/>
              </a:lnSpc>
              <a:defRPr b="1" sz="4800"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pPr>
            <a:r>
              <a:t>Deposition</a:t>
            </a:r>
          </a:p>
        </p:txBody>
      </p:sp>
      <p:sp>
        <p:nvSpPr>
          <p:cNvPr id="490" name="TextBox 14"/>
          <p:cNvSpPr txBox="1"/>
          <p:nvPr/>
        </p:nvSpPr>
        <p:spPr>
          <a:xfrm>
            <a:off x="1028700" y="2630043"/>
            <a:ext cx="6869594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600"/>
              </a:lnSpc>
              <a:defRPr b="1" sz="3000"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•Oxidation 氧化  (SiO₂ )</a:t>
            </a:r>
          </a:p>
        </p:txBody>
      </p:sp>
      <p:sp>
        <p:nvSpPr>
          <p:cNvPr id="491" name="TextBox 15"/>
          <p:cNvSpPr txBox="1"/>
          <p:nvPr/>
        </p:nvSpPr>
        <p:spPr>
          <a:xfrm>
            <a:off x="1458831" y="3207585"/>
            <a:ext cx="8394225" cy="8808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400"/>
              </a:lnSpc>
              <a:defRPr sz="2400">
                <a:solidFill>
                  <a:srgbClr val="101010"/>
                </a:solidFill>
                <a:latin typeface="Noto Sans T Chinese"/>
                <a:ea typeface="Noto Sans T Chinese"/>
                <a:cs typeface="Noto Sans T Chinese"/>
                <a:sym typeface="Noto Sans T Chinese"/>
              </a:defRPr>
            </a:lvl1pPr>
          </a:lstStyle>
          <a:p>
            <a:pPr/>
            <a:r>
              <a:t>為了在三個極上接上聯外金屬導線，要在上面開井窗，以爐管高溫烘烤方式在表面形成絕緣氧化層。</a:t>
            </a:r>
          </a:p>
        </p:txBody>
      </p:sp>
      <p:sp>
        <p:nvSpPr>
          <p:cNvPr id="492" name="TextBox 16"/>
          <p:cNvSpPr txBox="1"/>
          <p:nvPr/>
        </p:nvSpPr>
        <p:spPr>
          <a:xfrm>
            <a:off x="1028700" y="7140898"/>
            <a:ext cx="5541610" cy="2011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3900"/>
              </a:lnSpc>
              <a:defRPr b="1" sz="3000"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pPr>
            <a:r>
              <a:t>1. Vapor Prime 表面預處理</a:t>
            </a:r>
          </a:p>
          <a:p>
            <a:pPr>
              <a:lnSpc>
                <a:spcPts val="3900"/>
              </a:lnSpc>
              <a:defRPr b="1" sz="3000"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pPr>
            <a:r>
              <a:t>2. Spin Coat 旋轉塗佈</a:t>
            </a:r>
          </a:p>
          <a:p>
            <a:pPr>
              <a:lnSpc>
                <a:spcPts val="3900"/>
              </a:lnSpc>
              <a:defRPr b="1" sz="3000"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pPr>
            <a:r>
              <a:t>3. Soft bake 軟烘烤</a:t>
            </a:r>
          </a:p>
          <a:p>
            <a:pPr>
              <a:lnSpc>
                <a:spcPts val="3900"/>
              </a:lnSpc>
              <a:defRPr b="1" sz="3000"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pPr>
            <a:r>
              <a:t>4. Cooling 冷卻</a:t>
            </a:r>
          </a:p>
        </p:txBody>
      </p:sp>
      <p:sp>
        <p:nvSpPr>
          <p:cNvPr id="493" name="Freeform 18"/>
          <p:cNvSpPr/>
          <p:nvPr/>
        </p:nvSpPr>
        <p:spPr>
          <a:xfrm>
            <a:off x="523768" y="5384868"/>
            <a:ext cx="373882" cy="373882"/>
          </a:xfrm>
          <a:prstGeom prst="ellipse">
            <a:avLst/>
          </a:prstGeom>
          <a:gradFill>
            <a:gsLst>
              <a:gs pos="0">
                <a:srgbClr val="F600FE"/>
              </a:gs>
              <a:gs pos="25000">
                <a:srgbClr val="C900FE"/>
              </a:gs>
              <a:gs pos="50000">
                <a:srgbClr val="A136FF"/>
              </a:gs>
              <a:gs pos="75000">
                <a:srgbClr val="5142F0"/>
              </a:gs>
              <a:gs pos="100000">
                <a:srgbClr val="0033D9"/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94" name="TextBox 20"/>
          <p:cNvSpPr txBox="1"/>
          <p:nvPr/>
        </p:nvSpPr>
        <p:spPr>
          <a:xfrm>
            <a:off x="1028700" y="4858585"/>
            <a:ext cx="5389851" cy="19232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just">
              <a:lnSpc>
                <a:spcPts val="10200"/>
              </a:lnSpc>
              <a:defRPr b="1" sz="7300"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pPr>
            <a:r>
              <a:t>光阻劑</a:t>
            </a:r>
          </a:p>
          <a:p>
            <a:pPr algn="just">
              <a:lnSpc>
                <a:spcPts val="4800"/>
              </a:lnSpc>
              <a:defRPr b="1" sz="4800"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pPr>
            <a:r>
              <a:t>Photoresist</a:t>
            </a:r>
          </a:p>
        </p:txBody>
      </p:sp>
      <p:sp>
        <p:nvSpPr>
          <p:cNvPr id="495" name="TextBox 21"/>
          <p:cNvSpPr txBox="1"/>
          <p:nvPr/>
        </p:nvSpPr>
        <p:spPr>
          <a:xfrm rot="734747">
            <a:off x="13349958" y="2321470"/>
            <a:ext cx="913559" cy="207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z="1200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Poly Silicon </a:t>
            </a:r>
          </a:p>
        </p:txBody>
      </p:sp>
      <p:sp>
        <p:nvSpPr>
          <p:cNvPr id="496" name="TextBox 22"/>
          <p:cNvSpPr txBox="1"/>
          <p:nvPr/>
        </p:nvSpPr>
        <p:spPr>
          <a:xfrm rot="748804">
            <a:off x="13666682" y="2878500"/>
            <a:ext cx="334453" cy="207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z="1200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SiO₂</a:t>
            </a:r>
          </a:p>
        </p:txBody>
      </p:sp>
      <p:sp>
        <p:nvSpPr>
          <p:cNvPr id="497" name="TextBox 23"/>
          <p:cNvSpPr txBox="1"/>
          <p:nvPr/>
        </p:nvSpPr>
        <p:spPr>
          <a:xfrm rot="769290">
            <a:off x="12061219" y="3063517"/>
            <a:ext cx="882290" cy="207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z="1200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Source (n+)</a:t>
            </a:r>
          </a:p>
        </p:txBody>
      </p:sp>
      <p:sp>
        <p:nvSpPr>
          <p:cNvPr id="498" name="TextBox 24"/>
          <p:cNvSpPr txBox="1"/>
          <p:nvPr/>
        </p:nvSpPr>
        <p:spPr>
          <a:xfrm rot="811831">
            <a:off x="14922163" y="3718594"/>
            <a:ext cx="882290" cy="207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z="1200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Drain (n+)</a:t>
            </a:r>
          </a:p>
        </p:txBody>
      </p:sp>
      <p:sp>
        <p:nvSpPr>
          <p:cNvPr id="499" name="TextBox 25"/>
          <p:cNvSpPr txBox="1"/>
          <p:nvPr/>
        </p:nvSpPr>
        <p:spPr>
          <a:xfrm rot="843058">
            <a:off x="13447135" y="3809074"/>
            <a:ext cx="773787" cy="207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z="1200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Substrate</a:t>
            </a:r>
          </a:p>
        </p:txBody>
      </p:sp>
      <p:sp>
        <p:nvSpPr>
          <p:cNvPr id="500" name="TextBox 26"/>
          <p:cNvSpPr txBox="1"/>
          <p:nvPr/>
        </p:nvSpPr>
        <p:spPr>
          <a:xfrm rot="1073132">
            <a:off x="12732815" y="7260504"/>
            <a:ext cx="913559" cy="207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z="1200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Poly Silicon </a:t>
            </a:r>
          </a:p>
        </p:txBody>
      </p:sp>
      <p:sp>
        <p:nvSpPr>
          <p:cNvPr id="501" name="TextBox 27"/>
          <p:cNvSpPr txBox="1"/>
          <p:nvPr/>
        </p:nvSpPr>
        <p:spPr>
          <a:xfrm rot="1116925">
            <a:off x="13057027" y="7816849"/>
            <a:ext cx="334453" cy="207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z="1200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SiO₂</a:t>
            </a:r>
          </a:p>
        </p:txBody>
      </p:sp>
      <p:sp>
        <p:nvSpPr>
          <p:cNvPr id="502" name="TextBox 28"/>
          <p:cNvSpPr txBox="1"/>
          <p:nvPr/>
        </p:nvSpPr>
        <p:spPr>
          <a:xfrm rot="1047188">
            <a:off x="11611600" y="7896313"/>
            <a:ext cx="882290" cy="207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z="1200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Source (n+)</a:t>
            </a:r>
          </a:p>
        </p:txBody>
      </p:sp>
      <p:sp>
        <p:nvSpPr>
          <p:cNvPr id="503" name="TextBox 29"/>
          <p:cNvSpPr txBox="1"/>
          <p:nvPr/>
        </p:nvSpPr>
        <p:spPr>
          <a:xfrm rot="1049740">
            <a:off x="14152086" y="8726660"/>
            <a:ext cx="882290" cy="207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z="1200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Drain (n+)</a:t>
            </a:r>
          </a:p>
        </p:txBody>
      </p:sp>
      <p:sp>
        <p:nvSpPr>
          <p:cNvPr id="504" name="TextBox 30"/>
          <p:cNvSpPr txBox="1"/>
          <p:nvPr/>
        </p:nvSpPr>
        <p:spPr>
          <a:xfrm rot="1144818">
            <a:off x="12837393" y="8726699"/>
            <a:ext cx="773787" cy="207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z="1200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Substrate</a:t>
            </a:r>
          </a:p>
        </p:txBody>
      </p:sp>
      <p:sp>
        <p:nvSpPr>
          <p:cNvPr id="505" name="TextBox 31"/>
          <p:cNvSpPr txBox="1"/>
          <p:nvPr/>
        </p:nvSpPr>
        <p:spPr>
          <a:xfrm rot="890257">
            <a:off x="12693485" y="6188287"/>
            <a:ext cx="917748" cy="207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z="1200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Photoresist</a:t>
            </a:r>
          </a:p>
        </p:txBody>
      </p:sp>
      <p:sp>
        <p:nvSpPr>
          <p:cNvPr id="506" name="TextBox 32"/>
          <p:cNvSpPr txBox="1"/>
          <p:nvPr/>
        </p:nvSpPr>
        <p:spPr>
          <a:xfrm>
            <a:off x="17259300" y="9680463"/>
            <a:ext cx="762376" cy="389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3200"/>
              </a:lnSpc>
              <a:defRPr sz="2200">
                <a:latin typeface="Noto Sans T Chinese"/>
                <a:ea typeface="Noto Sans T Chinese"/>
                <a:cs typeface="Noto Sans T Chinese"/>
                <a:sym typeface="Noto Sans T Chinese"/>
              </a:defRPr>
            </a:lvl1pPr>
          </a:lstStyle>
          <a:p>
            <a:pPr/>
            <a:r>
              <a:t>15/24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Freeform 3"/>
          <p:cNvSpPr/>
          <p:nvPr/>
        </p:nvSpPr>
        <p:spPr>
          <a:xfrm>
            <a:off x="0" y="10098929"/>
            <a:ext cx="9853056" cy="188072"/>
          </a:xfrm>
          <a:prstGeom prst="rect">
            <a:avLst/>
          </a:prstGeom>
          <a:gradFill>
            <a:gsLst>
              <a:gs pos="0">
                <a:srgbClr val="F600FE"/>
              </a:gs>
              <a:gs pos="25000">
                <a:srgbClr val="C900FE"/>
              </a:gs>
              <a:gs pos="50000">
                <a:srgbClr val="A136FF"/>
              </a:gs>
              <a:gs pos="75000">
                <a:srgbClr val="5142F0"/>
              </a:gs>
              <a:gs pos="100000">
                <a:srgbClr val="0033D9"/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09" name="Freeform 6"/>
          <p:cNvSpPr/>
          <p:nvPr/>
        </p:nvSpPr>
        <p:spPr>
          <a:xfrm>
            <a:off x="9853055" y="0"/>
            <a:ext cx="8434945" cy="167139"/>
          </a:xfrm>
          <a:prstGeom prst="rect">
            <a:avLst/>
          </a:prstGeom>
          <a:gradFill>
            <a:gsLst>
              <a:gs pos="0">
                <a:srgbClr val="F600FE"/>
              </a:gs>
              <a:gs pos="25000">
                <a:srgbClr val="C900FE"/>
              </a:gs>
              <a:gs pos="50000">
                <a:srgbClr val="A136FF"/>
              </a:gs>
              <a:gs pos="75000">
                <a:srgbClr val="5142F0"/>
              </a:gs>
              <a:gs pos="100000">
                <a:srgbClr val="0033D9"/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10" name="Freeform 8"/>
          <p:cNvSpPr/>
          <p:nvPr/>
        </p:nvSpPr>
        <p:spPr>
          <a:xfrm>
            <a:off x="11682690" y="83568"/>
            <a:ext cx="4775676" cy="5059933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11" name="Freeform 9"/>
          <p:cNvSpPr/>
          <p:nvPr/>
        </p:nvSpPr>
        <p:spPr>
          <a:xfrm>
            <a:off x="11682690" y="5911027"/>
            <a:ext cx="4775676" cy="4375973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12" name="Freeform 10"/>
          <p:cNvSpPr/>
          <p:nvPr/>
        </p:nvSpPr>
        <p:spPr>
          <a:xfrm rot="20315912">
            <a:off x="11060393" y="8566374"/>
            <a:ext cx="701730" cy="486826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13" name="Freeform 11"/>
          <p:cNvSpPr/>
          <p:nvPr/>
        </p:nvSpPr>
        <p:spPr>
          <a:xfrm rot="5400000">
            <a:off x="12787194" y="1679926"/>
            <a:ext cx="3744158" cy="384305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14" name="Freeform 12"/>
          <p:cNvSpPr/>
          <p:nvPr/>
        </p:nvSpPr>
        <p:spPr>
          <a:xfrm rot="5400000">
            <a:off x="12290621" y="1079921"/>
            <a:ext cx="2544148" cy="384305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15" name="Freeform 13"/>
          <p:cNvSpPr/>
          <p:nvPr/>
        </p:nvSpPr>
        <p:spPr>
          <a:xfrm rot="5400000">
            <a:off x="11209463" y="1193102"/>
            <a:ext cx="2883376" cy="384305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16" name="Freeform 15"/>
          <p:cNvSpPr/>
          <p:nvPr/>
        </p:nvSpPr>
        <p:spPr>
          <a:xfrm>
            <a:off x="523768" y="841758"/>
            <a:ext cx="373882" cy="373882"/>
          </a:xfrm>
          <a:prstGeom prst="ellipse">
            <a:avLst/>
          </a:prstGeom>
          <a:gradFill>
            <a:gsLst>
              <a:gs pos="0">
                <a:srgbClr val="F600FE"/>
              </a:gs>
              <a:gs pos="25000">
                <a:srgbClr val="C900FE"/>
              </a:gs>
              <a:gs pos="50000">
                <a:srgbClr val="A136FF"/>
              </a:gs>
              <a:gs pos="75000">
                <a:srgbClr val="5142F0"/>
              </a:gs>
              <a:gs pos="100000">
                <a:srgbClr val="0033D9"/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17" name="TextBox 17"/>
          <p:cNvSpPr txBox="1"/>
          <p:nvPr/>
        </p:nvSpPr>
        <p:spPr>
          <a:xfrm>
            <a:off x="1028700" y="315475"/>
            <a:ext cx="5389851" cy="19232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just">
              <a:lnSpc>
                <a:spcPts val="10200"/>
              </a:lnSpc>
              <a:defRPr b="1" sz="7300"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pPr>
            <a:r>
              <a:t>微影製程</a:t>
            </a:r>
          </a:p>
          <a:p>
            <a:pPr algn="just">
              <a:lnSpc>
                <a:spcPts val="4800"/>
              </a:lnSpc>
              <a:defRPr b="1" sz="4800"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pPr>
            <a:r>
              <a:t>Photolithography</a:t>
            </a:r>
          </a:p>
        </p:txBody>
      </p:sp>
      <p:sp>
        <p:nvSpPr>
          <p:cNvPr id="518" name="TextBox 18"/>
          <p:cNvSpPr txBox="1"/>
          <p:nvPr/>
        </p:nvSpPr>
        <p:spPr>
          <a:xfrm>
            <a:off x="1028700" y="3124748"/>
            <a:ext cx="6869594" cy="4953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600"/>
              </a:lnSpc>
              <a:defRPr b="1" sz="3000"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•曝光後烘烤  (顯影前)</a:t>
            </a:r>
          </a:p>
        </p:txBody>
      </p:sp>
      <p:sp>
        <p:nvSpPr>
          <p:cNvPr id="519" name="TextBox 19"/>
          <p:cNvSpPr txBox="1"/>
          <p:nvPr/>
        </p:nvSpPr>
        <p:spPr>
          <a:xfrm>
            <a:off x="1028700" y="3753399"/>
            <a:ext cx="6869594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600"/>
              </a:lnSpc>
              <a:defRPr b="1" sz="3000"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•顯影</a:t>
            </a:r>
          </a:p>
        </p:txBody>
      </p:sp>
      <p:sp>
        <p:nvSpPr>
          <p:cNvPr id="520" name="TextBox 20"/>
          <p:cNvSpPr txBox="1"/>
          <p:nvPr/>
        </p:nvSpPr>
        <p:spPr>
          <a:xfrm>
            <a:off x="1028700" y="4382049"/>
            <a:ext cx="6869594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600"/>
              </a:lnSpc>
              <a:defRPr b="1" sz="3000"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•硬烘烤  (顯影後)</a:t>
            </a:r>
          </a:p>
        </p:txBody>
      </p:sp>
      <p:sp>
        <p:nvSpPr>
          <p:cNvPr id="521" name="TextBox 21"/>
          <p:cNvSpPr txBox="1"/>
          <p:nvPr/>
        </p:nvSpPr>
        <p:spPr>
          <a:xfrm>
            <a:off x="1028700" y="2496098"/>
            <a:ext cx="6869594" cy="4953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600"/>
              </a:lnSpc>
              <a:defRPr b="1" sz="3000"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•曝光</a:t>
            </a:r>
          </a:p>
        </p:txBody>
      </p:sp>
      <p:sp>
        <p:nvSpPr>
          <p:cNvPr id="522" name="Freeform 23"/>
          <p:cNvSpPr/>
          <p:nvPr/>
        </p:nvSpPr>
        <p:spPr>
          <a:xfrm>
            <a:off x="523768" y="5981036"/>
            <a:ext cx="373882" cy="373882"/>
          </a:xfrm>
          <a:prstGeom prst="ellipse">
            <a:avLst/>
          </a:prstGeom>
          <a:gradFill>
            <a:gsLst>
              <a:gs pos="0">
                <a:srgbClr val="F600FE"/>
              </a:gs>
              <a:gs pos="25000">
                <a:srgbClr val="C900FE"/>
              </a:gs>
              <a:gs pos="50000">
                <a:srgbClr val="A136FF"/>
              </a:gs>
              <a:gs pos="75000">
                <a:srgbClr val="5142F0"/>
              </a:gs>
              <a:gs pos="100000">
                <a:srgbClr val="0033D9"/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23" name="TextBox 25"/>
          <p:cNvSpPr txBox="1"/>
          <p:nvPr/>
        </p:nvSpPr>
        <p:spPr>
          <a:xfrm>
            <a:off x="1028700" y="5454751"/>
            <a:ext cx="5389851" cy="19232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just">
              <a:lnSpc>
                <a:spcPts val="10200"/>
              </a:lnSpc>
              <a:defRPr b="1" sz="7300"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pPr>
            <a:r>
              <a:t>剝除光阻</a:t>
            </a:r>
          </a:p>
          <a:p>
            <a:pPr algn="just">
              <a:lnSpc>
                <a:spcPts val="4800"/>
              </a:lnSpc>
              <a:defRPr b="1" sz="4800"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pPr>
            <a:r>
              <a:t>Striping</a:t>
            </a:r>
          </a:p>
        </p:txBody>
      </p:sp>
      <p:sp>
        <p:nvSpPr>
          <p:cNvPr id="524" name="TextBox 26"/>
          <p:cNvSpPr txBox="1"/>
          <p:nvPr/>
        </p:nvSpPr>
        <p:spPr>
          <a:xfrm>
            <a:off x="1028699" y="7632289"/>
            <a:ext cx="8824357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600"/>
              </a:lnSpc>
              <a:defRPr b="1" sz="3000"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•剝除未受光阻保護的金屬，留下未照射區。</a:t>
            </a:r>
          </a:p>
        </p:txBody>
      </p:sp>
      <p:sp>
        <p:nvSpPr>
          <p:cNvPr id="525" name="TextBox 27"/>
          <p:cNvSpPr txBox="1"/>
          <p:nvPr/>
        </p:nvSpPr>
        <p:spPr>
          <a:xfrm>
            <a:off x="1028700" y="8260939"/>
            <a:ext cx="6869594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600"/>
              </a:lnSpc>
              <a:defRPr b="1" sz="3000"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•NaOH (氫氧化鈉) 、 KOH (氫氧化鉀)</a:t>
            </a:r>
          </a:p>
        </p:txBody>
      </p:sp>
      <p:sp>
        <p:nvSpPr>
          <p:cNvPr id="526" name="TextBox 28"/>
          <p:cNvSpPr txBox="1"/>
          <p:nvPr/>
        </p:nvSpPr>
        <p:spPr>
          <a:xfrm rot="1207659">
            <a:off x="13150540" y="3285395"/>
            <a:ext cx="797669" cy="1714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defRPr b="1" sz="1000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Poly Silicon </a:t>
            </a:r>
          </a:p>
        </p:txBody>
      </p:sp>
      <p:sp>
        <p:nvSpPr>
          <p:cNvPr id="527" name="TextBox 29"/>
          <p:cNvSpPr txBox="1"/>
          <p:nvPr/>
        </p:nvSpPr>
        <p:spPr>
          <a:xfrm rot="1196252">
            <a:off x="13382098" y="3590986"/>
            <a:ext cx="334453" cy="1714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defRPr b="1" sz="1000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SiO₂</a:t>
            </a:r>
          </a:p>
        </p:txBody>
      </p:sp>
      <p:sp>
        <p:nvSpPr>
          <p:cNvPr id="528" name="TextBox 30"/>
          <p:cNvSpPr txBox="1"/>
          <p:nvPr/>
        </p:nvSpPr>
        <p:spPr>
          <a:xfrm rot="1317828">
            <a:off x="12553540" y="3601493"/>
            <a:ext cx="769022" cy="171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defRPr b="1" sz="1000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Source (n+)</a:t>
            </a:r>
          </a:p>
        </p:txBody>
      </p:sp>
      <p:sp>
        <p:nvSpPr>
          <p:cNvPr id="529" name="TextBox 31"/>
          <p:cNvSpPr txBox="1"/>
          <p:nvPr/>
        </p:nvSpPr>
        <p:spPr>
          <a:xfrm rot="1253687">
            <a:off x="13905482" y="4119747"/>
            <a:ext cx="666550" cy="171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defRPr b="1" sz="1000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Drain (n+)</a:t>
            </a:r>
          </a:p>
        </p:txBody>
      </p:sp>
      <p:sp>
        <p:nvSpPr>
          <p:cNvPr id="530" name="TextBox 32"/>
          <p:cNvSpPr txBox="1"/>
          <p:nvPr/>
        </p:nvSpPr>
        <p:spPr>
          <a:xfrm rot="1353214">
            <a:off x="13177530" y="4127015"/>
            <a:ext cx="773787" cy="207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z="1200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Substrate</a:t>
            </a:r>
          </a:p>
        </p:txBody>
      </p:sp>
      <p:sp>
        <p:nvSpPr>
          <p:cNvPr id="531" name="TextBox 33"/>
          <p:cNvSpPr txBox="1"/>
          <p:nvPr/>
        </p:nvSpPr>
        <p:spPr>
          <a:xfrm rot="1114433">
            <a:off x="13105256" y="2697287"/>
            <a:ext cx="917748" cy="207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z="1200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Photoresist</a:t>
            </a:r>
          </a:p>
        </p:txBody>
      </p:sp>
      <p:sp>
        <p:nvSpPr>
          <p:cNvPr id="532" name="TextBox 34"/>
          <p:cNvSpPr txBox="1"/>
          <p:nvPr/>
        </p:nvSpPr>
        <p:spPr>
          <a:xfrm rot="493868">
            <a:off x="13528771" y="7457528"/>
            <a:ext cx="913559" cy="207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z="1200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Poly Silicon </a:t>
            </a:r>
          </a:p>
        </p:txBody>
      </p:sp>
      <p:sp>
        <p:nvSpPr>
          <p:cNvPr id="533" name="TextBox 35"/>
          <p:cNvSpPr txBox="1"/>
          <p:nvPr/>
        </p:nvSpPr>
        <p:spPr>
          <a:xfrm rot="528052">
            <a:off x="13818368" y="7762074"/>
            <a:ext cx="334453" cy="207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z="1200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SiO₂</a:t>
            </a:r>
          </a:p>
        </p:txBody>
      </p:sp>
      <p:sp>
        <p:nvSpPr>
          <p:cNvPr id="534" name="TextBox 36"/>
          <p:cNvSpPr txBox="1"/>
          <p:nvPr/>
        </p:nvSpPr>
        <p:spPr>
          <a:xfrm rot="572891">
            <a:off x="12732936" y="7923364"/>
            <a:ext cx="882290" cy="207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z="1200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Source (n+)</a:t>
            </a:r>
          </a:p>
        </p:txBody>
      </p:sp>
      <p:sp>
        <p:nvSpPr>
          <p:cNvPr id="535" name="TextBox 37"/>
          <p:cNvSpPr txBox="1"/>
          <p:nvPr/>
        </p:nvSpPr>
        <p:spPr>
          <a:xfrm rot="554063">
            <a:off x="14411005" y="8231751"/>
            <a:ext cx="882290" cy="207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z="1200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Drain (n+)</a:t>
            </a:r>
          </a:p>
        </p:txBody>
      </p:sp>
      <p:sp>
        <p:nvSpPr>
          <p:cNvPr id="536" name="TextBox 38"/>
          <p:cNvSpPr txBox="1"/>
          <p:nvPr/>
        </p:nvSpPr>
        <p:spPr>
          <a:xfrm rot="579976">
            <a:off x="13633450" y="8390734"/>
            <a:ext cx="773787" cy="207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z="1200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Substrate</a:t>
            </a:r>
          </a:p>
        </p:txBody>
      </p:sp>
      <p:sp>
        <p:nvSpPr>
          <p:cNvPr id="537" name="TextBox 39"/>
          <p:cNvSpPr txBox="1"/>
          <p:nvPr/>
        </p:nvSpPr>
        <p:spPr>
          <a:xfrm rot="479577">
            <a:off x="13847931" y="6158982"/>
            <a:ext cx="917748" cy="2077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z="1200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Photoresist</a:t>
            </a:r>
          </a:p>
        </p:txBody>
      </p:sp>
      <p:sp>
        <p:nvSpPr>
          <p:cNvPr id="538" name="TextBox 40"/>
          <p:cNvSpPr txBox="1"/>
          <p:nvPr/>
        </p:nvSpPr>
        <p:spPr>
          <a:xfrm rot="777949">
            <a:off x="13829457" y="481467"/>
            <a:ext cx="569892" cy="2702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200"/>
              </a:lnSpc>
              <a:defRPr b="1" sz="1600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Mask</a:t>
            </a:r>
          </a:p>
        </p:txBody>
      </p:sp>
      <p:sp>
        <p:nvSpPr>
          <p:cNvPr id="539" name="TextBox 41"/>
          <p:cNvSpPr txBox="1"/>
          <p:nvPr/>
        </p:nvSpPr>
        <p:spPr>
          <a:xfrm>
            <a:off x="17259300" y="9680463"/>
            <a:ext cx="762376" cy="389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3200"/>
              </a:lnSpc>
              <a:defRPr sz="2200">
                <a:latin typeface="Noto Sans T Chinese"/>
                <a:ea typeface="Noto Sans T Chinese"/>
                <a:cs typeface="Noto Sans T Chinese"/>
                <a:sym typeface="Noto Sans T Chinese"/>
              </a:defRPr>
            </a:lvl1pPr>
          </a:lstStyle>
          <a:p>
            <a:pPr/>
            <a:r>
              <a:t>16/24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Freeform 3"/>
          <p:cNvSpPr/>
          <p:nvPr/>
        </p:nvSpPr>
        <p:spPr>
          <a:xfrm>
            <a:off x="0" y="10098929"/>
            <a:ext cx="9853056" cy="188072"/>
          </a:xfrm>
          <a:prstGeom prst="rect">
            <a:avLst/>
          </a:prstGeom>
          <a:gradFill>
            <a:gsLst>
              <a:gs pos="0">
                <a:srgbClr val="F600FE"/>
              </a:gs>
              <a:gs pos="25000">
                <a:srgbClr val="C900FE"/>
              </a:gs>
              <a:gs pos="50000">
                <a:srgbClr val="A136FF"/>
              </a:gs>
              <a:gs pos="75000">
                <a:srgbClr val="5142F0"/>
              </a:gs>
              <a:gs pos="100000">
                <a:srgbClr val="0033D9"/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42" name="Freeform 6"/>
          <p:cNvSpPr/>
          <p:nvPr/>
        </p:nvSpPr>
        <p:spPr>
          <a:xfrm>
            <a:off x="9853055" y="0"/>
            <a:ext cx="8434945" cy="167139"/>
          </a:xfrm>
          <a:prstGeom prst="rect">
            <a:avLst/>
          </a:prstGeom>
          <a:gradFill>
            <a:gsLst>
              <a:gs pos="0">
                <a:srgbClr val="F600FE"/>
              </a:gs>
              <a:gs pos="25000">
                <a:srgbClr val="C900FE"/>
              </a:gs>
              <a:gs pos="50000">
                <a:srgbClr val="A136FF"/>
              </a:gs>
              <a:gs pos="75000">
                <a:srgbClr val="5142F0"/>
              </a:gs>
              <a:gs pos="100000">
                <a:srgbClr val="0033D9"/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43" name="Freeform 8"/>
          <p:cNvSpPr/>
          <p:nvPr/>
        </p:nvSpPr>
        <p:spPr>
          <a:xfrm>
            <a:off x="11106056" y="167138"/>
            <a:ext cx="5928944" cy="514350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44" name="Freeform 9"/>
          <p:cNvSpPr/>
          <p:nvPr/>
        </p:nvSpPr>
        <p:spPr>
          <a:xfrm>
            <a:off x="11148073" y="5900463"/>
            <a:ext cx="5844910" cy="4198466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45" name="Freeform 10"/>
          <p:cNvSpPr/>
          <p:nvPr/>
        </p:nvSpPr>
        <p:spPr>
          <a:xfrm rot="20315912">
            <a:off x="10755192" y="3347442"/>
            <a:ext cx="701730" cy="486825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46" name="Freeform 12"/>
          <p:cNvSpPr/>
          <p:nvPr/>
        </p:nvSpPr>
        <p:spPr>
          <a:xfrm>
            <a:off x="468758" y="890527"/>
            <a:ext cx="373881" cy="373882"/>
          </a:xfrm>
          <a:prstGeom prst="ellipse">
            <a:avLst/>
          </a:prstGeom>
          <a:gradFill>
            <a:gsLst>
              <a:gs pos="0">
                <a:srgbClr val="F600FE"/>
              </a:gs>
              <a:gs pos="25000">
                <a:srgbClr val="C900FE"/>
              </a:gs>
              <a:gs pos="50000">
                <a:srgbClr val="A136FF"/>
              </a:gs>
              <a:gs pos="75000">
                <a:srgbClr val="5142F0"/>
              </a:gs>
              <a:gs pos="100000">
                <a:srgbClr val="0033D9"/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47" name="TextBox 14"/>
          <p:cNvSpPr txBox="1"/>
          <p:nvPr/>
        </p:nvSpPr>
        <p:spPr>
          <a:xfrm>
            <a:off x="973689" y="364243"/>
            <a:ext cx="6563412" cy="19232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just">
              <a:lnSpc>
                <a:spcPts val="10200"/>
              </a:lnSpc>
              <a:defRPr b="1" sz="7300"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pPr>
            <a:r>
              <a:t>蝕刻</a:t>
            </a:r>
          </a:p>
          <a:p>
            <a:pPr algn="just">
              <a:lnSpc>
                <a:spcPts val="4800"/>
              </a:lnSpc>
              <a:defRPr b="1" sz="4800"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pPr>
            <a:r>
              <a:t>Etching</a:t>
            </a:r>
          </a:p>
        </p:txBody>
      </p:sp>
      <p:sp>
        <p:nvSpPr>
          <p:cNvPr id="548" name="TextBox 15"/>
          <p:cNvSpPr txBox="1"/>
          <p:nvPr/>
        </p:nvSpPr>
        <p:spPr>
          <a:xfrm>
            <a:off x="973689" y="3256155"/>
            <a:ext cx="6869594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600"/>
              </a:lnSpc>
              <a:defRPr b="1" sz="3000"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•乾式蝕刻  (電漿蝕刻)</a:t>
            </a:r>
          </a:p>
        </p:txBody>
      </p:sp>
      <p:sp>
        <p:nvSpPr>
          <p:cNvPr id="549" name="TextBox 16"/>
          <p:cNvSpPr txBox="1"/>
          <p:nvPr/>
        </p:nvSpPr>
        <p:spPr>
          <a:xfrm>
            <a:off x="973689" y="3884805"/>
            <a:ext cx="6869594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600"/>
              </a:lnSpc>
              <a:defRPr b="1" sz="3000"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•透過溶劑或電漿清除剩餘光阻</a:t>
            </a:r>
          </a:p>
        </p:txBody>
      </p:sp>
      <p:sp>
        <p:nvSpPr>
          <p:cNvPr id="550" name="TextBox 17"/>
          <p:cNvSpPr txBox="1"/>
          <p:nvPr/>
        </p:nvSpPr>
        <p:spPr>
          <a:xfrm>
            <a:off x="973689" y="2627506"/>
            <a:ext cx="6869594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600"/>
              </a:lnSpc>
              <a:defRPr b="1" sz="3000"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•濕式蝕刻  (↑3μm 製程 )</a:t>
            </a:r>
          </a:p>
        </p:txBody>
      </p:sp>
      <p:sp>
        <p:nvSpPr>
          <p:cNvPr id="551" name="TextBox 18"/>
          <p:cNvSpPr txBox="1"/>
          <p:nvPr/>
        </p:nvSpPr>
        <p:spPr>
          <a:xfrm>
            <a:off x="973689" y="4513455"/>
            <a:ext cx="6869594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600"/>
              </a:lnSpc>
              <a:defRPr b="1" sz="3000"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•三步驟 : 蝕刻、沖洗、旋乾</a:t>
            </a:r>
          </a:p>
        </p:txBody>
      </p:sp>
      <p:sp>
        <p:nvSpPr>
          <p:cNvPr id="552" name="Freeform 20"/>
          <p:cNvSpPr/>
          <p:nvPr/>
        </p:nvSpPr>
        <p:spPr>
          <a:xfrm>
            <a:off x="261884" y="5703570"/>
            <a:ext cx="373881" cy="373882"/>
          </a:xfrm>
          <a:prstGeom prst="ellipse">
            <a:avLst/>
          </a:prstGeom>
          <a:gradFill>
            <a:gsLst>
              <a:gs pos="0">
                <a:srgbClr val="F600FE"/>
              </a:gs>
              <a:gs pos="25000">
                <a:srgbClr val="C900FE"/>
              </a:gs>
              <a:gs pos="50000">
                <a:srgbClr val="A136FF"/>
              </a:gs>
              <a:gs pos="75000">
                <a:srgbClr val="5142F0"/>
              </a:gs>
              <a:gs pos="100000">
                <a:srgbClr val="0033D9"/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53" name="TextBox 22"/>
          <p:cNvSpPr txBox="1"/>
          <p:nvPr/>
        </p:nvSpPr>
        <p:spPr>
          <a:xfrm>
            <a:off x="766816" y="5177287"/>
            <a:ext cx="5921620" cy="1923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just">
              <a:lnSpc>
                <a:spcPts val="10200"/>
              </a:lnSpc>
              <a:defRPr b="1" sz="7300"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pPr>
            <a:r>
              <a:t>金屬薄膜沉積</a:t>
            </a:r>
          </a:p>
          <a:p>
            <a:pPr algn="just">
              <a:lnSpc>
                <a:spcPts val="4800"/>
              </a:lnSpc>
              <a:defRPr b="1" sz="4800"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pPr>
            <a:r>
              <a:t>Metal Deposition</a:t>
            </a:r>
          </a:p>
        </p:txBody>
      </p:sp>
      <p:sp>
        <p:nvSpPr>
          <p:cNvPr id="554" name="TextBox 23"/>
          <p:cNvSpPr txBox="1"/>
          <p:nvPr/>
        </p:nvSpPr>
        <p:spPr>
          <a:xfrm>
            <a:off x="766815" y="7646716"/>
            <a:ext cx="8115301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600"/>
              </a:lnSpc>
              <a:defRPr b="1" sz="3000"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•沉積金屬形成薄膜</a:t>
            </a:r>
          </a:p>
        </p:txBody>
      </p:sp>
      <p:sp>
        <p:nvSpPr>
          <p:cNvPr id="555" name="TextBox 24"/>
          <p:cNvSpPr txBox="1"/>
          <p:nvPr/>
        </p:nvSpPr>
        <p:spPr>
          <a:xfrm>
            <a:off x="1168372" y="8272335"/>
            <a:ext cx="8422800" cy="4490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just">
              <a:lnSpc>
                <a:spcPts val="3400"/>
              </a:lnSpc>
              <a:defRPr sz="2400">
                <a:solidFill>
                  <a:srgbClr val="101010"/>
                </a:solidFill>
                <a:latin typeface="Noto Sans T Chinese"/>
                <a:ea typeface="Noto Sans T Chinese"/>
                <a:cs typeface="Noto Sans T Chinese"/>
                <a:sym typeface="Noto Sans T Chinese"/>
              </a:defRPr>
            </a:lvl1pPr>
          </a:lstStyle>
          <a:p>
            <a:pPr/>
            <a:r>
              <a:t>- 現今通常用CVD-ALD將金屬Cu氣相沉積至晶圓表面。</a:t>
            </a:r>
          </a:p>
        </p:txBody>
      </p:sp>
      <p:sp>
        <p:nvSpPr>
          <p:cNvPr id="556" name="Freeform 25"/>
          <p:cNvSpPr/>
          <p:nvPr/>
        </p:nvSpPr>
        <p:spPr>
          <a:xfrm rot="13069550">
            <a:off x="15507690" y="5012935"/>
            <a:ext cx="1404791" cy="1612385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57" name="TextBox 26"/>
          <p:cNvSpPr txBox="1"/>
          <p:nvPr/>
        </p:nvSpPr>
        <p:spPr>
          <a:xfrm>
            <a:off x="16761583" y="4703955"/>
            <a:ext cx="546833" cy="4286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500"/>
              </a:lnSpc>
              <a:defRPr b="1" sz="2500">
                <a:solidFill>
                  <a:srgbClr val="10101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Cu</a:t>
            </a:r>
          </a:p>
        </p:txBody>
      </p:sp>
      <p:sp>
        <p:nvSpPr>
          <p:cNvPr id="558" name="TextBox 27"/>
          <p:cNvSpPr txBox="1"/>
          <p:nvPr/>
        </p:nvSpPr>
        <p:spPr>
          <a:xfrm rot="753217">
            <a:off x="12983440" y="7582028"/>
            <a:ext cx="913559" cy="207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z="1200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Poly Silicon </a:t>
            </a:r>
          </a:p>
        </p:txBody>
      </p:sp>
      <p:sp>
        <p:nvSpPr>
          <p:cNvPr id="559" name="TextBox 28"/>
          <p:cNvSpPr txBox="1"/>
          <p:nvPr/>
        </p:nvSpPr>
        <p:spPr>
          <a:xfrm rot="788765">
            <a:off x="13306401" y="7977657"/>
            <a:ext cx="334453" cy="207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z="1200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SiO₂</a:t>
            </a:r>
          </a:p>
        </p:txBody>
      </p:sp>
      <p:sp>
        <p:nvSpPr>
          <p:cNvPr id="560" name="TextBox 29"/>
          <p:cNvSpPr txBox="1"/>
          <p:nvPr/>
        </p:nvSpPr>
        <p:spPr>
          <a:xfrm rot="1026207">
            <a:off x="12086232" y="8106634"/>
            <a:ext cx="882290" cy="207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z="1200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Source (n+)</a:t>
            </a:r>
          </a:p>
        </p:txBody>
      </p:sp>
      <p:sp>
        <p:nvSpPr>
          <p:cNvPr id="561" name="TextBox 30"/>
          <p:cNvSpPr txBox="1"/>
          <p:nvPr/>
        </p:nvSpPr>
        <p:spPr>
          <a:xfrm rot="1038168">
            <a:off x="14078478" y="8663541"/>
            <a:ext cx="882290" cy="207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z="1200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Drain (n+)</a:t>
            </a:r>
          </a:p>
        </p:txBody>
      </p:sp>
      <p:sp>
        <p:nvSpPr>
          <p:cNvPr id="562" name="TextBox 31"/>
          <p:cNvSpPr txBox="1"/>
          <p:nvPr/>
        </p:nvSpPr>
        <p:spPr>
          <a:xfrm rot="1020201">
            <a:off x="13122835" y="8784989"/>
            <a:ext cx="773787" cy="207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z="1200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Substrate</a:t>
            </a:r>
          </a:p>
        </p:txBody>
      </p:sp>
      <p:sp>
        <p:nvSpPr>
          <p:cNvPr id="563" name="TextBox 32"/>
          <p:cNvSpPr txBox="1"/>
          <p:nvPr/>
        </p:nvSpPr>
        <p:spPr>
          <a:xfrm rot="573007">
            <a:off x="13407870" y="2271525"/>
            <a:ext cx="913559" cy="207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z="1200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Poly Silicon </a:t>
            </a:r>
          </a:p>
        </p:txBody>
      </p:sp>
      <p:sp>
        <p:nvSpPr>
          <p:cNvPr id="564" name="TextBox 33"/>
          <p:cNvSpPr txBox="1"/>
          <p:nvPr/>
        </p:nvSpPr>
        <p:spPr>
          <a:xfrm rot="528052">
            <a:off x="13630556" y="2643413"/>
            <a:ext cx="334453" cy="207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z="1200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SiO₂</a:t>
            </a:r>
          </a:p>
        </p:txBody>
      </p:sp>
      <p:sp>
        <p:nvSpPr>
          <p:cNvPr id="565" name="TextBox 34"/>
          <p:cNvSpPr txBox="1"/>
          <p:nvPr/>
        </p:nvSpPr>
        <p:spPr>
          <a:xfrm rot="572891">
            <a:off x="12426651" y="2824619"/>
            <a:ext cx="882289" cy="207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z="1200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Source (n+)</a:t>
            </a:r>
          </a:p>
        </p:txBody>
      </p:sp>
      <p:sp>
        <p:nvSpPr>
          <p:cNvPr id="566" name="TextBox 35"/>
          <p:cNvSpPr txBox="1"/>
          <p:nvPr/>
        </p:nvSpPr>
        <p:spPr>
          <a:xfrm rot="554063">
            <a:off x="14415623" y="3226969"/>
            <a:ext cx="882290" cy="207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z="1200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Drain (n+)</a:t>
            </a:r>
          </a:p>
        </p:txBody>
      </p:sp>
      <p:sp>
        <p:nvSpPr>
          <p:cNvPr id="567" name="TextBox 36"/>
          <p:cNvSpPr txBox="1"/>
          <p:nvPr/>
        </p:nvSpPr>
        <p:spPr>
          <a:xfrm rot="579976">
            <a:off x="13482866" y="3385952"/>
            <a:ext cx="773787" cy="207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z="1200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Substrate</a:t>
            </a:r>
          </a:p>
        </p:txBody>
      </p:sp>
      <p:sp>
        <p:nvSpPr>
          <p:cNvPr id="568" name="TextBox 37"/>
          <p:cNvSpPr txBox="1"/>
          <p:nvPr/>
        </p:nvSpPr>
        <p:spPr>
          <a:xfrm rot="479577">
            <a:off x="13805686" y="629896"/>
            <a:ext cx="917748" cy="207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z="1200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Photoresist</a:t>
            </a:r>
          </a:p>
        </p:txBody>
      </p:sp>
      <p:sp>
        <p:nvSpPr>
          <p:cNvPr id="569" name="TextBox 38"/>
          <p:cNvSpPr txBox="1"/>
          <p:nvPr/>
        </p:nvSpPr>
        <p:spPr>
          <a:xfrm rot="658226">
            <a:off x="13038346" y="6810453"/>
            <a:ext cx="803504" cy="207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z="1200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Metal - Cu</a:t>
            </a:r>
          </a:p>
        </p:txBody>
      </p:sp>
      <p:sp>
        <p:nvSpPr>
          <p:cNvPr id="570" name="TextBox 39"/>
          <p:cNvSpPr txBox="1"/>
          <p:nvPr/>
        </p:nvSpPr>
        <p:spPr>
          <a:xfrm rot="817766">
            <a:off x="11532349" y="7294416"/>
            <a:ext cx="803504" cy="207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z="1200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Metal - Cu</a:t>
            </a:r>
          </a:p>
        </p:txBody>
      </p:sp>
      <p:sp>
        <p:nvSpPr>
          <p:cNvPr id="571" name="TextBox 40"/>
          <p:cNvSpPr txBox="1"/>
          <p:nvPr/>
        </p:nvSpPr>
        <p:spPr>
          <a:xfrm rot="846458">
            <a:off x="15006629" y="8141837"/>
            <a:ext cx="803504" cy="207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z="1200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Metal - Cu</a:t>
            </a:r>
          </a:p>
        </p:txBody>
      </p:sp>
      <p:sp>
        <p:nvSpPr>
          <p:cNvPr id="572" name="TextBox 41"/>
          <p:cNvSpPr txBox="1"/>
          <p:nvPr/>
        </p:nvSpPr>
        <p:spPr>
          <a:xfrm>
            <a:off x="1168372" y="8818435"/>
            <a:ext cx="8422800" cy="4490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just">
              <a:lnSpc>
                <a:spcPts val="3400"/>
              </a:lnSpc>
              <a:defRPr sz="2400">
                <a:solidFill>
                  <a:srgbClr val="101010"/>
                </a:solidFill>
                <a:latin typeface="Noto Sans T Chinese"/>
                <a:ea typeface="Noto Sans T Chinese"/>
                <a:cs typeface="Noto Sans T Chinese"/>
                <a:sym typeface="Noto Sans T Chinese"/>
              </a:defRPr>
            </a:lvl1pPr>
          </a:lstStyle>
          <a:p>
            <a:pPr/>
            <a:r>
              <a:t>- Layout中最靠近底層的金屬稱 Metal 1  (M1)</a:t>
            </a:r>
          </a:p>
        </p:txBody>
      </p:sp>
      <p:sp>
        <p:nvSpPr>
          <p:cNvPr id="573" name="TextBox 42"/>
          <p:cNvSpPr txBox="1"/>
          <p:nvPr/>
        </p:nvSpPr>
        <p:spPr>
          <a:xfrm>
            <a:off x="17259300" y="9680463"/>
            <a:ext cx="762376" cy="389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3200"/>
              </a:lnSpc>
              <a:defRPr sz="2200">
                <a:latin typeface="Noto Sans T Chinese"/>
                <a:ea typeface="Noto Sans T Chinese"/>
                <a:cs typeface="Noto Sans T Chinese"/>
                <a:sym typeface="Noto Sans T Chinese"/>
              </a:defRPr>
            </a:lvl1pPr>
          </a:lstStyle>
          <a:p>
            <a:pPr/>
            <a:r>
              <a:t>17/24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Freeform 3"/>
          <p:cNvSpPr/>
          <p:nvPr/>
        </p:nvSpPr>
        <p:spPr>
          <a:xfrm>
            <a:off x="0" y="10098929"/>
            <a:ext cx="9853056" cy="188072"/>
          </a:xfrm>
          <a:prstGeom prst="rect">
            <a:avLst/>
          </a:prstGeom>
          <a:gradFill>
            <a:gsLst>
              <a:gs pos="0">
                <a:srgbClr val="F600FE"/>
              </a:gs>
              <a:gs pos="25000">
                <a:srgbClr val="C900FE"/>
              </a:gs>
              <a:gs pos="50000">
                <a:srgbClr val="A136FF"/>
              </a:gs>
              <a:gs pos="75000">
                <a:srgbClr val="5142F0"/>
              </a:gs>
              <a:gs pos="100000">
                <a:srgbClr val="0033D9"/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76" name="Freeform 6"/>
          <p:cNvSpPr/>
          <p:nvPr/>
        </p:nvSpPr>
        <p:spPr>
          <a:xfrm>
            <a:off x="9853055" y="0"/>
            <a:ext cx="8434945" cy="167139"/>
          </a:xfrm>
          <a:prstGeom prst="rect">
            <a:avLst/>
          </a:prstGeom>
          <a:gradFill>
            <a:gsLst>
              <a:gs pos="0">
                <a:srgbClr val="F600FE"/>
              </a:gs>
              <a:gs pos="25000">
                <a:srgbClr val="C900FE"/>
              </a:gs>
              <a:gs pos="50000">
                <a:srgbClr val="A136FF"/>
              </a:gs>
              <a:gs pos="75000">
                <a:srgbClr val="5142F0"/>
              </a:gs>
              <a:gs pos="100000">
                <a:srgbClr val="0033D9"/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77" name="Freeform 8"/>
          <p:cNvSpPr/>
          <p:nvPr/>
        </p:nvSpPr>
        <p:spPr>
          <a:xfrm>
            <a:off x="10846954" y="167137"/>
            <a:ext cx="6447146" cy="4621798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78" name="Freeform 9"/>
          <p:cNvSpPr/>
          <p:nvPr/>
        </p:nvSpPr>
        <p:spPr>
          <a:xfrm rot="5400000">
            <a:off x="11610031" y="6278888"/>
            <a:ext cx="1795956" cy="384305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79" name="Freeform 10"/>
          <p:cNvSpPr/>
          <p:nvPr/>
        </p:nvSpPr>
        <p:spPr>
          <a:xfrm rot="5400000">
            <a:off x="12759374" y="6288802"/>
            <a:ext cx="1269490" cy="384305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80" name="Freeform 11"/>
          <p:cNvSpPr/>
          <p:nvPr/>
        </p:nvSpPr>
        <p:spPr>
          <a:xfrm rot="5400000">
            <a:off x="14905916" y="6646497"/>
            <a:ext cx="1555318" cy="384305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81" name="Freeform 12"/>
          <p:cNvSpPr/>
          <p:nvPr/>
        </p:nvSpPr>
        <p:spPr>
          <a:xfrm rot="5400000">
            <a:off x="14510199" y="6637549"/>
            <a:ext cx="1555318" cy="384304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82" name="Freeform 13"/>
          <p:cNvSpPr/>
          <p:nvPr/>
        </p:nvSpPr>
        <p:spPr>
          <a:xfrm rot="5400000">
            <a:off x="14011493" y="6396193"/>
            <a:ext cx="1054709" cy="384304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83" name="Freeform 14"/>
          <p:cNvSpPr/>
          <p:nvPr/>
        </p:nvSpPr>
        <p:spPr>
          <a:xfrm>
            <a:off x="10924630" y="4653036"/>
            <a:ext cx="6369470" cy="5633964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84" name="TextBox 15"/>
          <p:cNvSpPr txBox="1"/>
          <p:nvPr/>
        </p:nvSpPr>
        <p:spPr>
          <a:xfrm>
            <a:off x="967021" y="2723453"/>
            <a:ext cx="5541611" cy="2011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3900"/>
              </a:lnSpc>
              <a:defRPr b="1" sz="3000"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pPr>
            <a:r>
              <a:t>1. Vapor Prime 表面預處理</a:t>
            </a:r>
          </a:p>
          <a:p>
            <a:pPr>
              <a:lnSpc>
                <a:spcPts val="3900"/>
              </a:lnSpc>
              <a:defRPr b="1" sz="3000"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pPr>
            <a:r>
              <a:t>2. Spin Coat 旋轉塗佈</a:t>
            </a:r>
          </a:p>
          <a:p>
            <a:pPr>
              <a:lnSpc>
                <a:spcPts val="3900"/>
              </a:lnSpc>
              <a:defRPr b="1" sz="3000"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pPr>
            <a:r>
              <a:t>3. Soft bake 軟烘烤</a:t>
            </a:r>
          </a:p>
          <a:p>
            <a:pPr>
              <a:lnSpc>
                <a:spcPts val="3900"/>
              </a:lnSpc>
              <a:defRPr b="1" sz="3000"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pPr>
            <a:r>
              <a:t>4. Cooling 冷卻</a:t>
            </a:r>
          </a:p>
        </p:txBody>
      </p:sp>
      <p:sp>
        <p:nvSpPr>
          <p:cNvPr id="585" name="Freeform 17"/>
          <p:cNvSpPr/>
          <p:nvPr/>
        </p:nvSpPr>
        <p:spPr>
          <a:xfrm>
            <a:off x="462090" y="967426"/>
            <a:ext cx="373882" cy="373882"/>
          </a:xfrm>
          <a:prstGeom prst="ellipse">
            <a:avLst/>
          </a:prstGeom>
          <a:gradFill>
            <a:gsLst>
              <a:gs pos="0">
                <a:srgbClr val="F600FE"/>
              </a:gs>
              <a:gs pos="25000">
                <a:srgbClr val="C900FE"/>
              </a:gs>
              <a:gs pos="50000">
                <a:srgbClr val="A136FF"/>
              </a:gs>
              <a:gs pos="75000">
                <a:srgbClr val="5142F0"/>
              </a:gs>
              <a:gs pos="100000">
                <a:srgbClr val="0033D9"/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86" name="TextBox 19"/>
          <p:cNvSpPr txBox="1"/>
          <p:nvPr/>
        </p:nvSpPr>
        <p:spPr>
          <a:xfrm>
            <a:off x="967021" y="441142"/>
            <a:ext cx="5389852" cy="1923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just">
              <a:lnSpc>
                <a:spcPts val="10200"/>
              </a:lnSpc>
              <a:defRPr b="1" sz="7300"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pPr>
            <a:r>
              <a:t>光阻劑</a:t>
            </a:r>
          </a:p>
          <a:p>
            <a:pPr algn="just">
              <a:lnSpc>
                <a:spcPts val="4800"/>
              </a:lnSpc>
              <a:defRPr b="1" sz="4800"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pPr>
            <a:r>
              <a:t>Photoresist</a:t>
            </a:r>
          </a:p>
        </p:txBody>
      </p:sp>
      <p:sp>
        <p:nvSpPr>
          <p:cNvPr id="587" name="TextBox 20"/>
          <p:cNvSpPr txBox="1"/>
          <p:nvPr/>
        </p:nvSpPr>
        <p:spPr>
          <a:xfrm rot="342292">
            <a:off x="13217625" y="2272674"/>
            <a:ext cx="913559" cy="207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z="1200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Poly Silicon </a:t>
            </a:r>
          </a:p>
        </p:txBody>
      </p:sp>
      <p:sp>
        <p:nvSpPr>
          <p:cNvPr id="588" name="TextBox 21"/>
          <p:cNvSpPr txBox="1"/>
          <p:nvPr/>
        </p:nvSpPr>
        <p:spPr>
          <a:xfrm rot="410662">
            <a:off x="13507267" y="2756696"/>
            <a:ext cx="334453" cy="207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z="1200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SiO₂</a:t>
            </a:r>
          </a:p>
        </p:txBody>
      </p:sp>
      <p:sp>
        <p:nvSpPr>
          <p:cNvPr id="589" name="TextBox 22"/>
          <p:cNvSpPr txBox="1"/>
          <p:nvPr/>
        </p:nvSpPr>
        <p:spPr>
          <a:xfrm rot="599442">
            <a:off x="12116131" y="3029889"/>
            <a:ext cx="882290" cy="207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z="1200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Source (n+)</a:t>
            </a:r>
          </a:p>
        </p:txBody>
      </p:sp>
      <p:sp>
        <p:nvSpPr>
          <p:cNvPr id="590" name="TextBox 23"/>
          <p:cNvSpPr txBox="1"/>
          <p:nvPr/>
        </p:nvSpPr>
        <p:spPr>
          <a:xfrm rot="485409">
            <a:off x="14476562" y="3361575"/>
            <a:ext cx="882290" cy="2077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z="1200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Drain (n+)</a:t>
            </a:r>
          </a:p>
        </p:txBody>
      </p:sp>
      <p:sp>
        <p:nvSpPr>
          <p:cNvPr id="591" name="TextBox 24"/>
          <p:cNvSpPr txBox="1"/>
          <p:nvPr/>
        </p:nvSpPr>
        <p:spPr>
          <a:xfrm rot="606780">
            <a:off x="13287855" y="3624777"/>
            <a:ext cx="773787" cy="207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z="1200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Substrate</a:t>
            </a:r>
          </a:p>
        </p:txBody>
      </p:sp>
      <p:sp>
        <p:nvSpPr>
          <p:cNvPr id="592" name="TextBox 25"/>
          <p:cNvSpPr txBox="1"/>
          <p:nvPr/>
        </p:nvSpPr>
        <p:spPr>
          <a:xfrm rot="220446">
            <a:off x="13148287" y="1098554"/>
            <a:ext cx="917748" cy="207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z="1200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Photoresist</a:t>
            </a:r>
          </a:p>
        </p:txBody>
      </p:sp>
      <p:sp>
        <p:nvSpPr>
          <p:cNvPr id="593" name="TextBox 26"/>
          <p:cNvSpPr txBox="1"/>
          <p:nvPr/>
        </p:nvSpPr>
        <p:spPr>
          <a:xfrm rot="244537">
            <a:off x="13216840" y="1735256"/>
            <a:ext cx="780707" cy="207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z="1200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Metal - Cu</a:t>
            </a:r>
          </a:p>
        </p:txBody>
      </p:sp>
      <p:sp>
        <p:nvSpPr>
          <p:cNvPr id="594" name="TextBox 27"/>
          <p:cNvSpPr txBox="1"/>
          <p:nvPr/>
        </p:nvSpPr>
        <p:spPr>
          <a:xfrm rot="244537">
            <a:off x="11746341" y="2486514"/>
            <a:ext cx="780707" cy="207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z="1200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Metal - Cu</a:t>
            </a:r>
          </a:p>
        </p:txBody>
      </p:sp>
      <p:sp>
        <p:nvSpPr>
          <p:cNvPr id="595" name="TextBox 28"/>
          <p:cNvSpPr txBox="1"/>
          <p:nvPr/>
        </p:nvSpPr>
        <p:spPr>
          <a:xfrm rot="244537">
            <a:off x="14897826" y="2937338"/>
            <a:ext cx="780707" cy="207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z="1200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Metal - Cu</a:t>
            </a:r>
          </a:p>
        </p:txBody>
      </p:sp>
      <p:sp>
        <p:nvSpPr>
          <p:cNvPr id="596" name="TextBox 29"/>
          <p:cNvSpPr txBox="1"/>
          <p:nvPr/>
        </p:nvSpPr>
        <p:spPr>
          <a:xfrm rot="777949">
            <a:off x="13325345" y="6383675"/>
            <a:ext cx="569892" cy="2702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200"/>
              </a:lnSpc>
              <a:defRPr b="1" sz="1600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Mask</a:t>
            </a:r>
          </a:p>
        </p:txBody>
      </p:sp>
      <p:sp>
        <p:nvSpPr>
          <p:cNvPr id="597" name="TextBox 30"/>
          <p:cNvSpPr txBox="1"/>
          <p:nvPr/>
        </p:nvSpPr>
        <p:spPr>
          <a:xfrm rot="1064683">
            <a:off x="13438344" y="8709648"/>
            <a:ext cx="765348" cy="171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defRPr b="1" sz="1000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Poly Silicon </a:t>
            </a:r>
          </a:p>
        </p:txBody>
      </p:sp>
      <p:sp>
        <p:nvSpPr>
          <p:cNvPr id="598" name="TextBox 31"/>
          <p:cNvSpPr txBox="1"/>
          <p:nvPr/>
        </p:nvSpPr>
        <p:spPr>
          <a:xfrm rot="1049724">
            <a:off x="13658689" y="8939083"/>
            <a:ext cx="334453" cy="1714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defRPr b="1" sz="1000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SiO₂</a:t>
            </a:r>
          </a:p>
        </p:txBody>
      </p:sp>
      <p:sp>
        <p:nvSpPr>
          <p:cNvPr id="599" name="TextBox 32"/>
          <p:cNvSpPr txBox="1"/>
          <p:nvPr/>
        </p:nvSpPr>
        <p:spPr>
          <a:xfrm rot="1026207">
            <a:off x="12706684" y="8989025"/>
            <a:ext cx="882290" cy="1714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defRPr b="1" sz="1000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Source (n+)</a:t>
            </a:r>
          </a:p>
        </p:txBody>
      </p:sp>
      <p:sp>
        <p:nvSpPr>
          <p:cNvPr id="600" name="TextBox 33"/>
          <p:cNvSpPr txBox="1"/>
          <p:nvPr/>
        </p:nvSpPr>
        <p:spPr>
          <a:xfrm rot="1038168">
            <a:off x="14143718" y="9443222"/>
            <a:ext cx="882290" cy="1714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defRPr b="1" sz="1000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Drain (n+)</a:t>
            </a:r>
          </a:p>
        </p:txBody>
      </p:sp>
      <p:sp>
        <p:nvSpPr>
          <p:cNvPr id="601" name="TextBox 34"/>
          <p:cNvSpPr txBox="1"/>
          <p:nvPr/>
        </p:nvSpPr>
        <p:spPr>
          <a:xfrm rot="1020201">
            <a:off x="13468331" y="9425243"/>
            <a:ext cx="773787" cy="1714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defRPr b="1" sz="1000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Substrate</a:t>
            </a:r>
          </a:p>
        </p:txBody>
      </p:sp>
      <p:sp>
        <p:nvSpPr>
          <p:cNvPr id="602" name="TextBox 35"/>
          <p:cNvSpPr txBox="1"/>
          <p:nvPr/>
        </p:nvSpPr>
        <p:spPr>
          <a:xfrm rot="880673">
            <a:off x="13520281" y="8325875"/>
            <a:ext cx="668664" cy="171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defRPr b="1" sz="1000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Metal - Cu</a:t>
            </a:r>
          </a:p>
        </p:txBody>
      </p:sp>
      <p:sp>
        <p:nvSpPr>
          <p:cNvPr id="603" name="TextBox 36"/>
          <p:cNvSpPr txBox="1"/>
          <p:nvPr/>
        </p:nvSpPr>
        <p:spPr>
          <a:xfrm rot="817766">
            <a:off x="12442505" y="8491256"/>
            <a:ext cx="803504" cy="171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defRPr b="1" sz="1000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Metal - Cu</a:t>
            </a:r>
          </a:p>
        </p:txBody>
      </p:sp>
      <p:sp>
        <p:nvSpPr>
          <p:cNvPr id="604" name="TextBox 37"/>
          <p:cNvSpPr txBox="1"/>
          <p:nvPr/>
        </p:nvSpPr>
        <p:spPr>
          <a:xfrm rot="846458">
            <a:off x="14561083" y="9157365"/>
            <a:ext cx="803504" cy="171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defRPr b="1" sz="1000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Metal - Cu</a:t>
            </a:r>
          </a:p>
        </p:txBody>
      </p:sp>
      <p:sp>
        <p:nvSpPr>
          <p:cNvPr id="605" name="TextBox 38"/>
          <p:cNvSpPr txBox="1"/>
          <p:nvPr/>
        </p:nvSpPr>
        <p:spPr>
          <a:xfrm rot="983608">
            <a:off x="13465145" y="7875099"/>
            <a:ext cx="917748" cy="207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z="1200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Photoresist</a:t>
            </a:r>
          </a:p>
        </p:txBody>
      </p:sp>
      <p:sp>
        <p:nvSpPr>
          <p:cNvPr id="606" name="Freeform 39"/>
          <p:cNvSpPr/>
          <p:nvPr/>
        </p:nvSpPr>
        <p:spPr>
          <a:xfrm rot="5400000">
            <a:off x="12200863" y="7484012"/>
            <a:ext cx="614293" cy="384305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07" name="Freeform 40"/>
          <p:cNvSpPr/>
          <p:nvPr/>
        </p:nvSpPr>
        <p:spPr>
          <a:xfrm rot="5400000">
            <a:off x="12042282" y="4926612"/>
            <a:ext cx="931456" cy="384305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08" name="Freeform 41"/>
          <p:cNvSpPr/>
          <p:nvPr/>
        </p:nvSpPr>
        <p:spPr>
          <a:xfrm rot="5400000">
            <a:off x="13086973" y="7230693"/>
            <a:ext cx="614294" cy="384304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09" name="Freeform 42"/>
          <p:cNvSpPr/>
          <p:nvPr/>
        </p:nvSpPr>
        <p:spPr>
          <a:xfrm rot="5400000">
            <a:off x="15364062" y="7743667"/>
            <a:ext cx="639026" cy="384305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10" name="Freeform 43"/>
          <p:cNvSpPr/>
          <p:nvPr/>
        </p:nvSpPr>
        <p:spPr>
          <a:xfrm rot="5400000">
            <a:off x="12791210" y="5063792"/>
            <a:ext cx="1205817" cy="384305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11" name="Freeform 44"/>
          <p:cNvSpPr/>
          <p:nvPr/>
        </p:nvSpPr>
        <p:spPr>
          <a:xfrm rot="5400000">
            <a:off x="14979597" y="5164861"/>
            <a:ext cx="1407954" cy="384305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12" name="Freeform 45"/>
          <p:cNvSpPr/>
          <p:nvPr/>
        </p:nvSpPr>
        <p:spPr>
          <a:xfrm rot="5400000">
            <a:off x="14968345" y="7734720"/>
            <a:ext cx="639026" cy="384305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13" name="Freeform 46"/>
          <p:cNvSpPr/>
          <p:nvPr/>
        </p:nvSpPr>
        <p:spPr>
          <a:xfrm rot="5400000">
            <a:off x="14583881" y="5164861"/>
            <a:ext cx="1407954" cy="384305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14" name="Freeform 47"/>
          <p:cNvSpPr/>
          <p:nvPr/>
        </p:nvSpPr>
        <p:spPr>
          <a:xfrm rot="5400000">
            <a:off x="14124024" y="7328844"/>
            <a:ext cx="829647" cy="384305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15" name="Freeform 48"/>
          <p:cNvSpPr/>
          <p:nvPr/>
        </p:nvSpPr>
        <p:spPr>
          <a:xfrm rot="5400000">
            <a:off x="13834870" y="5164862"/>
            <a:ext cx="1407955" cy="384305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16" name="Freeform 50"/>
          <p:cNvSpPr/>
          <p:nvPr/>
        </p:nvSpPr>
        <p:spPr>
          <a:xfrm>
            <a:off x="10846954" y="4598989"/>
            <a:ext cx="7479884" cy="69199"/>
          </a:xfrm>
          <a:prstGeom prst="rect">
            <a:avLst/>
          </a:prstGeom>
          <a:gradFill>
            <a:gsLst>
              <a:gs pos="0">
                <a:srgbClr val="F600FE"/>
              </a:gs>
              <a:gs pos="25000">
                <a:srgbClr val="C900FE"/>
              </a:gs>
              <a:gs pos="50000">
                <a:srgbClr val="A136FF"/>
              </a:gs>
              <a:gs pos="75000">
                <a:srgbClr val="5142F0"/>
              </a:gs>
              <a:gs pos="100000">
                <a:srgbClr val="0033D9"/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17" name="Freeform 53"/>
          <p:cNvSpPr/>
          <p:nvPr/>
        </p:nvSpPr>
        <p:spPr>
          <a:xfrm>
            <a:off x="462090" y="5402379"/>
            <a:ext cx="373882" cy="373882"/>
          </a:xfrm>
          <a:prstGeom prst="ellipse">
            <a:avLst/>
          </a:prstGeom>
          <a:gradFill>
            <a:gsLst>
              <a:gs pos="0">
                <a:srgbClr val="F600FE"/>
              </a:gs>
              <a:gs pos="25000">
                <a:srgbClr val="C900FE"/>
              </a:gs>
              <a:gs pos="50000">
                <a:srgbClr val="A136FF"/>
              </a:gs>
              <a:gs pos="75000">
                <a:srgbClr val="5142F0"/>
              </a:gs>
              <a:gs pos="100000">
                <a:srgbClr val="0033D9"/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18" name="TextBox 55"/>
          <p:cNvSpPr txBox="1"/>
          <p:nvPr/>
        </p:nvSpPr>
        <p:spPr>
          <a:xfrm>
            <a:off x="967021" y="4876096"/>
            <a:ext cx="5389852" cy="1923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just">
              <a:lnSpc>
                <a:spcPts val="10200"/>
              </a:lnSpc>
              <a:defRPr b="1" sz="7300"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pPr>
            <a:r>
              <a:t>微影製程</a:t>
            </a:r>
          </a:p>
          <a:p>
            <a:pPr algn="just">
              <a:lnSpc>
                <a:spcPts val="4800"/>
              </a:lnSpc>
              <a:defRPr b="1" sz="4800"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pPr>
            <a:r>
              <a:t>Photolithography</a:t>
            </a:r>
          </a:p>
        </p:txBody>
      </p:sp>
      <p:sp>
        <p:nvSpPr>
          <p:cNvPr id="619" name="TextBox 56"/>
          <p:cNvSpPr txBox="1"/>
          <p:nvPr/>
        </p:nvSpPr>
        <p:spPr>
          <a:xfrm>
            <a:off x="967021" y="7685368"/>
            <a:ext cx="6869595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600"/>
              </a:lnSpc>
              <a:defRPr b="1" sz="3000"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•曝光後烘烤  (顯影前)</a:t>
            </a:r>
          </a:p>
        </p:txBody>
      </p:sp>
      <p:sp>
        <p:nvSpPr>
          <p:cNvPr id="620" name="TextBox 57"/>
          <p:cNvSpPr txBox="1"/>
          <p:nvPr/>
        </p:nvSpPr>
        <p:spPr>
          <a:xfrm>
            <a:off x="967021" y="8314018"/>
            <a:ext cx="6869595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600"/>
              </a:lnSpc>
              <a:defRPr b="1" sz="3000"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•顯影</a:t>
            </a:r>
          </a:p>
        </p:txBody>
      </p:sp>
      <p:sp>
        <p:nvSpPr>
          <p:cNvPr id="621" name="TextBox 58"/>
          <p:cNvSpPr txBox="1"/>
          <p:nvPr/>
        </p:nvSpPr>
        <p:spPr>
          <a:xfrm>
            <a:off x="967021" y="8942668"/>
            <a:ext cx="6869595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600"/>
              </a:lnSpc>
              <a:defRPr b="1" sz="3000"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•硬烘烤  (顯影後)</a:t>
            </a:r>
          </a:p>
        </p:txBody>
      </p:sp>
      <p:sp>
        <p:nvSpPr>
          <p:cNvPr id="622" name="TextBox 59"/>
          <p:cNvSpPr txBox="1"/>
          <p:nvPr/>
        </p:nvSpPr>
        <p:spPr>
          <a:xfrm>
            <a:off x="967021" y="7056718"/>
            <a:ext cx="6869595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600"/>
              </a:lnSpc>
              <a:defRPr b="1" sz="3000"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•曝光</a:t>
            </a:r>
          </a:p>
        </p:txBody>
      </p:sp>
      <p:sp>
        <p:nvSpPr>
          <p:cNvPr id="623" name="TextBox 60"/>
          <p:cNvSpPr txBox="1"/>
          <p:nvPr/>
        </p:nvSpPr>
        <p:spPr>
          <a:xfrm>
            <a:off x="17259300" y="9680463"/>
            <a:ext cx="762376" cy="389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3200"/>
              </a:lnSpc>
              <a:defRPr sz="2200">
                <a:latin typeface="Noto Sans T Chinese"/>
                <a:ea typeface="Noto Sans T Chinese"/>
                <a:cs typeface="Noto Sans T Chinese"/>
                <a:sym typeface="Noto Sans T Chinese"/>
              </a:defRPr>
            </a:lvl1pPr>
          </a:lstStyle>
          <a:p>
            <a:pPr/>
            <a:r>
              <a:t>18/24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Freeform 3"/>
          <p:cNvSpPr/>
          <p:nvPr/>
        </p:nvSpPr>
        <p:spPr>
          <a:xfrm>
            <a:off x="0" y="10098929"/>
            <a:ext cx="9853056" cy="188072"/>
          </a:xfrm>
          <a:prstGeom prst="rect">
            <a:avLst/>
          </a:prstGeom>
          <a:gradFill>
            <a:gsLst>
              <a:gs pos="0">
                <a:srgbClr val="F600FE"/>
              </a:gs>
              <a:gs pos="25000">
                <a:srgbClr val="C900FE"/>
              </a:gs>
              <a:gs pos="50000">
                <a:srgbClr val="A136FF"/>
              </a:gs>
              <a:gs pos="75000">
                <a:srgbClr val="5142F0"/>
              </a:gs>
              <a:gs pos="100000">
                <a:srgbClr val="0033D9"/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26" name="Freeform 6"/>
          <p:cNvSpPr/>
          <p:nvPr/>
        </p:nvSpPr>
        <p:spPr>
          <a:xfrm>
            <a:off x="9853055" y="0"/>
            <a:ext cx="8434945" cy="167139"/>
          </a:xfrm>
          <a:prstGeom prst="rect">
            <a:avLst/>
          </a:prstGeom>
          <a:gradFill>
            <a:gsLst>
              <a:gs pos="0">
                <a:srgbClr val="F600FE"/>
              </a:gs>
              <a:gs pos="25000">
                <a:srgbClr val="C900FE"/>
              </a:gs>
              <a:gs pos="50000">
                <a:srgbClr val="A136FF"/>
              </a:gs>
              <a:gs pos="75000">
                <a:srgbClr val="5142F0"/>
              </a:gs>
              <a:gs pos="100000">
                <a:srgbClr val="0033D9"/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grpSp>
        <p:nvGrpSpPr>
          <p:cNvPr id="638" name="Group 8"/>
          <p:cNvGrpSpPr/>
          <p:nvPr/>
        </p:nvGrpSpPr>
        <p:grpSpPr>
          <a:xfrm>
            <a:off x="7155340" y="313974"/>
            <a:ext cx="5907673" cy="4829526"/>
            <a:chOff x="0" y="0"/>
            <a:chExt cx="5907671" cy="4829524"/>
          </a:xfrm>
        </p:grpSpPr>
        <p:sp>
          <p:nvSpPr>
            <p:cNvPr id="627" name="Freeform 9"/>
            <p:cNvSpPr/>
            <p:nvPr/>
          </p:nvSpPr>
          <p:spPr>
            <a:xfrm>
              <a:off x="654192" y="-1"/>
              <a:ext cx="5253480" cy="4829526"/>
            </a:xfrm>
            <a:prstGeom prst="rect">
              <a:avLst/>
            </a:prstGeom>
            <a:blipFill rotWithShape="1">
              <a:blip r:embed="rId2"/>
              <a:srcRect l="0" t="0" r="0" b="0"/>
              <a:stretch>
                <a:fillRect/>
              </a:stretch>
            </a:blip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28" name="Freeform 10"/>
            <p:cNvSpPr/>
            <p:nvPr/>
          </p:nvSpPr>
          <p:spPr>
            <a:xfrm rot="20315912">
              <a:off x="59363" y="2952874"/>
              <a:ext cx="644569" cy="447171"/>
            </a:xfrm>
            <a:prstGeom prst="rect">
              <a:avLst/>
            </a:prstGeom>
            <a:blipFill rotWithShape="1">
              <a:blip r:embed="rId3"/>
              <a:srcRect l="0" t="0" r="0" b="0"/>
              <a:stretch>
                <a:fillRect/>
              </a:stretch>
            </a:blip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29" name="TextBox 11"/>
            <p:cNvSpPr txBox="1"/>
            <p:nvPr/>
          </p:nvSpPr>
          <p:spPr>
            <a:xfrm rot="17774432">
              <a:off x="3182268" y="530934"/>
              <a:ext cx="917747" cy="20777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lnSpc>
                  <a:spcPts val="1700"/>
                </a:lnSpc>
                <a:defRPr b="1" sz="1200">
                  <a:solidFill>
                    <a:srgbClr val="FFFFFF"/>
                  </a:solidFill>
                  <a:latin typeface="Noto Sans T Chinese Bold"/>
                  <a:ea typeface="Noto Sans T Chinese Bold"/>
                  <a:cs typeface="Noto Sans T Chinese Bold"/>
                  <a:sym typeface="Noto Sans T Chinese Bold"/>
                </a:defRPr>
              </a:lvl1pPr>
            </a:lstStyle>
            <a:p>
              <a:pPr/>
              <a:r>
                <a:t>Photoresist</a:t>
              </a:r>
            </a:p>
          </p:txBody>
        </p:sp>
        <p:sp>
          <p:nvSpPr>
            <p:cNvPr id="630" name="TextBox 12"/>
            <p:cNvSpPr txBox="1"/>
            <p:nvPr/>
          </p:nvSpPr>
          <p:spPr>
            <a:xfrm rot="823469">
              <a:off x="3060728" y="1772095"/>
              <a:ext cx="765348" cy="17144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lnSpc>
                  <a:spcPts val="1400"/>
                </a:lnSpc>
                <a:defRPr b="1" sz="1000">
                  <a:solidFill>
                    <a:srgbClr val="FFFFFF"/>
                  </a:solidFill>
                  <a:latin typeface="Noto Sans T Chinese Bold"/>
                  <a:ea typeface="Noto Sans T Chinese Bold"/>
                  <a:cs typeface="Noto Sans T Chinese Bold"/>
                  <a:sym typeface="Noto Sans T Chinese Bold"/>
                </a:defRPr>
              </a:lvl1pPr>
            </a:lstStyle>
            <a:p>
              <a:pPr/>
              <a:r>
                <a:t>Poly Silicon </a:t>
              </a:r>
            </a:p>
          </p:txBody>
        </p:sp>
        <p:sp>
          <p:nvSpPr>
            <p:cNvPr id="631" name="TextBox 13"/>
            <p:cNvSpPr txBox="1"/>
            <p:nvPr/>
          </p:nvSpPr>
          <p:spPr>
            <a:xfrm rot="856060">
              <a:off x="3295374" y="2008451"/>
              <a:ext cx="334453" cy="1714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lnSpc>
                  <a:spcPts val="1400"/>
                </a:lnSpc>
                <a:defRPr b="1" sz="1000">
                  <a:solidFill>
                    <a:srgbClr val="FFFFFF"/>
                  </a:solidFill>
                  <a:latin typeface="Noto Sans T Chinese Bold"/>
                  <a:ea typeface="Noto Sans T Chinese Bold"/>
                  <a:cs typeface="Noto Sans T Chinese Bold"/>
                  <a:sym typeface="Noto Sans T Chinese Bold"/>
                </a:defRPr>
              </a:lvl1pPr>
            </a:lstStyle>
            <a:p>
              <a:pPr/>
              <a:r>
                <a:t>SiO₂</a:t>
              </a:r>
            </a:p>
          </p:txBody>
        </p:sp>
        <p:sp>
          <p:nvSpPr>
            <p:cNvPr id="632" name="TextBox 14"/>
            <p:cNvSpPr txBox="1"/>
            <p:nvPr/>
          </p:nvSpPr>
          <p:spPr>
            <a:xfrm rot="849131">
              <a:off x="2327404" y="2008447"/>
              <a:ext cx="768844" cy="17144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lnSpc>
                  <a:spcPts val="1400"/>
                </a:lnSpc>
                <a:defRPr b="1" sz="1000">
                  <a:solidFill>
                    <a:srgbClr val="FFFFFF"/>
                  </a:solidFill>
                  <a:latin typeface="Noto Sans T Chinese Bold"/>
                  <a:ea typeface="Noto Sans T Chinese Bold"/>
                  <a:cs typeface="Noto Sans T Chinese Bold"/>
                  <a:sym typeface="Noto Sans T Chinese Bold"/>
                </a:defRPr>
              </a:lvl1pPr>
            </a:lstStyle>
            <a:p>
              <a:pPr/>
              <a:r>
                <a:t>Source (n+)</a:t>
              </a:r>
            </a:p>
          </p:txBody>
        </p:sp>
        <p:sp>
          <p:nvSpPr>
            <p:cNvPr id="633" name="TextBox 15"/>
            <p:cNvSpPr txBox="1"/>
            <p:nvPr/>
          </p:nvSpPr>
          <p:spPr>
            <a:xfrm rot="831345">
              <a:off x="3875666" y="2380122"/>
              <a:ext cx="671194" cy="17144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lnSpc>
                  <a:spcPts val="1400"/>
                </a:lnSpc>
                <a:defRPr b="1" sz="1000">
                  <a:solidFill>
                    <a:srgbClr val="FFFFFF"/>
                  </a:solidFill>
                  <a:latin typeface="Noto Sans T Chinese Bold"/>
                  <a:ea typeface="Noto Sans T Chinese Bold"/>
                  <a:cs typeface="Noto Sans T Chinese Bold"/>
                  <a:sym typeface="Noto Sans T Chinese Bold"/>
                </a:defRPr>
              </a:lvl1pPr>
            </a:lstStyle>
            <a:p>
              <a:pPr/>
              <a:r>
                <a:t>Drain (n+)</a:t>
              </a:r>
            </a:p>
          </p:txBody>
        </p:sp>
        <p:sp>
          <p:nvSpPr>
            <p:cNvPr id="634" name="TextBox 16"/>
            <p:cNvSpPr txBox="1"/>
            <p:nvPr/>
          </p:nvSpPr>
          <p:spPr>
            <a:xfrm rot="840229">
              <a:off x="3134464" y="2381146"/>
              <a:ext cx="656196" cy="17144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lnSpc>
                  <a:spcPts val="1400"/>
                </a:lnSpc>
                <a:defRPr b="1" sz="1000">
                  <a:solidFill>
                    <a:srgbClr val="FFFFFF"/>
                  </a:solidFill>
                  <a:latin typeface="Noto Sans T Chinese Bold"/>
                  <a:ea typeface="Noto Sans T Chinese Bold"/>
                  <a:cs typeface="Noto Sans T Chinese Bold"/>
                  <a:sym typeface="Noto Sans T Chinese Bold"/>
                </a:defRPr>
              </a:lvl1pPr>
            </a:lstStyle>
            <a:p>
              <a:pPr/>
              <a:r>
                <a:t>Substrate</a:t>
              </a:r>
            </a:p>
          </p:txBody>
        </p:sp>
        <p:sp>
          <p:nvSpPr>
            <p:cNvPr id="635" name="TextBox 17"/>
            <p:cNvSpPr txBox="1"/>
            <p:nvPr/>
          </p:nvSpPr>
          <p:spPr>
            <a:xfrm rot="779507">
              <a:off x="3110308" y="1441167"/>
              <a:ext cx="668664" cy="17144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lnSpc>
                  <a:spcPts val="1400"/>
                </a:lnSpc>
                <a:defRPr b="1" sz="1000">
                  <a:solidFill>
                    <a:srgbClr val="FFFFFF"/>
                  </a:solidFill>
                  <a:latin typeface="Noto Sans T Chinese Bold"/>
                  <a:ea typeface="Noto Sans T Chinese Bold"/>
                  <a:cs typeface="Noto Sans T Chinese Bold"/>
                  <a:sym typeface="Noto Sans T Chinese Bold"/>
                </a:defRPr>
              </a:lvl1pPr>
            </a:lstStyle>
            <a:p>
              <a:pPr/>
              <a:r>
                <a:t>Metal - Cu</a:t>
              </a:r>
            </a:p>
          </p:txBody>
        </p:sp>
        <p:sp>
          <p:nvSpPr>
            <p:cNvPr id="636" name="TextBox 18"/>
            <p:cNvSpPr txBox="1"/>
            <p:nvPr/>
          </p:nvSpPr>
          <p:spPr>
            <a:xfrm rot="817766">
              <a:off x="1993682" y="1606640"/>
              <a:ext cx="803503" cy="17144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lnSpc>
                  <a:spcPts val="1400"/>
                </a:lnSpc>
                <a:defRPr b="1" sz="1000">
                  <a:solidFill>
                    <a:srgbClr val="FFFFFF"/>
                  </a:solidFill>
                  <a:latin typeface="Noto Sans T Chinese Bold"/>
                  <a:ea typeface="Noto Sans T Chinese Bold"/>
                  <a:cs typeface="Noto Sans T Chinese Bold"/>
                  <a:sym typeface="Noto Sans T Chinese Bold"/>
                </a:defRPr>
              </a:lvl1pPr>
            </a:lstStyle>
            <a:p>
              <a:pPr/>
              <a:r>
                <a:t>Metal - Cu</a:t>
              </a:r>
            </a:p>
          </p:txBody>
        </p:sp>
        <p:sp>
          <p:nvSpPr>
            <p:cNvPr id="637" name="TextBox 19"/>
            <p:cNvSpPr txBox="1"/>
            <p:nvPr/>
          </p:nvSpPr>
          <p:spPr>
            <a:xfrm rot="765628">
              <a:off x="4216739" y="2152148"/>
              <a:ext cx="803503" cy="17144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lnSpc>
                  <a:spcPts val="1400"/>
                </a:lnSpc>
                <a:defRPr b="1" sz="1000">
                  <a:solidFill>
                    <a:srgbClr val="FFFFFF"/>
                  </a:solidFill>
                  <a:latin typeface="Noto Sans T Chinese Bold"/>
                  <a:ea typeface="Noto Sans T Chinese Bold"/>
                  <a:cs typeface="Noto Sans T Chinese Bold"/>
                  <a:sym typeface="Noto Sans T Chinese Bold"/>
                </a:defRPr>
              </a:lvl1pPr>
            </a:lstStyle>
            <a:p>
              <a:pPr/>
              <a:r>
                <a:t>Metal - Cu</a:t>
              </a:r>
            </a:p>
          </p:txBody>
        </p:sp>
      </p:grpSp>
      <p:sp>
        <p:nvSpPr>
          <p:cNvPr id="639" name="Freeform 21"/>
          <p:cNvSpPr/>
          <p:nvPr/>
        </p:nvSpPr>
        <p:spPr>
          <a:xfrm>
            <a:off x="468758" y="890527"/>
            <a:ext cx="373881" cy="373882"/>
          </a:xfrm>
          <a:prstGeom prst="ellipse">
            <a:avLst/>
          </a:prstGeom>
          <a:gradFill>
            <a:gsLst>
              <a:gs pos="0">
                <a:srgbClr val="F600FE"/>
              </a:gs>
              <a:gs pos="25000">
                <a:srgbClr val="C900FE"/>
              </a:gs>
              <a:gs pos="50000">
                <a:srgbClr val="A136FF"/>
              </a:gs>
              <a:gs pos="75000">
                <a:srgbClr val="5142F0"/>
              </a:gs>
              <a:gs pos="100000">
                <a:srgbClr val="0033D9"/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40" name="TextBox 23"/>
          <p:cNvSpPr txBox="1"/>
          <p:nvPr/>
        </p:nvSpPr>
        <p:spPr>
          <a:xfrm>
            <a:off x="973689" y="364243"/>
            <a:ext cx="6563412" cy="19232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just">
              <a:lnSpc>
                <a:spcPts val="10200"/>
              </a:lnSpc>
              <a:defRPr b="1" sz="7300"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pPr>
            <a:r>
              <a:t>蝕刻</a:t>
            </a:r>
          </a:p>
          <a:p>
            <a:pPr algn="just">
              <a:lnSpc>
                <a:spcPts val="4800"/>
              </a:lnSpc>
              <a:defRPr b="1" sz="4800"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pPr>
            <a:r>
              <a:t>Etching</a:t>
            </a:r>
          </a:p>
        </p:txBody>
      </p:sp>
      <p:sp>
        <p:nvSpPr>
          <p:cNvPr id="641" name="TextBox 24"/>
          <p:cNvSpPr txBox="1"/>
          <p:nvPr/>
        </p:nvSpPr>
        <p:spPr>
          <a:xfrm>
            <a:off x="973689" y="3256155"/>
            <a:ext cx="6869594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600"/>
              </a:lnSpc>
              <a:defRPr b="1" sz="3000"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•乾式蝕刻  (電漿蝕刻)</a:t>
            </a:r>
          </a:p>
        </p:txBody>
      </p:sp>
      <p:sp>
        <p:nvSpPr>
          <p:cNvPr id="642" name="TextBox 25"/>
          <p:cNvSpPr txBox="1"/>
          <p:nvPr/>
        </p:nvSpPr>
        <p:spPr>
          <a:xfrm>
            <a:off x="973689" y="3884805"/>
            <a:ext cx="6869594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600"/>
              </a:lnSpc>
              <a:defRPr b="1" sz="3000"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•透過溶劑或電漿清除剩餘光阻</a:t>
            </a:r>
          </a:p>
        </p:txBody>
      </p:sp>
      <p:sp>
        <p:nvSpPr>
          <p:cNvPr id="643" name="TextBox 26"/>
          <p:cNvSpPr txBox="1"/>
          <p:nvPr/>
        </p:nvSpPr>
        <p:spPr>
          <a:xfrm>
            <a:off x="973689" y="2627506"/>
            <a:ext cx="6869594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600"/>
              </a:lnSpc>
              <a:defRPr b="1" sz="3000"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•濕式蝕刻  (↑3μm 製程 )</a:t>
            </a:r>
          </a:p>
        </p:txBody>
      </p:sp>
      <p:sp>
        <p:nvSpPr>
          <p:cNvPr id="644" name="TextBox 27"/>
          <p:cNvSpPr txBox="1"/>
          <p:nvPr/>
        </p:nvSpPr>
        <p:spPr>
          <a:xfrm>
            <a:off x="973689" y="4513455"/>
            <a:ext cx="6869594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600"/>
              </a:lnSpc>
              <a:defRPr b="1" sz="3000"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•三步驟 : 蝕刻、沖洗、旋乾</a:t>
            </a:r>
          </a:p>
        </p:txBody>
      </p:sp>
      <p:sp>
        <p:nvSpPr>
          <p:cNvPr id="645" name="TextBox 28"/>
          <p:cNvSpPr txBox="1"/>
          <p:nvPr/>
        </p:nvSpPr>
        <p:spPr>
          <a:xfrm>
            <a:off x="973689" y="5142105"/>
            <a:ext cx="6869594" cy="495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600"/>
              </a:lnSpc>
              <a:defRPr b="1" sz="3000"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•去除不需要的金屬部分</a:t>
            </a:r>
          </a:p>
        </p:txBody>
      </p:sp>
      <p:sp>
        <p:nvSpPr>
          <p:cNvPr id="646" name="Freeform 29"/>
          <p:cNvSpPr/>
          <p:nvPr/>
        </p:nvSpPr>
        <p:spPr>
          <a:xfrm>
            <a:off x="12958072" y="313975"/>
            <a:ext cx="4725962" cy="4744619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47" name="Freeform 30"/>
          <p:cNvSpPr/>
          <p:nvPr/>
        </p:nvSpPr>
        <p:spPr>
          <a:xfrm rot="20315912">
            <a:off x="12515925" y="3492186"/>
            <a:ext cx="701730" cy="486825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48" name="TextBox 31"/>
          <p:cNvSpPr txBox="1"/>
          <p:nvPr/>
        </p:nvSpPr>
        <p:spPr>
          <a:xfrm rot="536292">
            <a:off x="15058387" y="2102870"/>
            <a:ext cx="765348" cy="171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defRPr b="1" sz="1000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Poly Silicon </a:t>
            </a:r>
          </a:p>
        </p:txBody>
      </p:sp>
      <p:sp>
        <p:nvSpPr>
          <p:cNvPr id="649" name="TextBox 32"/>
          <p:cNvSpPr txBox="1"/>
          <p:nvPr/>
        </p:nvSpPr>
        <p:spPr>
          <a:xfrm rot="606445">
            <a:off x="15303044" y="2305757"/>
            <a:ext cx="334453" cy="171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defRPr b="1" sz="1000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SiO₂</a:t>
            </a:r>
          </a:p>
        </p:txBody>
      </p:sp>
      <p:sp>
        <p:nvSpPr>
          <p:cNvPr id="650" name="TextBox 33"/>
          <p:cNvSpPr txBox="1"/>
          <p:nvPr/>
        </p:nvSpPr>
        <p:spPr>
          <a:xfrm rot="565212">
            <a:off x="14322970" y="2406774"/>
            <a:ext cx="749687" cy="171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defRPr b="1" sz="1000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Source (n+)</a:t>
            </a:r>
          </a:p>
        </p:txBody>
      </p:sp>
      <p:sp>
        <p:nvSpPr>
          <p:cNvPr id="651" name="TextBox 34"/>
          <p:cNvSpPr txBox="1"/>
          <p:nvPr/>
        </p:nvSpPr>
        <p:spPr>
          <a:xfrm rot="615201">
            <a:off x="15911964" y="2643411"/>
            <a:ext cx="653869" cy="1714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defRPr b="1" sz="1000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Drain (n+)</a:t>
            </a:r>
          </a:p>
        </p:txBody>
      </p:sp>
      <p:sp>
        <p:nvSpPr>
          <p:cNvPr id="652" name="TextBox 35"/>
          <p:cNvSpPr txBox="1"/>
          <p:nvPr/>
        </p:nvSpPr>
        <p:spPr>
          <a:xfrm rot="606345">
            <a:off x="15086484" y="2724709"/>
            <a:ext cx="773787" cy="171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defRPr b="1" sz="1000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Substrate</a:t>
            </a:r>
          </a:p>
        </p:txBody>
      </p:sp>
      <p:sp>
        <p:nvSpPr>
          <p:cNvPr id="653" name="TextBox 36"/>
          <p:cNvSpPr txBox="1"/>
          <p:nvPr/>
        </p:nvSpPr>
        <p:spPr>
          <a:xfrm rot="493779">
            <a:off x="15135975" y="1751595"/>
            <a:ext cx="668664" cy="171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defRPr b="1" sz="1000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Metal - Cu</a:t>
            </a:r>
          </a:p>
        </p:txBody>
      </p:sp>
      <p:sp>
        <p:nvSpPr>
          <p:cNvPr id="654" name="TextBox 37"/>
          <p:cNvSpPr txBox="1"/>
          <p:nvPr/>
        </p:nvSpPr>
        <p:spPr>
          <a:xfrm rot="433729">
            <a:off x="14099742" y="2024026"/>
            <a:ext cx="656314" cy="1714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defRPr b="1" sz="1000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Metal - Cu</a:t>
            </a:r>
          </a:p>
        </p:txBody>
      </p:sp>
      <p:sp>
        <p:nvSpPr>
          <p:cNvPr id="655" name="TextBox 38"/>
          <p:cNvSpPr txBox="1"/>
          <p:nvPr/>
        </p:nvSpPr>
        <p:spPr>
          <a:xfrm rot="506799">
            <a:off x="16245479" y="2355465"/>
            <a:ext cx="669469" cy="1714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defRPr b="1" sz="1000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Metal - Cu</a:t>
            </a:r>
          </a:p>
        </p:txBody>
      </p:sp>
      <p:sp>
        <p:nvSpPr>
          <p:cNvPr id="656" name="TextBox 39"/>
          <p:cNvSpPr txBox="1"/>
          <p:nvPr/>
        </p:nvSpPr>
        <p:spPr>
          <a:xfrm rot="17234116">
            <a:off x="15118095" y="908660"/>
            <a:ext cx="917748" cy="207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700"/>
              </a:lnSpc>
              <a:defRPr b="1" sz="1200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Photoresist</a:t>
            </a:r>
          </a:p>
        </p:txBody>
      </p:sp>
      <p:grpSp>
        <p:nvGrpSpPr>
          <p:cNvPr id="659" name="Group 40"/>
          <p:cNvGrpSpPr/>
          <p:nvPr/>
        </p:nvGrpSpPr>
        <p:grpSpPr>
          <a:xfrm>
            <a:off x="9853055" y="5151630"/>
            <a:ext cx="5798837" cy="5141962"/>
            <a:chOff x="0" y="0"/>
            <a:chExt cx="5798835" cy="5141960"/>
          </a:xfrm>
        </p:grpSpPr>
        <p:sp>
          <p:nvSpPr>
            <p:cNvPr id="657" name="Freeform 41"/>
            <p:cNvSpPr/>
            <p:nvPr/>
          </p:nvSpPr>
          <p:spPr>
            <a:xfrm>
              <a:off x="375901" y="-1"/>
              <a:ext cx="5422936" cy="5141962"/>
            </a:xfrm>
            <a:prstGeom prst="rect">
              <a:avLst/>
            </a:prstGeom>
            <a:blipFill rotWithShape="1">
              <a:blip r:embed="rId5"/>
              <a:srcRect l="0" t="0" r="0" b="0"/>
              <a:stretch>
                <a:fillRect/>
              </a:stretch>
            </a:blip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58" name="Freeform 42"/>
            <p:cNvSpPr/>
            <p:nvPr/>
          </p:nvSpPr>
          <p:spPr>
            <a:xfrm rot="20315912">
              <a:off x="58469" y="2671626"/>
              <a:ext cx="634865" cy="440438"/>
            </a:xfrm>
            <a:prstGeom prst="rect">
              <a:avLst/>
            </a:prstGeom>
            <a:blipFill rotWithShape="1">
              <a:blip r:embed="rId3"/>
              <a:srcRect l="0" t="0" r="0" b="0"/>
              <a:stretch>
                <a:fillRect/>
              </a:stretch>
            </a:blip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sp>
        <p:nvSpPr>
          <p:cNvPr id="660" name="TextBox 43"/>
          <p:cNvSpPr txBox="1"/>
          <p:nvPr/>
        </p:nvSpPr>
        <p:spPr>
          <a:xfrm rot="955798">
            <a:off x="12451020" y="6680273"/>
            <a:ext cx="765348" cy="171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defRPr b="1" sz="1000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Poly Silicon </a:t>
            </a:r>
          </a:p>
        </p:txBody>
      </p:sp>
      <p:sp>
        <p:nvSpPr>
          <p:cNvPr id="661" name="TextBox 44"/>
          <p:cNvSpPr txBox="1"/>
          <p:nvPr/>
        </p:nvSpPr>
        <p:spPr>
          <a:xfrm rot="1022573">
            <a:off x="11751720" y="7003365"/>
            <a:ext cx="749687" cy="171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defRPr b="1" sz="1000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Source (n+)</a:t>
            </a:r>
          </a:p>
        </p:txBody>
      </p:sp>
      <p:sp>
        <p:nvSpPr>
          <p:cNvPr id="662" name="TextBox 45"/>
          <p:cNvSpPr txBox="1"/>
          <p:nvPr/>
        </p:nvSpPr>
        <p:spPr>
          <a:xfrm rot="1086879">
            <a:off x="13370524" y="7474968"/>
            <a:ext cx="653869" cy="1714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defRPr b="1" sz="1000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Drain (n+)</a:t>
            </a:r>
          </a:p>
        </p:txBody>
      </p:sp>
      <p:sp>
        <p:nvSpPr>
          <p:cNvPr id="663" name="TextBox 46"/>
          <p:cNvSpPr txBox="1"/>
          <p:nvPr/>
        </p:nvSpPr>
        <p:spPr>
          <a:xfrm rot="1054988">
            <a:off x="12509306" y="7459491"/>
            <a:ext cx="773787" cy="1714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defRPr b="1" sz="1000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Substrate</a:t>
            </a:r>
          </a:p>
        </p:txBody>
      </p:sp>
      <p:sp>
        <p:nvSpPr>
          <p:cNvPr id="664" name="TextBox 47"/>
          <p:cNvSpPr txBox="1"/>
          <p:nvPr/>
        </p:nvSpPr>
        <p:spPr>
          <a:xfrm rot="856793">
            <a:off x="12513199" y="6352042"/>
            <a:ext cx="668664" cy="1714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defRPr b="1" sz="1000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Metal - Cu</a:t>
            </a:r>
          </a:p>
        </p:txBody>
      </p:sp>
      <p:sp>
        <p:nvSpPr>
          <p:cNvPr id="665" name="TextBox 48"/>
          <p:cNvSpPr txBox="1"/>
          <p:nvPr/>
        </p:nvSpPr>
        <p:spPr>
          <a:xfrm rot="982826">
            <a:off x="11504298" y="6557742"/>
            <a:ext cx="656314" cy="171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defRPr b="1" sz="1000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Metal - Cu</a:t>
            </a:r>
          </a:p>
        </p:txBody>
      </p:sp>
      <p:sp>
        <p:nvSpPr>
          <p:cNvPr id="666" name="TextBox 49"/>
          <p:cNvSpPr txBox="1"/>
          <p:nvPr/>
        </p:nvSpPr>
        <p:spPr>
          <a:xfrm rot="983185">
            <a:off x="13695650" y="7139646"/>
            <a:ext cx="669469" cy="1714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defRPr b="1" sz="1000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Metal - Cu</a:t>
            </a:r>
          </a:p>
        </p:txBody>
      </p:sp>
      <p:sp>
        <p:nvSpPr>
          <p:cNvPr id="667" name="TextBox 50"/>
          <p:cNvSpPr txBox="1"/>
          <p:nvPr/>
        </p:nvSpPr>
        <p:spPr>
          <a:xfrm rot="970789">
            <a:off x="12703932" y="6975323"/>
            <a:ext cx="334453" cy="1714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400"/>
              </a:lnSpc>
              <a:defRPr b="1" sz="1000">
                <a:solidFill>
                  <a:srgbClr val="FFFFFF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SiO₂</a:t>
            </a:r>
          </a:p>
        </p:txBody>
      </p:sp>
      <p:sp>
        <p:nvSpPr>
          <p:cNvPr id="668" name="TextBox 51"/>
          <p:cNvSpPr txBox="1"/>
          <p:nvPr/>
        </p:nvSpPr>
        <p:spPr>
          <a:xfrm>
            <a:off x="17259300" y="9680463"/>
            <a:ext cx="762376" cy="389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3200"/>
              </a:lnSpc>
              <a:defRPr sz="2200">
                <a:latin typeface="Noto Sans T Chinese"/>
                <a:ea typeface="Noto Sans T Chinese"/>
                <a:cs typeface="Noto Sans T Chinese"/>
                <a:sym typeface="Noto Sans T Chinese"/>
              </a:defRPr>
            </a:lvl1pPr>
          </a:lstStyle>
          <a:p>
            <a:pPr/>
            <a:r>
              <a:t>19/24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Freeform 3"/>
          <p:cNvSpPr/>
          <p:nvPr/>
        </p:nvSpPr>
        <p:spPr>
          <a:xfrm>
            <a:off x="0" y="10098929"/>
            <a:ext cx="9853056" cy="188072"/>
          </a:xfrm>
          <a:prstGeom prst="rect">
            <a:avLst/>
          </a:prstGeom>
          <a:gradFill>
            <a:gsLst>
              <a:gs pos="0">
                <a:srgbClr val="F600FE"/>
              </a:gs>
              <a:gs pos="25000">
                <a:srgbClr val="C900FE"/>
              </a:gs>
              <a:gs pos="50000">
                <a:srgbClr val="A136FF"/>
              </a:gs>
              <a:gs pos="75000">
                <a:srgbClr val="5142F0"/>
              </a:gs>
              <a:gs pos="100000">
                <a:srgbClr val="0033D9"/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71" name="Freeform 6"/>
          <p:cNvSpPr/>
          <p:nvPr/>
        </p:nvSpPr>
        <p:spPr>
          <a:xfrm>
            <a:off x="9853055" y="0"/>
            <a:ext cx="8434945" cy="167139"/>
          </a:xfrm>
          <a:prstGeom prst="rect">
            <a:avLst/>
          </a:prstGeom>
          <a:gradFill>
            <a:gsLst>
              <a:gs pos="0">
                <a:srgbClr val="F600FE"/>
              </a:gs>
              <a:gs pos="25000">
                <a:srgbClr val="C900FE"/>
              </a:gs>
              <a:gs pos="50000">
                <a:srgbClr val="A136FF"/>
              </a:gs>
              <a:gs pos="75000">
                <a:srgbClr val="5142F0"/>
              </a:gs>
              <a:gs pos="100000">
                <a:srgbClr val="0033D9"/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72" name="Freeform 9"/>
          <p:cNvSpPr/>
          <p:nvPr/>
        </p:nvSpPr>
        <p:spPr>
          <a:xfrm>
            <a:off x="523768" y="841758"/>
            <a:ext cx="373882" cy="373882"/>
          </a:xfrm>
          <a:prstGeom prst="ellipse">
            <a:avLst/>
          </a:prstGeom>
          <a:gradFill>
            <a:gsLst>
              <a:gs pos="0">
                <a:srgbClr val="F600FE"/>
              </a:gs>
              <a:gs pos="25000">
                <a:srgbClr val="C900FE"/>
              </a:gs>
              <a:gs pos="50000">
                <a:srgbClr val="A136FF"/>
              </a:gs>
              <a:gs pos="75000">
                <a:srgbClr val="5142F0"/>
              </a:gs>
              <a:gs pos="100000">
                <a:srgbClr val="0033D9"/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73" name="Freeform 11"/>
          <p:cNvSpPr/>
          <p:nvPr/>
        </p:nvSpPr>
        <p:spPr>
          <a:xfrm>
            <a:off x="14070527" y="4693860"/>
            <a:ext cx="3939737" cy="3422488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74" name="TextBox 12"/>
          <p:cNvSpPr txBox="1"/>
          <p:nvPr/>
        </p:nvSpPr>
        <p:spPr>
          <a:xfrm>
            <a:off x="189544" y="9105555"/>
            <a:ext cx="9473966" cy="4723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just">
              <a:lnSpc>
                <a:spcPts val="1900"/>
              </a:lnSpc>
              <a:defRPr sz="1300">
                <a:solidFill>
                  <a:srgbClr val="101010"/>
                </a:solidFill>
                <a:latin typeface="Noto Sans T Chinese"/>
                <a:ea typeface="Noto Sans T Chinese"/>
                <a:cs typeface="Noto Sans T Chinese"/>
                <a:sym typeface="Noto Sans T Chinese"/>
              </a:defRPr>
            </a:pPr>
            <a:r>
              <a:t>CMOS Cross section from wiki :</a:t>
            </a:r>
          </a:p>
          <a:p>
            <a:pPr algn="just">
              <a:lnSpc>
                <a:spcPts val="1900"/>
              </a:lnSpc>
              <a:defRPr sz="1300">
                <a:solidFill>
                  <a:srgbClr val="101010"/>
                </a:solidFill>
                <a:latin typeface="Noto Sans T Chinese"/>
                <a:ea typeface="Noto Sans T Chinese"/>
                <a:cs typeface="Noto Sans T Chinese"/>
                <a:sym typeface="Noto Sans T Chinese"/>
              </a:defRPr>
            </a:pPr>
            <a:r>
              <a:t>https://commons.wikimedia.org/wiki/File:Cmos_impurity_profile.PNG#/media/File:Cmos_impurity_profile.PNG</a:t>
            </a:r>
          </a:p>
        </p:txBody>
      </p:sp>
      <p:sp>
        <p:nvSpPr>
          <p:cNvPr id="675" name="TextBox 13"/>
          <p:cNvSpPr txBox="1"/>
          <p:nvPr/>
        </p:nvSpPr>
        <p:spPr>
          <a:xfrm>
            <a:off x="2647899" y="8648700"/>
            <a:ext cx="3643599" cy="412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000"/>
              </a:lnSpc>
              <a:defRPr b="1" sz="2500"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▲ CMOS Cross section</a:t>
            </a:r>
          </a:p>
        </p:txBody>
      </p:sp>
      <p:sp>
        <p:nvSpPr>
          <p:cNvPr id="676" name="TextBox 14"/>
          <p:cNvSpPr txBox="1"/>
          <p:nvPr/>
        </p:nvSpPr>
        <p:spPr>
          <a:xfrm>
            <a:off x="11473619" y="8648700"/>
            <a:ext cx="1468771" cy="412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3000"/>
              </a:lnSpc>
              <a:defRPr b="1" sz="2500"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lvl1pPr>
          </a:lstStyle>
          <a:p>
            <a:pPr/>
            <a:r>
              <a:t>▲ NMOS </a:t>
            </a:r>
          </a:p>
        </p:txBody>
      </p:sp>
      <p:sp>
        <p:nvSpPr>
          <p:cNvPr id="677" name="TextBox 15"/>
          <p:cNvSpPr txBox="1"/>
          <p:nvPr/>
        </p:nvSpPr>
        <p:spPr>
          <a:xfrm>
            <a:off x="1028700" y="124602"/>
            <a:ext cx="15757446" cy="26911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just">
              <a:lnSpc>
                <a:spcPts val="10200"/>
              </a:lnSpc>
              <a:defRPr b="1" sz="7300"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pPr>
            <a:r>
              <a:t>化學機械研磨</a:t>
            </a:r>
          </a:p>
          <a:p>
            <a:pPr algn="just">
              <a:lnSpc>
                <a:spcPts val="6700"/>
              </a:lnSpc>
              <a:defRPr b="1" sz="4800">
                <a:latin typeface="Noto Sans T Chinese Bold"/>
                <a:ea typeface="Noto Sans T Chinese Bold"/>
                <a:cs typeface="Noto Sans T Chinese Bold"/>
                <a:sym typeface="Noto Sans T Chinese Bold"/>
              </a:defRPr>
            </a:pPr>
            <a:r>
              <a:t>Chemical-Mechanical Polishing</a:t>
            </a:r>
          </a:p>
        </p:txBody>
      </p:sp>
      <p:sp>
        <p:nvSpPr>
          <p:cNvPr id="678" name="Freeform 16"/>
          <p:cNvSpPr/>
          <p:nvPr/>
        </p:nvSpPr>
        <p:spPr>
          <a:xfrm>
            <a:off x="3049895" y="2664089"/>
            <a:ext cx="3241603" cy="5889361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grpSp>
        <p:nvGrpSpPr>
          <p:cNvPr id="689" name="Group 17"/>
          <p:cNvGrpSpPr/>
          <p:nvPr/>
        </p:nvGrpSpPr>
        <p:grpSpPr>
          <a:xfrm>
            <a:off x="7268298" y="4256757"/>
            <a:ext cx="7642147" cy="4296693"/>
            <a:chOff x="0" y="0"/>
            <a:chExt cx="7642145" cy="4296691"/>
          </a:xfrm>
        </p:grpSpPr>
        <p:sp>
          <p:nvSpPr>
            <p:cNvPr id="679" name="Freeform 18"/>
            <p:cNvSpPr/>
            <p:nvPr/>
          </p:nvSpPr>
          <p:spPr>
            <a:xfrm>
              <a:off x="0" y="-1"/>
              <a:ext cx="7642146" cy="4296693"/>
            </a:xfrm>
            <a:prstGeom prst="rect">
              <a:avLst/>
            </a:prstGeom>
            <a:blipFill rotWithShape="1">
              <a:blip r:embed="rId4"/>
              <a:srcRect l="0" t="0" r="0" b="0"/>
              <a:stretch>
                <a:fillRect/>
              </a:stretch>
            </a:blip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80" name="TextBox 19"/>
            <p:cNvSpPr txBox="1"/>
            <p:nvPr/>
          </p:nvSpPr>
          <p:spPr>
            <a:xfrm rot="955798">
              <a:off x="3291823" y="2197941"/>
              <a:ext cx="698119" cy="14820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lnSpc>
                  <a:spcPts val="1200"/>
                </a:lnSpc>
                <a:defRPr b="1" sz="900">
                  <a:solidFill>
                    <a:srgbClr val="FFFFFF"/>
                  </a:solidFill>
                  <a:latin typeface="Noto Sans T Chinese Bold"/>
                  <a:ea typeface="Noto Sans T Chinese Bold"/>
                  <a:cs typeface="Noto Sans T Chinese Bold"/>
                  <a:sym typeface="Noto Sans T Chinese Bold"/>
                </a:defRPr>
              </a:lvl1pPr>
            </a:lstStyle>
            <a:p>
              <a:pPr/>
              <a:r>
                <a:t>Poly Silicon </a:t>
              </a:r>
            </a:p>
          </p:txBody>
        </p:sp>
        <p:sp>
          <p:nvSpPr>
            <p:cNvPr id="681" name="TextBox 20"/>
            <p:cNvSpPr txBox="1"/>
            <p:nvPr/>
          </p:nvSpPr>
          <p:spPr>
            <a:xfrm rot="809572">
              <a:off x="2284495" y="2610907"/>
              <a:ext cx="686852" cy="14820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lnSpc>
                  <a:spcPts val="1200"/>
                </a:lnSpc>
                <a:defRPr b="1" sz="900">
                  <a:solidFill>
                    <a:srgbClr val="FFFFFF"/>
                  </a:solidFill>
                  <a:latin typeface="Noto Sans T Chinese Bold"/>
                  <a:ea typeface="Noto Sans T Chinese Bold"/>
                  <a:cs typeface="Noto Sans T Chinese Bold"/>
                  <a:sym typeface="Noto Sans T Chinese Bold"/>
                </a:defRPr>
              </a:lvl1pPr>
            </a:lstStyle>
            <a:p>
              <a:pPr/>
              <a:r>
                <a:t>Source (n+)</a:t>
              </a:r>
            </a:p>
          </p:txBody>
        </p:sp>
        <p:sp>
          <p:nvSpPr>
            <p:cNvPr id="682" name="TextBox 21"/>
            <p:cNvSpPr txBox="1"/>
            <p:nvPr/>
          </p:nvSpPr>
          <p:spPr>
            <a:xfrm rot="920837">
              <a:off x="4367411" y="3147018"/>
              <a:ext cx="593344" cy="14820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lnSpc>
                  <a:spcPts val="1200"/>
                </a:lnSpc>
                <a:defRPr b="1" sz="900">
                  <a:solidFill>
                    <a:srgbClr val="FFFFFF"/>
                  </a:solidFill>
                  <a:latin typeface="Noto Sans T Chinese Bold"/>
                  <a:ea typeface="Noto Sans T Chinese Bold"/>
                  <a:cs typeface="Noto Sans T Chinese Bold"/>
                  <a:sym typeface="Noto Sans T Chinese Bold"/>
                </a:defRPr>
              </a:lvl1pPr>
            </a:lstStyle>
            <a:p>
              <a:pPr/>
              <a:r>
                <a:t>Drain (n+)</a:t>
              </a:r>
            </a:p>
          </p:txBody>
        </p:sp>
        <p:sp>
          <p:nvSpPr>
            <p:cNvPr id="683" name="TextBox 22"/>
            <p:cNvSpPr txBox="1"/>
            <p:nvPr/>
          </p:nvSpPr>
          <p:spPr>
            <a:xfrm rot="910726">
              <a:off x="3293498" y="3157596"/>
              <a:ext cx="616006" cy="1482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lnSpc>
                  <a:spcPts val="1200"/>
                </a:lnSpc>
                <a:defRPr b="1" sz="900">
                  <a:solidFill>
                    <a:srgbClr val="FFFFFF"/>
                  </a:solidFill>
                  <a:latin typeface="Noto Sans T Chinese Bold"/>
                  <a:ea typeface="Noto Sans T Chinese Bold"/>
                  <a:cs typeface="Noto Sans T Chinese Bold"/>
                  <a:sym typeface="Noto Sans T Chinese Bold"/>
                </a:defRPr>
              </a:lvl1pPr>
            </a:lstStyle>
            <a:p>
              <a:pPr/>
              <a:r>
                <a:t>Substrate</a:t>
              </a:r>
            </a:p>
          </p:txBody>
        </p:sp>
        <p:sp>
          <p:nvSpPr>
            <p:cNvPr id="684" name="TextBox 23"/>
            <p:cNvSpPr txBox="1"/>
            <p:nvPr/>
          </p:nvSpPr>
          <p:spPr>
            <a:xfrm rot="575517">
              <a:off x="3292960" y="1516454"/>
              <a:ext cx="606886" cy="1482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lnSpc>
                  <a:spcPts val="1200"/>
                </a:lnSpc>
                <a:defRPr b="1" sz="900">
                  <a:solidFill>
                    <a:srgbClr val="FFFFFF"/>
                  </a:solidFill>
                  <a:latin typeface="Noto Sans T Chinese Bold"/>
                  <a:ea typeface="Noto Sans T Chinese Bold"/>
                  <a:cs typeface="Noto Sans T Chinese Bold"/>
                  <a:sym typeface="Noto Sans T Chinese Bold"/>
                </a:defRPr>
              </a:lvl1pPr>
            </a:lstStyle>
            <a:p>
              <a:pPr/>
              <a:r>
                <a:t>Metal - Cu</a:t>
              </a:r>
            </a:p>
          </p:txBody>
        </p:sp>
        <p:sp>
          <p:nvSpPr>
            <p:cNvPr id="685" name="TextBox 24"/>
            <p:cNvSpPr txBox="1"/>
            <p:nvPr/>
          </p:nvSpPr>
          <p:spPr>
            <a:xfrm rot="733973">
              <a:off x="2005641" y="2197798"/>
              <a:ext cx="614470" cy="1482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lnSpc>
                  <a:spcPts val="1200"/>
                </a:lnSpc>
                <a:defRPr b="1" sz="900">
                  <a:solidFill>
                    <a:srgbClr val="FFFFFF"/>
                  </a:solidFill>
                  <a:latin typeface="Noto Sans T Chinese Bold"/>
                  <a:ea typeface="Noto Sans T Chinese Bold"/>
                  <a:cs typeface="Noto Sans T Chinese Bold"/>
                  <a:sym typeface="Noto Sans T Chinese Bold"/>
                </a:defRPr>
              </a:lvl1pPr>
            </a:lstStyle>
            <a:p>
              <a:pPr/>
              <a:r>
                <a:t>Metal - Cu</a:t>
              </a:r>
            </a:p>
          </p:txBody>
        </p:sp>
        <p:sp>
          <p:nvSpPr>
            <p:cNvPr id="686" name="TextBox 25"/>
            <p:cNvSpPr txBox="1"/>
            <p:nvPr/>
          </p:nvSpPr>
          <p:spPr>
            <a:xfrm rot="970789">
              <a:off x="3460746" y="2549922"/>
              <a:ext cx="281815" cy="1482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lnSpc>
                  <a:spcPts val="1200"/>
                </a:lnSpc>
                <a:defRPr b="1" sz="900">
                  <a:solidFill>
                    <a:srgbClr val="FFFFFF"/>
                  </a:solidFill>
                  <a:latin typeface="Noto Sans T Chinese Bold"/>
                  <a:ea typeface="Noto Sans T Chinese Bold"/>
                  <a:cs typeface="Noto Sans T Chinese Bold"/>
                  <a:sym typeface="Noto Sans T Chinese Bold"/>
                </a:defRPr>
              </a:lvl1pPr>
            </a:lstStyle>
            <a:p>
              <a:pPr/>
              <a:r>
                <a:t>SiO₂</a:t>
              </a:r>
            </a:p>
          </p:txBody>
        </p:sp>
        <p:sp>
          <p:nvSpPr>
            <p:cNvPr id="687" name="TextBox 26"/>
            <p:cNvSpPr txBox="1"/>
            <p:nvPr/>
          </p:nvSpPr>
          <p:spPr>
            <a:xfrm rot="882156">
              <a:off x="4747501" y="2865871"/>
              <a:ext cx="614470" cy="1482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lnSpc>
                  <a:spcPts val="1200"/>
                </a:lnSpc>
                <a:defRPr b="1" sz="900">
                  <a:solidFill>
                    <a:srgbClr val="FFFFFF"/>
                  </a:solidFill>
                  <a:latin typeface="Noto Sans T Chinese Bold"/>
                  <a:ea typeface="Noto Sans T Chinese Bold"/>
                  <a:cs typeface="Noto Sans T Chinese Bold"/>
                  <a:sym typeface="Noto Sans T Chinese Bold"/>
                </a:defRPr>
              </a:lvl1pPr>
            </a:lstStyle>
            <a:p>
              <a:pPr/>
              <a:r>
                <a:t>Metal - Cu</a:t>
              </a:r>
            </a:p>
          </p:txBody>
        </p:sp>
        <p:sp>
          <p:nvSpPr>
            <p:cNvPr id="688" name="TextBox 27"/>
            <p:cNvSpPr txBox="1"/>
            <p:nvPr/>
          </p:nvSpPr>
          <p:spPr>
            <a:xfrm rot="575517">
              <a:off x="3476796" y="1835308"/>
              <a:ext cx="247684" cy="1482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lnSpc>
                  <a:spcPts val="1200"/>
                </a:lnSpc>
                <a:defRPr b="1" sz="900">
                  <a:solidFill>
                    <a:srgbClr val="FFFFFF"/>
                  </a:solidFill>
                  <a:latin typeface="Noto Sans T Chinese Bold"/>
                  <a:ea typeface="Noto Sans T Chinese Bold"/>
                  <a:cs typeface="Noto Sans T Chinese Bold"/>
                  <a:sym typeface="Noto Sans T Chinese Bold"/>
                </a:defRPr>
              </a:lvl1pPr>
            </a:lstStyle>
            <a:p>
              <a:pPr/>
              <a:r>
                <a:t>W ?</a:t>
              </a:r>
            </a:p>
          </p:txBody>
        </p:sp>
      </p:grpSp>
      <p:sp>
        <p:nvSpPr>
          <p:cNvPr id="690" name="TextBox 28"/>
          <p:cNvSpPr txBox="1"/>
          <p:nvPr/>
        </p:nvSpPr>
        <p:spPr>
          <a:xfrm>
            <a:off x="189544" y="9592716"/>
            <a:ext cx="9473966" cy="4723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just">
              <a:lnSpc>
                <a:spcPts val="1900"/>
              </a:lnSpc>
              <a:defRPr sz="1300">
                <a:solidFill>
                  <a:srgbClr val="101010"/>
                </a:solidFill>
                <a:latin typeface="Noto Sans T Chinese"/>
                <a:ea typeface="Noto Sans T Chinese"/>
                <a:cs typeface="Noto Sans T Chinese"/>
                <a:sym typeface="Noto Sans T Chinese"/>
              </a:defRPr>
            </a:pPr>
            <a:r>
              <a:t>CMP from wiki :</a:t>
            </a:r>
          </a:p>
          <a:p>
            <a:pPr algn="just">
              <a:lnSpc>
                <a:spcPts val="1900"/>
              </a:lnSpc>
              <a:defRPr sz="1300" u="sng">
                <a:solidFill>
                  <a:srgbClr val="101010"/>
                </a:solidFill>
                <a:latin typeface="Noto Sans T Chinese"/>
                <a:ea typeface="Noto Sans T Chinese"/>
                <a:cs typeface="Noto Sans T Chinese"/>
                <a:sym typeface="Noto Sans T Chinese"/>
              </a:defRPr>
            </a:pPr>
            <a:r>
              <a:rPr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hlinkClick r:id="rId5" invalidUrl="" action="" tgtFrame="" tooltip="" history="1" highlightClick="0" endSnd="0"/>
              </a:rPr>
              <a:t>https://commons.wikimedia.org/wiki/File:Cmos_impurity_profile.PNG#/media/File:Cmos_impurity_profile.PNG</a:t>
            </a:r>
          </a:p>
        </p:txBody>
      </p:sp>
      <p:sp>
        <p:nvSpPr>
          <p:cNvPr id="691" name="TextBox 29"/>
          <p:cNvSpPr txBox="1"/>
          <p:nvPr/>
        </p:nvSpPr>
        <p:spPr>
          <a:xfrm>
            <a:off x="17259300" y="9680463"/>
            <a:ext cx="762376" cy="389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3200"/>
              </a:lnSpc>
              <a:defRPr sz="2200">
                <a:latin typeface="Noto Sans T Chinese"/>
                <a:ea typeface="Noto Sans T Chinese"/>
                <a:cs typeface="Noto Sans T Chinese"/>
                <a:sym typeface="Noto Sans T Chinese"/>
              </a:defRPr>
            </a:lvl1pPr>
          </a:lstStyle>
          <a:p>
            <a:pPr/>
            <a:r>
              <a:t>20/24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