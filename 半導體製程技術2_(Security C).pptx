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Noto Sans T Chinese Bold" charset="1" panose="020B0800000000000000"/>
      <p:regular r:id="rId26"/>
    </p:embeddedFont>
    <p:embeddedFont>
      <p:font typeface="DM Sans Bold" charset="1" panose="00000000000000000000"/>
      <p:regular r:id="rId27"/>
    </p:embeddedFont>
    <p:embeddedFont>
      <p:font typeface="DM Sans" charset="1" panose="00000000000000000000"/>
      <p:regular r:id="rId28"/>
    </p:embeddedFont>
    <p:embeddedFont>
      <p:font typeface="jf-openhuninn-2.0" charset="1" panose="020B0000000000000000"/>
      <p:regular r:id="rId29"/>
    </p:embeddedFont>
    <p:embeddedFont>
      <p:font typeface="Montserrat Bold" charset="1" panose="00000800000000000000"/>
      <p:regular r:id="rId30"/>
    </p:embeddedFont>
    <p:embeddedFont>
      <p:font typeface="Noto Sans T Chinese" charset="1" panose="020B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Masters/notesMaster1.xml" Type="http://schemas.openxmlformats.org/officeDocument/2006/relationships/notesMaster"/><Relationship Id="rId33" Target="theme/theme2.xml" Type="http://schemas.openxmlformats.org/officeDocument/2006/relationships/theme"/><Relationship Id="rId34" Target="notesSlides/notesSlide1.xml" Type="http://schemas.openxmlformats.org/officeDocument/2006/relationships/notesSlide"/><Relationship Id="rId35" Target="notesSlides/notesSlide2.xml" Type="http://schemas.openxmlformats.org/officeDocument/2006/relationships/notesSlide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MOSFET顧名思義就是</a:t>
            </a:r>
          </a:p>
          <a:p>
            <a:r>
              <a:rPr lang="en-US"/>
              <a:t>-金屬</a:t>
            </a:r>
          </a:p>
          <a:p>
            <a:r>
              <a:rPr lang="en-US"/>
              <a:t>-氧化物</a:t>
            </a:r>
          </a:p>
          <a:p>
            <a:r>
              <a:rPr lang="en-US"/>
              <a:t>-半導體</a:t>
            </a:r>
          </a:p>
          <a:p>
            <a:r>
              <a:rPr lang="en-US"/>
              <a:t/>
            </a:r>
          </a:p>
          <a:p>
            <a:r>
              <a:rPr lang="en-US"/>
              <a:t>它的3個端點，可以這麼說</a:t>
            </a:r>
          </a:p>
          <a:p>
            <a:r>
              <a:rPr lang="en-US"/>
              <a:t>Source:多數載子來源</a:t>
            </a:r>
          </a:p>
          <a:p>
            <a:r>
              <a:rPr lang="en-US"/>
              <a:t>Drain:  多數載子流向哪裡</a:t>
            </a:r>
          </a:p>
          <a:p>
            <a:r>
              <a:rPr lang="en-US"/>
              <a:t>Gate :  控制門要不要開</a:t>
            </a:r>
          </a:p>
          <a:p>
            <a:r>
              <a:rPr lang="en-US"/>
              <a:t/>
            </a:r>
          </a:p>
          <a:p>
            <a:r>
              <a:rPr lang="en-US"/>
              <a:t>另外Bulk端則是避免基底效應的產生，防止MOS需要加上更大的電壓才能倒通。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•低介電質材料</a:t>
            </a:r>
          </a:p>
          <a:p>
            <a:r>
              <a:rPr lang="en-US"/>
              <a:t>由於先進製程不斷縮小電路尺寸，晶片內部的線與線之間的距離不斷縮小，容易產生寄生電容，而且會讓高頻訊號偶合到其他導線。</a:t>
            </a:r>
          </a:p>
          <a:p>
            <a:r>
              <a:rPr lang="en-US"/>
              <a:t/>
            </a:r>
          </a:p>
          <a:p>
            <a:r>
              <a:rPr lang="en-US"/>
              <a:t>解決辦法主要是使用低界電值的材料來改善。</a:t>
            </a:r>
          </a:p>
          <a:p>
            <a:r>
              <a:rPr lang="en-US"/>
              <a:t/>
            </a:r>
          </a:p>
          <a:p>
            <a:r>
              <a:rPr lang="en-US"/>
              <a:t>右下圖中電容，兩金屬板的距離d越靠近，C也會上升，所以就必須降低介電值去改善容值。</a:t>
            </a:r>
          </a:p>
          <a:p>
            <a:r>
              <a:rPr lang="en-US"/>
              <a:t/>
            </a:r>
          </a:p>
          <a:p>
            <a:r>
              <a:rPr lang="en-US"/>
              <a:t>寄生電組寄生電容，可以由Q=IT、V=IR，帶入Q=CV中得知，消去I後，得到t=RC，所以電容、電阻會對電路運作的速度有很大的影響。</a:t>
            </a:r>
          </a:p>
          <a:p>
            <a:r>
              <a:rPr lang="en-US"/>
              <a:t/>
            </a:r>
          </a:p>
          <a:p>
            <a:r>
              <a:rPr lang="en-US"/>
              <a:t>高介電質材料  (High-K) </a:t>
            </a:r>
          </a:p>
          <a:p>
            <a:r>
              <a:rPr lang="en-US"/>
              <a:t>-漏電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MOS的功能製造這邊，我看到youtube上看到的樂高解釋MOS，感覺很適合。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所以我用3D樂高設計軟體重畫出來。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21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en.wikipedia.org/wiki/Chemical_decomposition" TargetMode="External" Type="http://schemas.openxmlformats.org/officeDocument/2006/relationships/hyperlink"/><Relationship Id="rId3" Target="https://en.wikipedia.org/wiki/Chemical_vapor_deposition" TargetMode="External" Type="http://schemas.openxmlformats.org/officeDocument/2006/relationships/hyperlink"/><Relationship Id="rId4" Target="../media/image37.pn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40.png" Type="http://schemas.openxmlformats.org/officeDocument/2006/relationships/image"/><Relationship Id="rId6" Target="../media/image31.png" Type="http://schemas.openxmlformats.org/officeDocument/2006/relationships/image"/><Relationship Id="rId7" Target="../media/image4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https://zh.wikipedia.org/wiki/%E6%9C%AC%E5%BE%81%E5%8D%8A%E5%AF%BC%E4%BD%93" TargetMode="External" Type="http://schemas.openxmlformats.org/officeDocument/2006/relationships/hyperlink"/><Relationship Id="rId5" Target="https://zh.wikipedia.org/wiki/%E6%9C%AC%E5%BE%81%E5%8D%8A%E5%AF%BC%E4%BD%93" TargetMode="External" Type="http://schemas.openxmlformats.org/officeDocument/2006/relationships/hyperlink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31.png" Type="http://schemas.openxmlformats.org/officeDocument/2006/relationships/image"/><Relationship Id="rId4" Target="../media/image5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https://zh.wikipedia.org/zh-tw/%E5%8C%96%E5%AD%A6%E6%9C%BA%E6%A2%B0%E5%B9%B3%E5%9D%A6%E5%8C%96#/media/File:Cmp_prinzip.jpg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2872211" y="-2776467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63626" y="1244836"/>
            <a:ext cx="753561" cy="7535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78711" y="7667323"/>
            <a:ext cx="1578921" cy="157892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6111573"/>
            <a:ext cx="11292048" cy="294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0"/>
              </a:lnSpc>
            </a:pPr>
            <a:r>
              <a:rPr lang="en-US" sz="35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班別: 產業新尖兵 - 科技與AI應用人才培訓班 (第一梯次)</a:t>
            </a:r>
          </a:p>
          <a:p>
            <a:pPr algn="l">
              <a:lnSpc>
                <a:spcPts val="5950"/>
              </a:lnSpc>
            </a:pPr>
            <a:r>
              <a:rPr lang="en-US" sz="35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學號: 007</a:t>
            </a:r>
          </a:p>
          <a:p>
            <a:pPr algn="l">
              <a:lnSpc>
                <a:spcPts val="5950"/>
              </a:lnSpc>
            </a:pPr>
            <a:r>
              <a:rPr lang="en-US" sz="35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報告人: 王維碩</a:t>
            </a:r>
          </a:p>
          <a:p>
            <a:pPr algn="l">
              <a:lnSpc>
                <a:spcPts val="5950"/>
              </a:lnSpc>
            </a:pPr>
            <a:r>
              <a:rPr lang="en-US" sz="35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課堂講師: 杜岳錡、謝承利、賴柏穎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92425" y="2201354"/>
            <a:ext cx="12128323" cy="2942146"/>
            <a:chOff x="0" y="0"/>
            <a:chExt cx="16171097" cy="392286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3532310" y="766895"/>
              <a:ext cx="12124927" cy="2213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008"/>
                </a:lnSpc>
                <a:spcBef>
                  <a:spcPct val="0"/>
                </a:spcBef>
              </a:pPr>
              <a:r>
                <a:rPr lang="en-US" b="true" sz="10005">
                  <a:solidFill>
                    <a:srgbClr val="000000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半導體製程技術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59687" cy="3922862"/>
            </a:xfrm>
            <a:custGeom>
              <a:avLst/>
              <a:gdLst/>
              <a:ahLst/>
              <a:cxnLst/>
              <a:rect r="r" b="b" t="t" l="l"/>
              <a:pathLst>
                <a:path h="3922862" w="3159687">
                  <a:moveTo>
                    <a:pt x="0" y="0"/>
                  </a:moveTo>
                  <a:lnTo>
                    <a:pt x="3159687" y="0"/>
                  </a:lnTo>
                  <a:lnTo>
                    <a:pt x="3159687" y="3922862"/>
                  </a:lnTo>
                  <a:lnTo>
                    <a:pt x="0" y="3922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3704792" y="3042329"/>
              <a:ext cx="12466305" cy="880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  <a:spcBef>
                  <a:spcPct val="0"/>
                </a:spcBef>
              </a:pPr>
              <a:r>
                <a:rPr lang="en-US" sz="4000" b="true">
                  <a:solidFill>
                    <a:srgbClr val="000000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Semiconductor Process Engineering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066463" y="9486336"/>
            <a:ext cx="999913" cy="547539"/>
            <a:chOff x="0" y="0"/>
            <a:chExt cx="1333217" cy="730051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1333217" cy="352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40"/>
                </a:lnSpc>
              </a:pPr>
              <a:r>
                <a:rPr lang="en-US" b="true" sz="1600" spc="80">
                  <a:solidFill>
                    <a:srgbClr val="FF66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TIME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377840"/>
              <a:ext cx="1333217" cy="352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2024-03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51785" y="9753064"/>
            <a:ext cx="716829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E2C4B"/>
                </a:solidFill>
                <a:latin typeface="jf-openhuninn-2.0"/>
                <a:ea typeface="jf-openhuninn-2.0"/>
                <a:cs typeface="jf-openhuninn-2.0"/>
                <a:sym typeface="jf-openhuninn-2.0"/>
              </a:rPr>
              <a:t>Designed by Wei Shuo Wang in Kaohsiung Use Canva.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2719553" y="-4023370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3487" y="2086897"/>
            <a:ext cx="6218139" cy="621813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41219" y="2363976"/>
            <a:ext cx="5685609" cy="5688763"/>
            <a:chOff x="0" y="0"/>
            <a:chExt cx="6489360" cy="6492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89446" cy="6493002"/>
            </a:xfrm>
            <a:custGeom>
              <a:avLst/>
              <a:gdLst/>
              <a:ahLst/>
              <a:cxnLst/>
              <a:rect r="r" b="b" t="t" l="l"/>
              <a:pathLst>
                <a:path h="6493002" w="6489446">
                  <a:moveTo>
                    <a:pt x="3244723" y="6493002"/>
                  </a:moveTo>
                  <a:cubicBezTo>
                    <a:pt x="3221863" y="6493002"/>
                    <a:pt x="3206623" y="6470142"/>
                    <a:pt x="3206623" y="6454902"/>
                  </a:cubicBezTo>
                  <a:cubicBezTo>
                    <a:pt x="3206623" y="6432042"/>
                    <a:pt x="3221863" y="6416802"/>
                    <a:pt x="3244723" y="6416802"/>
                  </a:cubicBezTo>
                  <a:cubicBezTo>
                    <a:pt x="3252343" y="6416802"/>
                    <a:pt x="3252343" y="6416802"/>
                    <a:pt x="3252343" y="6416802"/>
                  </a:cubicBezTo>
                  <a:cubicBezTo>
                    <a:pt x="3275203" y="6416802"/>
                    <a:pt x="3290443" y="6432042"/>
                    <a:pt x="3290443" y="6454902"/>
                  </a:cubicBezTo>
                  <a:cubicBezTo>
                    <a:pt x="3290443" y="6470142"/>
                    <a:pt x="3275203" y="6493002"/>
                    <a:pt x="3252343" y="6493002"/>
                  </a:cubicBezTo>
                  <a:cubicBezTo>
                    <a:pt x="3252343" y="6493002"/>
                    <a:pt x="3252343" y="6493002"/>
                    <a:pt x="3244723" y="6493002"/>
                  </a:cubicBezTo>
                  <a:close/>
                  <a:moveTo>
                    <a:pt x="3023870" y="6485382"/>
                  </a:moveTo>
                  <a:cubicBezTo>
                    <a:pt x="3008630" y="6477762"/>
                    <a:pt x="2993390" y="6462522"/>
                    <a:pt x="2993390" y="6439662"/>
                  </a:cubicBezTo>
                  <a:cubicBezTo>
                    <a:pt x="2993390" y="6424422"/>
                    <a:pt x="3008630" y="6409182"/>
                    <a:pt x="3031490" y="6409182"/>
                  </a:cubicBezTo>
                  <a:cubicBezTo>
                    <a:pt x="3054350" y="6409182"/>
                    <a:pt x="3069590" y="6424422"/>
                    <a:pt x="3069590" y="6447282"/>
                  </a:cubicBezTo>
                  <a:cubicBezTo>
                    <a:pt x="3069590" y="6470142"/>
                    <a:pt x="3046730" y="6485382"/>
                    <a:pt x="3031490" y="6485382"/>
                  </a:cubicBezTo>
                  <a:cubicBezTo>
                    <a:pt x="3031490" y="6485382"/>
                    <a:pt x="3031490" y="6485382"/>
                    <a:pt x="3023870" y="6485382"/>
                  </a:cubicBezTo>
                  <a:close/>
                  <a:moveTo>
                    <a:pt x="3427603" y="6447282"/>
                  </a:moveTo>
                  <a:cubicBezTo>
                    <a:pt x="3427603" y="6424422"/>
                    <a:pt x="3442843" y="6409182"/>
                    <a:pt x="3465703" y="6409182"/>
                  </a:cubicBezTo>
                  <a:cubicBezTo>
                    <a:pt x="3480943" y="6401562"/>
                    <a:pt x="3503803" y="6424422"/>
                    <a:pt x="3503803" y="6439662"/>
                  </a:cubicBezTo>
                  <a:cubicBezTo>
                    <a:pt x="3503803" y="6462522"/>
                    <a:pt x="3488563" y="6477762"/>
                    <a:pt x="3465703" y="6485382"/>
                  </a:cubicBezTo>
                  <a:cubicBezTo>
                    <a:pt x="3442843" y="6485382"/>
                    <a:pt x="3427603" y="6470142"/>
                    <a:pt x="3427603" y="6447282"/>
                  </a:cubicBezTo>
                  <a:close/>
                  <a:moveTo>
                    <a:pt x="2810637" y="6462522"/>
                  </a:moveTo>
                  <a:cubicBezTo>
                    <a:pt x="2787777" y="6454902"/>
                    <a:pt x="2772537" y="6439662"/>
                    <a:pt x="2780157" y="6416802"/>
                  </a:cubicBezTo>
                  <a:cubicBezTo>
                    <a:pt x="2780157" y="6401562"/>
                    <a:pt x="2803017" y="6386322"/>
                    <a:pt x="2818257" y="6386322"/>
                  </a:cubicBezTo>
                  <a:cubicBezTo>
                    <a:pt x="2841117" y="6386322"/>
                    <a:pt x="2856357" y="6409182"/>
                    <a:pt x="2856357" y="6432042"/>
                  </a:cubicBezTo>
                  <a:cubicBezTo>
                    <a:pt x="2848737" y="6447282"/>
                    <a:pt x="2833497" y="6462522"/>
                    <a:pt x="2818257" y="6462522"/>
                  </a:cubicBezTo>
                  <a:cubicBezTo>
                    <a:pt x="2818257" y="6462522"/>
                    <a:pt x="2810637" y="6462522"/>
                    <a:pt x="2810637" y="6462522"/>
                  </a:cubicBezTo>
                  <a:close/>
                  <a:moveTo>
                    <a:pt x="3640836" y="6424422"/>
                  </a:moveTo>
                  <a:cubicBezTo>
                    <a:pt x="3640836" y="6409182"/>
                    <a:pt x="3656076" y="6386322"/>
                    <a:pt x="3671316" y="6386322"/>
                  </a:cubicBezTo>
                  <a:cubicBezTo>
                    <a:pt x="3694176" y="6378702"/>
                    <a:pt x="3709416" y="6393942"/>
                    <a:pt x="3717036" y="6416802"/>
                  </a:cubicBezTo>
                  <a:cubicBezTo>
                    <a:pt x="3717036" y="6439662"/>
                    <a:pt x="3701796" y="6454902"/>
                    <a:pt x="3686556" y="6462522"/>
                  </a:cubicBezTo>
                  <a:cubicBezTo>
                    <a:pt x="3678936" y="6462522"/>
                    <a:pt x="3678936" y="6462522"/>
                    <a:pt x="3678936" y="6462522"/>
                  </a:cubicBezTo>
                  <a:cubicBezTo>
                    <a:pt x="3656076" y="6462522"/>
                    <a:pt x="3640836" y="6447282"/>
                    <a:pt x="3640836" y="6424422"/>
                  </a:cubicBezTo>
                  <a:close/>
                  <a:moveTo>
                    <a:pt x="2597404" y="6424422"/>
                  </a:moveTo>
                  <a:cubicBezTo>
                    <a:pt x="2574544" y="6424422"/>
                    <a:pt x="2566924" y="6401562"/>
                    <a:pt x="2566924" y="6378702"/>
                  </a:cubicBezTo>
                  <a:cubicBezTo>
                    <a:pt x="2574544" y="6363462"/>
                    <a:pt x="2589784" y="6348222"/>
                    <a:pt x="2612644" y="6348222"/>
                  </a:cubicBezTo>
                  <a:cubicBezTo>
                    <a:pt x="2635504" y="6355842"/>
                    <a:pt x="2650744" y="6378702"/>
                    <a:pt x="2643124" y="6393942"/>
                  </a:cubicBezTo>
                  <a:cubicBezTo>
                    <a:pt x="2635504" y="6416802"/>
                    <a:pt x="2620264" y="6424422"/>
                    <a:pt x="2605024" y="6424422"/>
                  </a:cubicBezTo>
                  <a:cubicBezTo>
                    <a:pt x="2605024" y="6424422"/>
                    <a:pt x="2597404" y="6424422"/>
                    <a:pt x="2597404" y="6424422"/>
                  </a:cubicBezTo>
                  <a:close/>
                  <a:moveTo>
                    <a:pt x="3854196" y="6393942"/>
                  </a:moveTo>
                  <a:cubicBezTo>
                    <a:pt x="3846576" y="6371082"/>
                    <a:pt x="3861816" y="6355842"/>
                    <a:pt x="3884676" y="6348222"/>
                  </a:cubicBezTo>
                  <a:cubicBezTo>
                    <a:pt x="3899916" y="6348222"/>
                    <a:pt x="3922776" y="6355842"/>
                    <a:pt x="3930396" y="6378702"/>
                  </a:cubicBezTo>
                  <a:cubicBezTo>
                    <a:pt x="3930396" y="6401562"/>
                    <a:pt x="3915156" y="6416802"/>
                    <a:pt x="3899916" y="6424422"/>
                  </a:cubicBezTo>
                  <a:cubicBezTo>
                    <a:pt x="3892296" y="6424422"/>
                    <a:pt x="3892296" y="6424422"/>
                    <a:pt x="3892296" y="6424422"/>
                  </a:cubicBezTo>
                  <a:cubicBezTo>
                    <a:pt x="3869436" y="6424422"/>
                    <a:pt x="3854196" y="6409182"/>
                    <a:pt x="3854196" y="6393942"/>
                  </a:cubicBezTo>
                  <a:close/>
                  <a:moveTo>
                    <a:pt x="2384171" y="6378702"/>
                  </a:moveTo>
                  <a:cubicBezTo>
                    <a:pt x="2368931" y="6371082"/>
                    <a:pt x="2353691" y="6348222"/>
                    <a:pt x="2361311" y="6325362"/>
                  </a:cubicBezTo>
                  <a:cubicBezTo>
                    <a:pt x="2368931" y="6310122"/>
                    <a:pt x="2384171" y="6294882"/>
                    <a:pt x="2407031" y="6302502"/>
                  </a:cubicBezTo>
                  <a:cubicBezTo>
                    <a:pt x="2429891" y="6310122"/>
                    <a:pt x="2437511" y="6325362"/>
                    <a:pt x="2437511" y="6348222"/>
                  </a:cubicBezTo>
                  <a:cubicBezTo>
                    <a:pt x="2429891" y="6363462"/>
                    <a:pt x="2414651" y="6378702"/>
                    <a:pt x="2399411" y="6378702"/>
                  </a:cubicBezTo>
                  <a:cubicBezTo>
                    <a:pt x="2391791" y="6378702"/>
                    <a:pt x="2391791" y="6378702"/>
                    <a:pt x="2384171" y="6378702"/>
                  </a:cubicBezTo>
                  <a:close/>
                  <a:moveTo>
                    <a:pt x="4059809" y="6348222"/>
                  </a:moveTo>
                  <a:cubicBezTo>
                    <a:pt x="4052189" y="6325362"/>
                    <a:pt x="4067429" y="6302502"/>
                    <a:pt x="4090289" y="6302502"/>
                  </a:cubicBezTo>
                  <a:cubicBezTo>
                    <a:pt x="4105529" y="6294882"/>
                    <a:pt x="4128389" y="6302502"/>
                    <a:pt x="4136009" y="6325362"/>
                  </a:cubicBezTo>
                  <a:cubicBezTo>
                    <a:pt x="4143629" y="6348222"/>
                    <a:pt x="4128389" y="6371082"/>
                    <a:pt x="4105529" y="6371082"/>
                  </a:cubicBezTo>
                  <a:cubicBezTo>
                    <a:pt x="4105529" y="6371082"/>
                    <a:pt x="4097909" y="6371082"/>
                    <a:pt x="4097909" y="6371082"/>
                  </a:cubicBezTo>
                  <a:cubicBezTo>
                    <a:pt x="4082669" y="6371082"/>
                    <a:pt x="4067429" y="6363462"/>
                    <a:pt x="4059809" y="6348222"/>
                  </a:cubicBezTo>
                  <a:close/>
                  <a:moveTo>
                    <a:pt x="2178558" y="6310122"/>
                  </a:moveTo>
                  <a:cubicBezTo>
                    <a:pt x="2163318" y="6302502"/>
                    <a:pt x="2148078" y="6279642"/>
                    <a:pt x="2155698" y="6264402"/>
                  </a:cubicBezTo>
                  <a:cubicBezTo>
                    <a:pt x="2163318" y="6241542"/>
                    <a:pt x="2186178" y="6233922"/>
                    <a:pt x="2209038" y="6241542"/>
                  </a:cubicBezTo>
                  <a:cubicBezTo>
                    <a:pt x="2224278" y="6249162"/>
                    <a:pt x="2239518" y="6264402"/>
                    <a:pt x="2231898" y="6287262"/>
                  </a:cubicBezTo>
                  <a:cubicBezTo>
                    <a:pt x="2224278" y="6302502"/>
                    <a:pt x="2209038" y="6310122"/>
                    <a:pt x="2193798" y="6310122"/>
                  </a:cubicBezTo>
                  <a:cubicBezTo>
                    <a:pt x="2186178" y="6310122"/>
                    <a:pt x="2186178" y="6310122"/>
                    <a:pt x="2178558" y="6310122"/>
                  </a:cubicBezTo>
                  <a:close/>
                  <a:moveTo>
                    <a:pt x="4265549" y="6287262"/>
                  </a:moveTo>
                  <a:cubicBezTo>
                    <a:pt x="4257929" y="6264402"/>
                    <a:pt x="4273169" y="6241542"/>
                    <a:pt x="4288409" y="6233922"/>
                  </a:cubicBezTo>
                  <a:cubicBezTo>
                    <a:pt x="4311269" y="6226302"/>
                    <a:pt x="4334129" y="6241542"/>
                    <a:pt x="4341749" y="6256782"/>
                  </a:cubicBezTo>
                  <a:cubicBezTo>
                    <a:pt x="4341749" y="6279642"/>
                    <a:pt x="4334129" y="6302502"/>
                    <a:pt x="4311269" y="6310122"/>
                  </a:cubicBezTo>
                  <a:cubicBezTo>
                    <a:pt x="4311269" y="6310122"/>
                    <a:pt x="4303649" y="6310122"/>
                    <a:pt x="4303649" y="6310122"/>
                  </a:cubicBezTo>
                  <a:cubicBezTo>
                    <a:pt x="4288409" y="6310122"/>
                    <a:pt x="4273169" y="6302502"/>
                    <a:pt x="4265549" y="6287262"/>
                  </a:cubicBezTo>
                  <a:close/>
                  <a:moveTo>
                    <a:pt x="1980565" y="6233922"/>
                  </a:moveTo>
                  <a:cubicBezTo>
                    <a:pt x="1957705" y="6226302"/>
                    <a:pt x="1950085" y="6203442"/>
                    <a:pt x="1957705" y="6180582"/>
                  </a:cubicBezTo>
                  <a:cubicBezTo>
                    <a:pt x="1965325" y="6165342"/>
                    <a:pt x="1988185" y="6157722"/>
                    <a:pt x="2011045" y="6165342"/>
                  </a:cubicBezTo>
                  <a:cubicBezTo>
                    <a:pt x="2026285" y="6172962"/>
                    <a:pt x="2033905" y="6195822"/>
                    <a:pt x="2026285" y="6211062"/>
                  </a:cubicBezTo>
                  <a:cubicBezTo>
                    <a:pt x="2018665" y="6226302"/>
                    <a:pt x="2011045" y="6233922"/>
                    <a:pt x="1995805" y="6233922"/>
                  </a:cubicBezTo>
                  <a:cubicBezTo>
                    <a:pt x="1988185" y="6233922"/>
                    <a:pt x="1980565" y="6233922"/>
                    <a:pt x="1980565" y="6233922"/>
                  </a:cubicBezTo>
                  <a:close/>
                  <a:moveTo>
                    <a:pt x="4463542" y="6211062"/>
                  </a:moveTo>
                  <a:cubicBezTo>
                    <a:pt x="4455922" y="6188202"/>
                    <a:pt x="4463542" y="6165342"/>
                    <a:pt x="4486402" y="6157722"/>
                  </a:cubicBezTo>
                  <a:cubicBezTo>
                    <a:pt x="4509262" y="6150102"/>
                    <a:pt x="4524502" y="6157722"/>
                    <a:pt x="4539742" y="6180582"/>
                  </a:cubicBezTo>
                  <a:cubicBezTo>
                    <a:pt x="4547362" y="6195822"/>
                    <a:pt x="4532122" y="6218682"/>
                    <a:pt x="4516882" y="6226302"/>
                  </a:cubicBezTo>
                  <a:cubicBezTo>
                    <a:pt x="4509262" y="6233922"/>
                    <a:pt x="4509262" y="6233922"/>
                    <a:pt x="4501642" y="6233922"/>
                  </a:cubicBezTo>
                  <a:cubicBezTo>
                    <a:pt x="4486402" y="6233922"/>
                    <a:pt x="4471162" y="6226302"/>
                    <a:pt x="4463542" y="6211062"/>
                  </a:cubicBezTo>
                  <a:close/>
                  <a:moveTo>
                    <a:pt x="1782445" y="6142482"/>
                  </a:moveTo>
                  <a:cubicBezTo>
                    <a:pt x="1759585" y="6134862"/>
                    <a:pt x="1751965" y="6112002"/>
                    <a:pt x="1767205" y="6089142"/>
                  </a:cubicBezTo>
                  <a:cubicBezTo>
                    <a:pt x="1774825" y="6073902"/>
                    <a:pt x="1797685" y="6066282"/>
                    <a:pt x="1812925" y="6073902"/>
                  </a:cubicBezTo>
                  <a:cubicBezTo>
                    <a:pt x="1835785" y="6081522"/>
                    <a:pt x="1843405" y="6104382"/>
                    <a:pt x="1835785" y="6127242"/>
                  </a:cubicBezTo>
                  <a:cubicBezTo>
                    <a:pt x="1828165" y="6134862"/>
                    <a:pt x="1812925" y="6142482"/>
                    <a:pt x="1797685" y="6142482"/>
                  </a:cubicBezTo>
                  <a:cubicBezTo>
                    <a:pt x="1790065" y="6142482"/>
                    <a:pt x="1790065" y="6142482"/>
                    <a:pt x="1782445" y="6142482"/>
                  </a:cubicBezTo>
                  <a:close/>
                  <a:moveTo>
                    <a:pt x="4661535" y="6119622"/>
                  </a:moveTo>
                  <a:cubicBezTo>
                    <a:pt x="4653915" y="6104382"/>
                    <a:pt x="4661535" y="6081522"/>
                    <a:pt x="4676775" y="6073902"/>
                  </a:cubicBezTo>
                  <a:cubicBezTo>
                    <a:pt x="4699635" y="6058662"/>
                    <a:pt x="4722495" y="6066282"/>
                    <a:pt x="4730115" y="6089142"/>
                  </a:cubicBezTo>
                  <a:cubicBezTo>
                    <a:pt x="4737735" y="6104382"/>
                    <a:pt x="4730115" y="6127242"/>
                    <a:pt x="4714875" y="6134862"/>
                  </a:cubicBezTo>
                  <a:cubicBezTo>
                    <a:pt x="4707255" y="6142482"/>
                    <a:pt x="4699635" y="6142482"/>
                    <a:pt x="4692015" y="6142482"/>
                  </a:cubicBezTo>
                  <a:cubicBezTo>
                    <a:pt x="4684395" y="6142482"/>
                    <a:pt x="4669155" y="6134862"/>
                    <a:pt x="4661535" y="6119622"/>
                  </a:cubicBezTo>
                  <a:close/>
                  <a:moveTo>
                    <a:pt x="1592072" y="6035802"/>
                  </a:moveTo>
                  <a:cubicBezTo>
                    <a:pt x="1576832" y="6028182"/>
                    <a:pt x="1569212" y="6005322"/>
                    <a:pt x="1576832" y="5982462"/>
                  </a:cubicBezTo>
                  <a:cubicBezTo>
                    <a:pt x="1592072" y="5967222"/>
                    <a:pt x="1614932" y="5959602"/>
                    <a:pt x="1630172" y="5974842"/>
                  </a:cubicBezTo>
                  <a:cubicBezTo>
                    <a:pt x="1645412" y="5982462"/>
                    <a:pt x="1653032" y="6005322"/>
                    <a:pt x="1645412" y="6020562"/>
                  </a:cubicBezTo>
                  <a:cubicBezTo>
                    <a:pt x="1637792" y="6035802"/>
                    <a:pt x="1622552" y="6043422"/>
                    <a:pt x="1607312" y="6043422"/>
                  </a:cubicBezTo>
                  <a:cubicBezTo>
                    <a:pt x="1607312" y="6043422"/>
                    <a:pt x="1599692" y="6043422"/>
                    <a:pt x="1592072" y="6035802"/>
                  </a:cubicBezTo>
                  <a:close/>
                  <a:moveTo>
                    <a:pt x="4852035" y="6020562"/>
                  </a:moveTo>
                  <a:cubicBezTo>
                    <a:pt x="4836795" y="6005322"/>
                    <a:pt x="4844415" y="5982462"/>
                    <a:pt x="4859655" y="5967222"/>
                  </a:cubicBezTo>
                  <a:cubicBezTo>
                    <a:pt x="4882515" y="5959602"/>
                    <a:pt x="4905375" y="5959602"/>
                    <a:pt x="4912995" y="5982462"/>
                  </a:cubicBezTo>
                  <a:cubicBezTo>
                    <a:pt x="4928235" y="5997702"/>
                    <a:pt x="4920615" y="6020562"/>
                    <a:pt x="4905375" y="6035802"/>
                  </a:cubicBezTo>
                  <a:cubicBezTo>
                    <a:pt x="4897755" y="6035802"/>
                    <a:pt x="4890135" y="6035802"/>
                    <a:pt x="4882515" y="6035802"/>
                  </a:cubicBezTo>
                  <a:cubicBezTo>
                    <a:pt x="4867275" y="6035802"/>
                    <a:pt x="4859655" y="6035802"/>
                    <a:pt x="4852035" y="6020562"/>
                  </a:cubicBezTo>
                  <a:close/>
                  <a:moveTo>
                    <a:pt x="1409319" y="5921502"/>
                  </a:moveTo>
                  <a:cubicBezTo>
                    <a:pt x="1394079" y="5906262"/>
                    <a:pt x="1386459" y="5883402"/>
                    <a:pt x="1401699" y="5868162"/>
                  </a:cubicBezTo>
                  <a:cubicBezTo>
                    <a:pt x="1409319" y="5852922"/>
                    <a:pt x="1432179" y="5845302"/>
                    <a:pt x="1455039" y="5860542"/>
                  </a:cubicBezTo>
                  <a:cubicBezTo>
                    <a:pt x="1470279" y="5868162"/>
                    <a:pt x="1470279" y="5891022"/>
                    <a:pt x="1462659" y="5906262"/>
                  </a:cubicBezTo>
                  <a:cubicBezTo>
                    <a:pt x="1455039" y="5921502"/>
                    <a:pt x="1439799" y="5929122"/>
                    <a:pt x="1432179" y="5929122"/>
                  </a:cubicBezTo>
                  <a:cubicBezTo>
                    <a:pt x="1424559" y="5929122"/>
                    <a:pt x="1416939" y="5921502"/>
                    <a:pt x="1409319" y="5921502"/>
                  </a:cubicBezTo>
                  <a:close/>
                  <a:moveTo>
                    <a:pt x="5034788" y="5906262"/>
                  </a:moveTo>
                  <a:cubicBezTo>
                    <a:pt x="5019548" y="5891022"/>
                    <a:pt x="5027168" y="5868162"/>
                    <a:pt x="5042408" y="5852922"/>
                  </a:cubicBezTo>
                  <a:cubicBezTo>
                    <a:pt x="5057648" y="5845302"/>
                    <a:pt x="5080508" y="5845302"/>
                    <a:pt x="5095748" y="5860542"/>
                  </a:cubicBezTo>
                  <a:cubicBezTo>
                    <a:pt x="5103368" y="5883402"/>
                    <a:pt x="5103368" y="5906262"/>
                    <a:pt x="5080508" y="5913882"/>
                  </a:cubicBezTo>
                  <a:cubicBezTo>
                    <a:pt x="5080508" y="5921502"/>
                    <a:pt x="5072888" y="5921502"/>
                    <a:pt x="5065268" y="5921502"/>
                  </a:cubicBezTo>
                  <a:cubicBezTo>
                    <a:pt x="5050028" y="5921502"/>
                    <a:pt x="5034788" y="5913882"/>
                    <a:pt x="5034788" y="5906262"/>
                  </a:cubicBezTo>
                  <a:close/>
                  <a:moveTo>
                    <a:pt x="1234059" y="5791962"/>
                  </a:moveTo>
                  <a:cubicBezTo>
                    <a:pt x="1218819" y="5776722"/>
                    <a:pt x="1211199" y="5753862"/>
                    <a:pt x="1226439" y="5738622"/>
                  </a:cubicBezTo>
                  <a:cubicBezTo>
                    <a:pt x="1241679" y="5723382"/>
                    <a:pt x="1264539" y="5715762"/>
                    <a:pt x="1279779" y="5731002"/>
                  </a:cubicBezTo>
                  <a:cubicBezTo>
                    <a:pt x="1295019" y="5746242"/>
                    <a:pt x="1302639" y="5769102"/>
                    <a:pt x="1287399" y="5784342"/>
                  </a:cubicBezTo>
                  <a:cubicBezTo>
                    <a:pt x="1279779" y="5791962"/>
                    <a:pt x="1272159" y="5799582"/>
                    <a:pt x="1256919" y="5799582"/>
                  </a:cubicBezTo>
                  <a:cubicBezTo>
                    <a:pt x="1249299" y="5799582"/>
                    <a:pt x="1241679" y="5799582"/>
                    <a:pt x="1234059" y="5791962"/>
                  </a:cubicBezTo>
                  <a:close/>
                  <a:moveTo>
                    <a:pt x="5202301" y="5784342"/>
                  </a:moveTo>
                  <a:cubicBezTo>
                    <a:pt x="5194681" y="5761482"/>
                    <a:pt x="5194681" y="5738622"/>
                    <a:pt x="5209921" y="5731002"/>
                  </a:cubicBezTo>
                  <a:cubicBezTo>
                    <a:pt x="5225161" y="5715762"/>
                    <a:pt x="5248021" y="5715762"/>
                    <a:pt x="5263261" y="5731002"/>
                  </a:cubicBezTo>
                  <a:cubicBezTo>
                    <a:pt x="5278501" y="5753862"/>
                    <a:pt x="5270881" y="5776722"/>
                    <a:pt x="5255641" y="5784342"/>
                  </a:cubicBezTo>
                  <a:cubicBezTo>
                    <a:pt x="5248021" y="5791962"/>
                    <a:pt x="5240401" y="5791962"/>
                    <a:pt x="5232781" y="5791962"/>
                  </a:cubicBezTo>
                  <a:cubicBezTo>
                    <a:pt x="5225161" y="5791962"/>
                    <a:pt x="5209921" y="5791962"/>
                    <a:pt x="5202301" y="5784342"/>
                  </a:cubicBezTo>
                  <a:close/>
                  <a:moveTo>
                    <a:pt x="1066292" y="5647055"/>
                  </a:moveTo>
                  <a:cubicBezTo>
                    <a:pt x="1051052" y="5639435"/>
                    <a:pt x="1051052" y="5608955"/>
                    <a:pt x="1066292" y="5593715"/>
                  </a:cubicBezTo>
                  <a:cubicBezTo>
                    <a:pt x="1081532" y="5578475"/>
                    <a:pt x="1104392" y="5578475"/>
                    <a:pt x="1119632" y="5593715"/>
                  </a:cubicBezTo>
                  <a:cubicBezTo>
                    <a:pt x="1134872" y="5608955"/>
                    <a:pt x="1134872" y="5631815"/>
                    <a:pt x="1119632" y="5647055"/>
                  </a:cubicBezTo>
                  <a:cubicBezTo>
                    <a:pt x="1112012" y="5654675"/>
                    <a:pt x="1104392" y="5662295"/>
                    <a:pt x="1096772" y="5662295"/>
                  </a:cubicBezTo>
                  <a:cubicBezTo>
                    <a:pt x="1081532" y="5662295"/>
                    <a:pt x="1073912" y="5654675"/>
                    <a:pt x="1066292" y="5647055"/>
                  </a:cubicBezTo>
                  <a:close/>
                  <a:moveTo>
                    <a:pt x="5369687" y="5647055"/>
                  </a:moveTo>
                  <a:cubicBezTo>
                    <a:pt x="5354447" y="5631815"/>
                    <a:pt x="5354447" y="5601335"/>
                    <a:pt x="5369687" y="5593715"/>
                  </a:cubicBezTo>
                  <a:cubicBezTo>
                    <a:pt x="5384927" y="5578475"/>
                    <a:pt x="5407787" y="5578475"/>
                    <a:pt x="5423027" y="5593715"/>
                  </a:cubicBezTo>
                  <a:cubicBezTo>
                    <a:pt x="5438267" y="5608955"/>
                    <a:pt x="5438267" y="5631815"/>
                    <a:pt x="5423027" y="5647055"/>
                  </a:cubicBezTo>
                  <a:cubicBezTo>
                    <a:pt x="5415407" y="5654675"/>
                    <a:pt x="5407787" y="5654675"/>
                    <a:pt x="5400167" y="5654675"/>
                  </a:cubicBezTo>
                  <a:cubicBezTo>
                    <a:pt x="5384927" y="5654675"/>
                    <a:pt x="5377307" y="5654675"/>
                    <a:pt x="5369687" y="5647055"/>
                  </a:cubicBezTo>
                  <a:close/>
                  <a:moveTo>
                    <a:pt x="914019" y="5502275"/>
                  </a:moveTo>
                  <a:cubicBezTo>
                    <a:pt x="898779" y="5487035"/>
                    <a:pt x="898779" y="5464175"/>
                    <a:pt x="914019" y="5448935"/>
                  </a:cubicBezTo>
                  <a:cubicBezTo>
                    <a:pt x="929259" y="5433695"/>
                    <a:pt x="952119" y="5433695"/>
                    <a:pt x="967359" y="5448935"/>
                  </a:cubicBezTo>
                  <a:cubicBezTo>
                    <a:pt x="982599" y="5464175"/>
                    <a:pt x="982599" y="5487035"/>
                    <a:pt x="967359" y="5502275"/>
                  </a:cubicBezTo>
                  <a:cubicBezTo>
                    <a:pt x="959739" y="5509895"/>
                    <a:pt x="952119" y="5509895"/>
                    <a:pt x="936879" y="5509895"/>
                  </a:cubicBezTo>
                  <a:cubicBezTo>
                    <a:pt x="929259" y="5509895"/>
                    <a:pt x="921639" y="5509895"/>
                    <a:pt x="914019" y="5502275"/>
                  </a:cubicBezTo>
                  <a:close/>
                  <a:moveTo>
                    <a:pt x="5522087" y="5494655"/>
                  </a:moveTo>
                  <a:cubicBezTo>
                    <a:pt x="5506847" y="5479415"/>
                    <a:pt x="5506847" y="5456555"/>
                    <a:pt x="5522087" y="5441315"/>
                  </a:cubicBezTo>
                  <a:cubicBezTo>
                    <a:pt x="5537327" y="5426075"/>
                    <a:pt x="5560187" y="5426075"/>
                    <a:pt x="5575427" y="5441315"/>
                  </a:cubicBezTo>
                  <a:cubicBezTo>
                    <a:pt x="5590667" y="5456555"/>
                    <a:pt x="5590667" y="5479415"/>
                    <a:pt x="5575427" y="5494655"/>
                  </a:cubicBezTo>
                  <a:cubicBezTo>
                    <a:pt x="5567807" y="5502275"/>
                    <a:pt x="5560187" y="5509895"/>
                    <a:pt x="5552567" y="5509895"/>
                  </a:cubicBezTo>
                  <a:cubicBezTo>
                    <a:pt x="5544947" y="5509895"/>
                    <a:pt x="5529707" y="5502275"/>
                    <a:pt x="5522087" y="5494655"/>
                  </a:cubicBezTo>
                  <a:close/>
                  <a:moveTo>
                    <a:pt x="769366" y="5342255"/>
                  </a:moveTo>
                  <a:cubicBezTo>
                    <a:pt x="754126" y="5319395"/>
                    <a:pt x="754126" y="5296535"/>
                    <a:pt x="769366" y="5288915"/>
                  </a:cubicBezTo>
                  <a:cubicBezTo>
                    <a:pt x="784606" y="5273675"/>
                    <a:pt x="815086" y="5273675"/>
                    <a:pt x="822706" y="5288915"/>
                  </a:cubicBezTo>
                  <a:cubicBezTo>
                    <a:pt x="837946" y="5304155"/>
                    <a:pt x="837946" y="5327015"/>
                    <a:pt x="822706" y="5342255"/>
                  </a:cubicBezTo>
                  <a:cubicBezTo>
                    <a:pt x="815086" y="5349875"/>
                    <a:pt x="807466" y="5349875"/>
                    <a:pt x="799846" y="5349875"/>
                  </a:cubicBezTo>
                  <a:cubicBezTo>
                    <a:pt x="784606" y="5349875"/>
                    <a:pt x="776986" y="5349875"/>
                    <a:pt x="769366" y="5342255"/>
                  </a:cubicBezTo>
                  <a:close/>
                  <a:moveTo>
                    <a:pt x="5666867" y="5342255"/>
                  </a:moveTo>
                  <a:cubicBezTo>
                    <a:pt x="5651627" y="5327015"/>
                    <a:pt x="5651627" y="5304155"/>
                    <a:pt x="5666867" y="5288915"/>
                  </a:cubicBezTo>
                  <a:cubicBezTo>
                    <a:pt x="5682107" y="5266055"/>
                    <a:pt x="5704967" y="5266055"/>
                    <a:pt x="5720207" y="5281295"/>
                  </a:cubicBezTo>
                  <a:cubicBezTo>
                    <a:pt x="5735447" y="5296535"/>
                    <a:pt x="5735447" y="5319395"/>
                    <a:pt x="5720207" y="5334635"/>
                  </a:cubicBezTo>
                  <a:cubicBezTo>
                    <a:pt x="5712587" y="5342255"/>
                    <a:pt x="5704967" y="5349875"/>
                    <a:pt x="5697347" y="5349875"/>
                  </a:cubicBezTo>
                  <a:cubicBezTo>
                    <a:pt x="5682107" y="5349875"/>
                    <a:pt x="5674487" y="5342255"/>
                    <a:pt x="5666867" y="5342255"/>
                  </a:cubicBezTo>
                  <a:close/>
                  <a:moveTo>
                    <a:pt x="632206" y="5166995"/>
                  </a:moveTo>
                  <a:cubicBezTo>
                    <a:pt x="616966" y="5151755"/>
                    <a:pt x="624586" y="5128895"/>
                    <a:pt x="639826" y="5113655"/>
                  </a:cubicBezTo>
                  <a:cubicBezTo>
                    <a:pt x="655066" y="5106035"/>
                    <a:pt x="685546" y="5106035"/>
                    <a:pt x="693166" y="5121275"/>
                  </a:cubicBezTo>
                  <a:cubicBezTo>
                    <a:pt x="708406" y="5144135"/>
                    <a:pt x="700786" y="5166995"/>
                    <a:pt x="685546" y="5174615"/>
                  </a:cubicBezTo>
                  <a:cubicBezTo>
                    <a:pt x="677926" y="5182235"/>
                    <a:pt x="670306" y="5182235"/>
                    <a:pt x="662686" y="5182235"/>
                  </a:cubicBezTo>
                  <a:cubicBezTo>
                    <a:pt x="655066" y="5182235"/>
                    <a:pt x="639826" y="5182235"/>
                    <a:pt x="632206" y="5166995"/>
                  </a:cubicBezTo>
                  <a:close/>
                  <a:moveTo>
                    <a:pt x="5803900" y="5174615"/>
                  </a:moveTo>
                  <a:cubicBezTo>
                    <a:pt x="5788660" y="5159375"/>
                    <a:pt x="5781040" y="5136515"/>
                    <a:pt x="5796280" y="5121275"/>
                  </a:cubicBezTo>
                  <a:cubicBezTo>
                    <a:pt x="5811520" y="5106035"/>
                    <a:pt x="5834380" y="5098415"/>
                    <a:pt x="5849620" y="5113655"/>
                  </a:cubicBezTo>
                  <a:cubicBezTo>
                    <a:pt x="5864860" y="5121275"/>
                    <a:pt x="5872480" y="5144135"/>
                    <a:pt x="5857240" y="5166995"/>
                  </a:cubicBezTo>
                  <a:cubicBezTo>
                    <a:pt x="5849620" y="5174615"/>
                    <a:pt x="5842000" y="5182235"/>
                    <a:pt x="5826760" y="5182235"/>
                  </a:cubicBezTo>
                  <a:cubicBezTo>
                    <a:pt x="5819140" y="5182235"/>
                    <a:pt x="5811520" y="5174615"/>
                    <a:pt x="5803900" y="5174615"/>
                  </a:cubicBezTo>
                  <a:close/>
                  <a:moveTo>
                    <a:pt x="510286" y="4991608"/>
                  </a:moveTo>
                  <a:cubicBezTo>
                    <a:pt x="495046" y="4976368"/>
                    <a:pt x="502666" y="4945888"/>
                    <a:pt x="517906" y="4938268"/>
                  </a:cubicBezTo>
                  <a:cubicBezTo>
                    <a:pt x="540766" y="4923028"/>
                    <a:pt x="563626" y="4930648"/>
                    <a:pt x="571246" y="4945888"/>
                  </a:cubicBezTo>
                  <a:cubicBezTo>
                    <a:pt x="586486" y="4968748"/>
                    <a:pt x="578866" y="4991608"/>
                    <a:pt x="563626" y="4999228"/>
                  </a:cubicBezTo>
                  <a:cubicBezTo>
                    <a:pt x="556006" y="5006848"/>
                    <a:pt x="548386" y="5006848"/>
                    <a:pt x="540766" y="5006848"/>
                  </a:cubicBezTo>
                  <a:cubicBezTo>
                    <a:pt x="533146" y="5006848"/>
                    <a:pt x="517906" y="4999228"/>
                    <a:pt x="510286" y="4991608"/>
                  </a:cubicBezTo>
                  <a:close/>
                  <a:moveTo>
                    <a:pt x="5925693" y="4999228"/>
                  </a:moveTo>
                  <a:cubicBezTo>
                    <a:pt x="5910453" y="4983988"/>
                    <a:pt x="5902833" y="4961128"/>
                    <a:pt x="5918073" y="4945888"/>
                  </a:cubicBezTo>
                  <a:cubicBezTo>
                    <a:pt x="5925693" y="4923028"/>
                    <a:pt x="5948553" y="4923028"/>
                    <a:pt x="5971413" y="4930648"/>
                  </a:cubicBezTo>
                  <a:cubicBezTo>
                    <a:pt x="5986653" y="4945888"/>
                    <a:pt x="5994273" y="4968748"/>
                    <a:pt x="5979033" y="4983988"/>
                  </a:cubicBezTo>
                  <a:cubicBezTo>
                    <a:pt x="5971413" y="4999228"/>
                    <a:pt x="5963793" y="5006848"/>
                    <a:pt x="5948553" y="5006848"/>
                  </a:cubicBezTo>
                  <a:cubicBezTo>
                    <a:pt x="5940933" y="5006848"/>
                    <a:pt x="5933313" y="4999228"/>
                    <a:pt x="5925693" y="4999228"/>
                  </a:cubicBezTo>
                  <a:close/>
                  <a:moveTo>
                    <a:pt x="396113" y="4801108"/>
                  </a:moveTo>
                  <a:cubicBezTo>
                    <a:pt x="388493" y="4785868"/>
                    <a:pt x="396113" y="4763008"/>
                    <a:pt x="411353" y="4755388"/>
                  </a:cubicBezTo>
                  <a:cubicBezTo>
                    <a:pt x="434213" y="4740148"/>
                    <a:pt x="457073" y="4747768"/>
                    <a:pt x="464693" y="4770628"/>
                  </a:cubicBezTo>
                  <a:cubicBezTo>
                    <a:pt x="479933" y="4785868"/>
                    <a:pt x="472313" y="4808728"/>
                    <a:pt x="449453" y="4816348"/>
                  </a:cubicBezTo>
                  <a:cubicBezTo>
                    <a:pt x="441833" y="4823968"/>
                    <a:pt x="441833" y="4823968"/>
                    <a:pt x="434213" y="4823968"/>
                  </a:cubicBezTo>
                  <a:cubicBezTo>
                    <a:pt x="418973" y="4823968"/>
                    <a:pt x="403733" y="4816348"/>
                    <a:pt x="396113" y="4801108"/>
                  </a:cubicBezTo>
                  <a:close/>
                  <a:moveTo>
                    <a:pt x="6039993" y="4816348"/>
                  </a:moveTo>
                  <a:cubicBezTo>
                    <a:pt x="6017133" y="4801108"/>
                    <a:pt x="6017133" y="4778248"/>
                    <a:pt x="6024753" y="4763008"/>
                  </a:cubicBezTo>
                  <a:cubicBezTo>
                    <a:pt x="6032373" y="4740148"/>
                    <a:pt x="6055233" y="4740148"/>
                    <a:pt x="6078093" y="4747768"/>
                  </a:cubicBezTo>
                  <a:cubicBezTo>
                    <a:pt x="6093333" y="4755388"/>
                    <a:pt x="6100953" y="4778248"/>
                    <a:pt x="6093333" y="4801108"/>
                  </a:cubicBezTo>
                  <a:cubicBezTo>
                    <a:pt x="6085713" y="4808728"/>
                    <a:pt x="6070473" y="4816348"/>
                    <a:pt x="6055233" y="4816348"/>
                  </a:cubicBezTo>
                  <a:cubicBezTo>
                    <a:pt x="6047613" y="4816348"/>
                    <a:pt x="6047613" y="4816348"/>
                    <a:pt x="6039993" y="4816348"/>
                  </a:cubicBezTo>
                  <a:close/>
                  <a:moveTo>
                    <a:pt x="304673" y="4610608"/>
                  </a:moveTo>
                  <a:cubicBezTo>
                    <a:pt x="289433" y="4595368"/>
                    <a:pt x="297053" y="4572508"/>
                    <a:pt x="319913" y="4557268"/>
                  </a:cubicBezTo>
                  <a:cubicBezTo>
                    <a:pt x="342773" y="4549648"/>
                    <a:pt x="358013" y="4557268"/>
                    <a:pt x="373253" y="4580128"/>
                  </a:cubicBezTo>
                  <a:cubicBezTo>
                    <a:pt x="380873" y="4595368"/>
                    <a:pt x="373253" y="4618228"/>
                    <a:pt x="350393" y="4625848"/>
                  </a:cubicBezTo>
                  <a:cubicBezTo>
                    <a:pt x="350393" y="4633468"/>
                    <a:pt x="342773" y="4633468"/>
                    <a:pt x="335153" y="4633468"/>
                  </a:cubicBezTo>
                  <a:cubicBezTo>
                    <a:pt x="319913" y="4633468"/>
                    <a:pt x="304673" y="4625848"/>
                    <a:pt x="304673" y="4610608"/>
                  </a:cubicBezTo>
                  <a:close/>
                  <a:moveTo>
                    <a:pt x="6139053" y="4625848"/>
                  </a:moveTo>
                  <a:cubicBezTo>
                    <a:pt x="6116193" y="4618228"/>
                    <a:pt x="6108573" y="4595368"/>
                    <a:pt x="6116193" y="4572508"/>
                  </a:cubicBezTo>
                  <a:cubicBezTo>
                    <a:pt x="6131433" y="4557268"/>
                    <a:pt x="6154293" y="4542028"/>
                    <a:pt x="6169533" y="4557268"/>
                  </a:cubicBezTo>
                  <a:cubicBezTo>
                    <a:pt x="6192393" y="4564888"/>
                    <a:pt x="6200013" y="4587748"/>
                    <a:pt x="6192393" y="4602988"/>
                  </a:cubicBezTo>
                  <a:cubicBezTo>
                    <a:pt x="6184773" y="4618228"/>
                    <a:pt x="6169533" y="4625848"/>
                    <a:pt x="6154293" y="4625848"/>
                  </a:cubicBezTo>
                  <a:cubicBezTo>
                    <a:pt x="6146673" y="4625848"/>
                    <a:pt x="6146673" y="4625848"/>
                    <a:pt x="6139053" y="4625848"/>
                  </a:cubicBezTo>
                  <a:close/>
                  <a:moveTo>
                    <a:pt x="213233" y="4412488"/>
                  </a:moveTo>
                  <a:cubicBezTo>
                    <a:pt x="205613" y="4389628"/>
                    <a:pt x="220853" y="4366768"/>
                    <a:pt x="236093" y="4359148"/>
                  </a:cubicBezTo>
                  <a:cubicBezTo>
                    <a:pt x="258953" y="4351528"/>
                    <a:pt x="281813" y="4366768"/>
                    <a:pt x="289433" y="4382008"/>
                  </a:cubicBezTo>
                  <a:cubicBezTo>
                    <a:pt x="297053" y="4404868"/>
                    <a:pt x="281813" y="4427728"/>
                    <a:pt x="266573" y="4435348"/>
                  </a:cubicBezTo>
                  <a:cubicBezTo>
                    <a:pt x="258953" y="4435348"/>
                    <a:pt x="258953" y="4435348"/>
                    <a:pt x="251333" y="4435348"/>
                  </a:cubicBezTo>
                  <a:cubicBezTo>
                    <a:pt x="236093" y="4435348"/>
                    <a:pt x="220853" y="4427728"/>
                    <a:pt x="213233" y="4412488"/>
                  </a:cubicBezTo>
                  <a:close/>
                  <a:moveTo>
                    <a:pt x="6222746" y="4427728"/>
                  </a:moveTo>
                  <a:cubicBezTo>
                    <a:pt x="6207506" y="4420108"/>
                    <a:pt x="6192266" y="4397248"/>
                    <a:pt x="6199886" y="4374388"/>
                  </a:cubicBezTo>
                  <a:cubicBezTo>
                    <a:pt x="6207506" y="4359148"/>
                    <a:pt x="6230366" y="4351528"/>
                    <a:pt x="6253226" y="4359148"/>
                  </a:cubicBezTo>
                  <a:cubicBezTo>
                    <a:pt x="6268466" y="4366768"/>
                    <a:pt x="6283706" y="4382008"/>
                    <a:pt x="6276086" y="4404868"/>
                  </a:cubicBezTo>
                  <a:cubicBezTo>
                    <a:pt x="6268466" y="4420108"/>
                    <a:pt x="6253226" y="4427728"/>
                    <a:pt x="6237986" y="4427728"/>
                  </a:cubicBezTo>
                  <a:cubicBezTo>
                    <a:pt x="6230366" y="4427728"/>
                    <a:pt x="6230366" y="4427728"/>
                    <a:pt x="6222746" y="4427728"/>
                  </a:cubicBezTo>
                  <a:close/>
                  <a:moveTo>
                    <a:pt x="144653" y="4206748"/>
                  </a:moveTo>
                  <a:cubicBezTo>
                    <a:pt x="137033" y="4183888"/>
                    <a:pt x="152273" y="4168648"/>
                    <a:pt x="167513" y="4161028"/>
                  </a:cubicBezTo>
                  <a:cubicBezTo>
                    <a:pt x="190373" y="4153408"/>
                    <a:pt x="213233" y="4161028"/>
                    <a:pt x="220853" y="4183888"/>
                  </a:cubicBezTo>
                  <a:cubicBezTo>
                    <a:pt x="220853" y="4206748"/>
                    <a:pt x="213233" y="4229608"/>
                    <a:pt x="190373" y="4229608"/>
                  </a:cubicBezTo>
                  <a:cubicBezTo>
                    <a:pt x="190373" y="4237228"/>
                    <a:pt x="182753" y="4237228"/>
                    <a:pt x="182753" y="4237228"/>
                  </a:cubicBezTo>
                  <a:cubicBezTo>
                    <a:pt x="167513" y="4237228"/>
                    <a:pt x="152273" y="4221988"/>
                    <a:pt x="144653" y="4206748"/>
                  </a:cubicBezTo>
                  <a:close/>
                  <a:moveTo>
                    <a:pt x="6298819" y="4221988"/>
                  </a:moveTo>
                  <a:cubicBezTo>
                    <a:pt x="6275959" y="4221988"/>
                    <a:pt x="6268339" y="4199128"/>
                    <a:pt x="6268339" y="4176268"/>
                  </a:cubicBezTo>
                  <a:cubicBezTo>
                    <a:pt x="6275959" y="4161028"/>
                    <a:pt x="6298819" y="4145788"/>
                    <a:pt x="6321679" y="4153408"/>
                  </a:cubicBezTo>
                  <a:cubicBezTo>
                    <a:pt x="6336919" y="4161028"/>
                    <a:pt x="6352159" y="4176268"/>
                    <a:pt x="6344539" y="4199128"/>
                  </a:cubicBezTo>
                  <a:cubicBezTo>
                    <a:pt x="6336919" y="4214368"/>
                    <a:pt x="6321679" y="4229608"/>
                    <a:pt x="6306439" y="4229608"/>
                  </a:cubicBezTo>
                  <a:cubicBezTo>
                    <a:pt x="6306439" y="4229608"/>
                    <a:pt x="6298819" y="4229608"/>
                    <a:pt x="6298819" y="4221988"/>
                  </a:cubicBezTo>
                  <a:close/>
                  <a:moveTo>
                    <a:pt x="91440" y="4000881"/>
                  </a:moveTo>
                  <a:cubicBezTo>
                    <a:pt x="83820" y="3978021"/>
                    <a:pt x="99060" y="3955161"/>
                    <a:pt x="114300" y="3955161"/>
                  </a:cubicBezTo>
                  <a:cubicBezTo>
                    <a:pt x="137160" y="3947541"/>
                    <a:pt x="160020" y="3962781"/>
                    <a:pt x="160020" y="3978021"/>
                  </a:cubicBezTo>
                  <a:cubicBezTo>
                    <a:pt x="167640" y="4000881"/>
                    <a:pt x="152400" y="4023741"/>
                    <a:pt x="137160" y="4023741"/>
                  </a:cubicBezTo>
                  <a:cubicBezTo>
                    <a:pt x="129540" y="4023741"/>
                    <a:pt x="129540" y="4023741"/>
                    <a:pt x="121920" y="4023741"/>
                  </a:cubicBezTo>
                  <a:cubicBezTo>
                    <a:pt x="106680" y="4023741"/>
                    <a:pt x="91440" y="4016121"/>
                    <a:pt x="91440" y="4000881"/>
                  </a:cubicBezTo>
                  <a:close/>
                  <a:moveTo>
                    <a:pt x="6352286" y="4016121"/>
                  </a:moveTo>
                  <a:cubicBezTo>
                    <a:pt x="6337046" y="4016121"/>
                    <a:pt x="6321806" y="3993261"/>
                    <a:pt x="6329426" y="3970401"/>
                  </a:cubicBezTo>
                  <a:cubicBezTo>
                    <a:pt x="6329426" y="3955161"/>
                    <a:pt x="6352286" y="3939921"/>
                    <a:pt x="6375146" y="3947541"/>
                  </a:cubicBezTo>
                  <a:cubicBezTo>
                    <a:pt x="6390386" y="3947541"/>
                    <a:pt x="6405626" y="3970401"/>
                    <a:pt x="6398006" y="3993261"/>
                  </a:cubicBezTo>
                  <a:cubicBezTo>
                    <a:pt x="6398006" y="4008501"/>
                    <a:pt x="6382766" y="4023741"/>
                    <a:pt x="6367526" y="4023741"/>
                  </a:cubicBezTo>
                  <a:cubicBezTo>
                    <a:pt x="6359906" y="4023741"/>
                    <a:pt x="6359906" y="4016121"/>
                    <a:pt x="6352286" y="4016121"/>
                  </a:cubicBezTo>
                  <a:close/>
                  <a:moveTo>
                    <a:pt x="45720" y="3787521"/>
                  </a:moveTo>
                  <a:cubicBezTo>
                    <a:pt x="38100" y="3764661"/>
                    <a:pt x="53340" y="3741801"/>
                    <a:pt x="76200" y="3741801"/>
                  </a:cubicBezTo>
                  <a:cubicBezTo>
                    <a:pt x="99060" y="3741801"/>
                    <a:pt x="114300" y="3749421"/>
                    <a:pt x="121920" y="3772281"/>
                  </a:cubicBezTo>
                  <a:cubicBezTo>
                    <a:pt x="121920" y="3795141"/>
                    <a:pt x="106680" y="3810381"/>
                    <a:pt x="91440" y="3818001"/>
                  </a:cubicBezTo>
                  <a:cubicBezTo>
                    <a:pt x="83820" y="3818001"/>
                    <a:pt x="83820" y="3818001"/>
                    <a:pt x="83820" y="3818001"/>
                  </a:cubicBezTo>
                  <a:cubicBezTo>
                    <a:pt x="60960" y="3818001"/>
                    <a:pt x="45720" y="3802761"/>
                    <a:pt x="45720" y="3787521"/>
                  </a:cubicBezTo>
                  <a:close/>
                  <a:moveTo>
                    <a:pt x="6398006" y="3810381"/>
                  </a:moveTo>
                  <a:cubicBezTo>
                    <a:pt x="6382766" y="3802761"/>
                    <a:pt x="6367526" y="3787521"/>
                    <a:pt x="6367526" y="3764661"/>
                  </a:cubicBezTo>
                  <a:cubicBezTo>
                    <a:pt x="6375146" y="3741801"/>
                    <a:pt x="6390386" y="3734181"/>
                    <a:pt x="6413246" y="3734181"/>
                  </a:cubicBezTo>
                  <a:cubicBezTo>
                    <a:pt x="6436106" y="3734181"/>
                    <a:pt x="6443726" y="3757041"/>
                    <a:pt x="6443726" y="3779901"/>
                  </a:cubicBezTo>
                  <a:cubicBezTo>
                    <a:pt x="6443726" y="3795141"/>
                    <a:pt x="6428486" y="3810381"/>
                    <a:pt x="6405626" y="3810381"/>
                  </a:cubicBezTo>
                  <a:cubicBezTo>
                    <a:pt x="6405626" y="3810381"/>
                    <a:pt x="6405626" y="3810381"/>
                    <a:pt x="6398006" y="3810381"/>
                  </a:cubicBezTo>
                  <a:close/>
                  <a:moveTo>
                    <a:pt x="15240" y="3574161"/>
                  </a:moveTo>
                  <a:cubicBezTo>
                    <a:pt x="15240" y="3551301"/>
                    <a:pt x="30480" y="3528441"/>
                    <a:pt x="53340" y="3528441"/>
                  </a:cubicBezTo>
                  <a:cubicBezTo>
                    <a:pt x="68580" y="3528441"/>
                    <a:pt x="91440" y="3543681"/>
                    <a:pt x="91440" y="3566541"/>
                  </a:cubicBezTo>
                  <a:cubicBezTo>
                    <a:pt x="91440" y="3581781"/>
                    <a:pt x="76200" y="3604641"/>
                    <a:pt x="60960" y="3604641"/>
                  </a:cubicBezTo>
                  <a:cubicBezTo>
                    <a:pt x="53340" y="3604641"/>
                    <a:pt x="53340" y="3604641"/>
                    <a:pt x="53340" y="3604641"/>
                  </a:cubicBezTo>
                  <a:cubicBezTo>
                    <a:pt x="38100" y="3604641"/>
                    <a:pt x="15240" y="3589401"/>
                    <a:pt x="15240" y="3574161"/>
                  </a:cubicBezTo>
                  <a:close/>
                  <a:moveTo>
                    <a:pt x="6428486" y="3597021"/>
                  </a:moveTo>
                  <a:cubicBezTo>
                    <a:pt x="6413246" y="3597021"/>
                    <a:pt x="6398006" y="3574161"/>
                    <a:pt x="6398006" y="3558921"/>
                  </a:cubicBezTo>
                  <a:cubicBezTo>
                    <a:pt x="6398006" y="3536061"/>
                    <a:pt x="6420866" y="3520821"/>
                    <a:pt x="6436106" y="3520821"/>
                  </a:cubicBezTo>
                  <a:cubicBezTo>
                    <a:pt x="6458966" y="3520821"/>
                    <a:pt x="6474206" y="3543681"/>
                    <a:pt x="6474206" y="3566541"/>
                  </a:cubicBezTo>
                  <a:cubicBezTo>
                    <a:pt x="6474206" y="3581781"/>
                    <a:pt x="6451346" y="3597021"/>
                    <a:pt x="6436106" y="3597021"/>
                  </a:cubicBezTo>
                  <a:cubicBezTo>
                    <a:pt x="6436106" y="3597021"/>
                    <a:pt x="6428486" y="3597021"/>
                    <a:pt x="6428486" y="3597021"/>
                  </a:cubicBezTo>
                  <a:close/>
                  <a:moveTo>
                    <a:pt x="0" y="3353181"/>
                  </a:moveTo>
                  <a:cubicBezTo>
                    <a:pt x="0" y="3330321"/>
                    <a:pt x="15240" y="3315081"/>
                    <a:pt x="38100" y="3315081"/>
                  </a:cubicBezTo>
                  <a:cubicBezTo>
                    <a:pt x="60960" y="3315081"/>
                    <a:pt x="76200" y="3330321"/>
                    <a:pt x="76200" y="3353181"/>
                  </a:cubicBezTo>
                  <a:cubicBezTo>
                    <a:pt x="76200" y="3376041"/>
                    <a:pt x="60960" y="3391281"/>
                    <a:pt x="38100" y="3391281"/>
                  </a:cubicBezTo>
                  <a:cubicBezTo>
                    <a:pt x="15240" y="3391281"/>
                    <a:pt x="0" y="3376041"/>
                    <a:pt x="0" y="3353181"/>
                  </a:cubicBezTo>
                  <a:close/>
                  <a:moveTo>
                    <a:pt x="6443599" y="3383661"/>
                  </a:moveTo>
                  <a:cubicBezTo>
                    <a:pt x="6428359" y="3383661"/>
                    <a:pt x="6413119" y="3368421"/>
                    <a:pt x="6413119" y="3345561"/>
                  </a:cubicBezTo>
                  <a:cubicBezTo>
                    <a:pt x="6413119" y="3322701"/>
                    <a:pt x="6428359" y="3307461"/>
                    <a:pt x="6451219" y="3307461"/>
                  </a:cubicBezTo>
                  <a:cubicBezTo>
                    <a:pt x="6474079" y="3307461"/>
                    <a:pt x="6489319" y="3322701"/>
                    <a:pt x="6489319" y="3345561"/>
                  </a:cubicBezTo>
                  <a:cubicBezTo>
                    <a:pt x="6489319" y="3368421"/>
                    <a:pt x="6466459" y="3383661"/>
                    <a:pt x="6451219" y="3383661"/>
                  </a:cubicBezTo>
                  <a:cubicBezTo>
                    <a:pt x="6451219" y="3383661"/>
                    <a:pt x="6443599" y="3383661"/>
                    <a:pt x="6443599" y="3383661"/>
                  </a:cubicBezTo>
                  <a:close/>
                  <a:moveTo>
                    <a:pt x="38100" y="3177921"/>
                  </a:moveTo>
                  <a:cubicBezTo>
                    <a:pt x="15240" y="3177921"/>
                    <a:pt x="0" y="3155061"/>
                    <a:pt x="0" y="3139821"/>
                  </a:cubicBezTo>
                  <a:cubicBezTo>
                    <a:pt x="0" y="3116961"/>
                    <a:pt x="22860" y="3101721"/>
                    <a:pt x="38100" y="3101721"/>
                  </a:cubicBezTo>
                  <a:cubicBezTo>
                    <a:pt x="60960" y="3101721"/>
                    <a:pt x="76200" y="3116961"/>
                    <a:pt x="76200" y="3139821"/>
                  </a:cubicBezTo>
                  <a:cubicBezTo>
                    <a:pt x="76200" y="3162681"/>
                    <a:pt x="60960" y="3177921"/>
                    <a:pt x="38100" y="3177921"/>
                  </a:cubicBezTo>
                  <a:close/>
                  <a:moveTo>
                    <a:pt x="6413246" y="3132201"/>
                  </a:moveTo>
                  <a:cubicBezTo>
                    <a:pt x="6405626" y="3109341"/>
                    <a:pt x="6428486" y="3094101"/>
                    <a:pt x="6443726" y="3094101"/>
                  </a:cubicBezTo>
                  <a:cubicBezTo>
                    <a:pt x="6466586" y="3094101"/>
                    <a:pt x="6481826" y="3109341"/>
                    <a:pt x="6489446" y="3132201"/>
                  </a:cubicBezTo>
                  <a:cubicBezTo>
                    <a:pt x="6489446" y="3147441"/>
                    <a:pt x="6466586" y="3170301"/>
                    <a:pt x="6451346" y="3170301"/>
                  </a:cubicBezTo>
                  <a:cubicBezTo>
                    <a:pt x="6428486" y="3170301"/>
                    <a:pt x="6413246" y="3155061"/>
                    <a:pt x="6413246" y="3132201"/>
                  </a:cubicBezTo>
                  <a:close/>
                  <a:moveTo>
                    <a:pt x="53340" y="2964561"/>
                  </a:moveTo>
                  <a:cubicBezTo>
                    <a:pt x="30480" y="2964561"/>
                    <a:pt x="15240" y="2941701"/>
                    <a:pt x="15240" y="2918841"/>
                  </a:cubicBezTo>
                  <a:cubicBezTo>
                    <a:pt x="15240" y="2903601"/>
                    <a:pt x="38100" y="2888361"/>
                    <a:pt x="53340" y="2888361"/>
                  </a:cubicBezTo>
                  <a:cubicBezTo>
                    <a:pt x="76200" y="2888361"/>
                    <a:pt x="91440" y="2911221"/>
                    <a:pt x="91440" y="2926461"/>
                  </a:cubicBezTo>
                  <a:cubicBezTo>
                    <a:pt x="91440" y="2949321"/>
                    <a:pt x="76200" y="2964561"/>
                    <a:pt x="53340" y="2964561"/>
                  </a:cubicBezTo>
                  <a:close/>
                  <a:moveTo>
                    <a:pt x="6398006" y="2918841"/>
                  </a:moveTo>
                  <a:cubicBezTo>
                    <a:pt x="6390386" y="2903601"/>
                    <a:pt x="6405626" y="2880741"/>
                    <a:pt x="6428486" y="2880741"/>
                  </a:cubicBezTo>
                  <a:cubicBezTo>
                    <a:pt x="6451346" y="2880741"/>
                    <a:pt x="6466586" y="2895981"/>
                    <a:pt x="6474206" y="2911221"/>
                  </a:cubicBezTo>
                  <a:cubicBezTo>
                    <a:pt x="6474206" y="2934081"/>
                    <a:pt x="6458966" y="2956941"/>
                    <a:pt x="6436106" y="2956941"/>
                  </a:cubicBezTo>
                  <a:cubicBezTo>
                    <a:pt x="6413246" y="2956941"/>
                    <a:pt x="6398006" y="2941701"/>
                    <a:pt x="6398006" y="2918841"/>
                  </a:cubicBezTo>
                  <a:close/>
                  <a:moveTo>
                    <a:pt x="76200" y="2751074"/>
                  </a:moveTo>
                  <a:cubicBezTo>
                    <a:pt x="53340" y="2743454"/>
                    <a:pt x="38100" y="2728214"/>
                    <a:pt x="45720" y="2705354"/>
                  </a:cubicBezTo>
                  <a:cubicBezTo>
                    <a:pt x="45720" y="2682494"/>
                    <a:pt x="68580" y="2674874"/>
                    <a:pt x="91440" y="2674874"/>
                  </a:cubicBezTo>
                  <a:cubicBezTo>
                    <a:pt x="106680" y="2674874"/>
                    <a:pt x="121920" y="2697734"/>
                    <a:pt x="121920" y="2720594"/>
                  </a:cubicBezTo>
                  <a:cubicBezTo>
                    <a:pt x="114300" y="2735834"/>
                    <a:pt x="99060" y="2751074"/>
                    <a:pt x="83820" y="2751074"/>
                  </a:cubicBezTo>
                  <a:cubicBezTo>
                    <a:pt x="76200" y="2751074"/>
                    <a:pt x="76200" y="2751074"/>
                    <a:pt x="76200" y="2751074"/>
                  </a:cubicBezTo>
                  <a:close/>
                  <a:moveTo>
                    <a:pt x="6367526" y="2712974"/>
                  </a:moveTo>
                  <a:cubicBezTo>
                    <a:pt x="6359906" y="2690114"/>
                    <a:pt x="6375146" y="2674874"/>
                    <a:pt x="6398006" y="2667254"/>
                  </a:cubicBezTo>
                  <a:cubicBezTo>
                    <a:pt x="6420866" y="2667254"/>
                    <a:pt x="6436106" y="2674874"/>
                    <a:pt x="6443726" y="2697734"/>
                  </a:cubicBezTo>
                  <a:cubicBezTo>
                    <a:pt x="6443726" y="2720594"/>
                    <a:pt x="6428486" y="2735834"/>
                    <a:pt x="6413246" y="2743454"/>
                  </a:cubicBezTo>
                  <a:cubicBezTo>
                    <a:pt x="6405626" y="2743454"/>
                    <a:pt x="6405626" y="2743454"/>
                    <a:pt x="6405626" y="2743454"/>
                  </a:cubicBezTo>
                  <a:cubicBezTo>
                    <a:pt x="6382766" y="2743454"/>
                    <a:pt x="6367526" y="2728214"/>
                    <a:pt x="6367526" y="2712974"/>
                  </a:cubicBezTo>
                  <a:close/>
                  <a:moveTo>
                    <a:pt x="114300" y="2537714"/>
                  </a:moveTo>
                  <a:cubicBezTo>
                    <a:pt x="91440" y="2537714"/>
                    <a:pt x="83820" y="2514854"/>
                    <a:pt x="83820" y="2491994"/>
                  </a:cubicBezTo>
                  <a:cubicBezTo>
                    <a:pt x="91440" y="2476754"/>
                    <a:pt x="114300" y="2461514"/>
                    <a:pt x="129540" y="2469134"/>
                  </a:cubicBezTo>
                  <a:cubicBezTo>
                    <a:pt x="152400" y="2469134"/>
                    <a:pt x="167640" y="2491994"/>
                    <a:pt x="160020" y="2514854"/>
                  </a:cubicBezTo>
                  <a:cubicBezTo>
                    <a:pt x="160020" y="2530094"/>
                    <a:pt x="144780" y="2537714"/>
                    <a:pt x="121920" y="2537714"/>
                  </a:cubicBezTo>
                  <a:cubicBezTo>
                    <a:pt x="121920" y="2537714"/>
                    <a:pt x="121920" y="2537714"/>
                    <a:pt x="114300" y="2537714"/>
                  </a:cubicBezTo>
                  <a:close/>
                  <a:moveTo>
                    <a:pt x="6321806" y="2507234"/>
                  </a:moveTo>
                  <a:cubicBezTo>
                    <a:pt x="6321806" y="2484374"/>
                    <a:pt x="6329426" y="2461514"/>
                    <a:pt x="6352286" y="2461514"/>
                  </a:cubicBezTo>
                  <a:cubicBezTo>
                    <a:pt x="6375146" y="2453894"/>
                    <a:pt x="6390386" y="2469134"/>
                    <a:pt x="6398006" y="2484374"/>
                  </a:cubicBezTo>
                  <a:cubicBezTo>
                    <a:pt x="6405626" y="2507234"/>
                    <a:pt x="6390386" y="2530094"/>
                    <a:pt x="6367526" y="2530094"/>
                  </a:cubicBezTo>
                  <a:cubicBezTo>
                    <a:pt x="6367526" y="2530094"/>
                    <a:pt x="6367526" y="2530094"/>
                    <a:pt x="6359906" y="2530094"/>
                  </a:cubicBezTo>
                  <a:cubicBezTo>
                    <a:pt x="6344666" y="2530094"/>
                    <a:pt x="6329426" y="2522474"/>
                    <a:pt x="6321806" y="2507234"/>
                  </a:cubicBezTo>
                  <a:close/>
                  <a:moveTo>
                    <a:pt x="167513" y="2331974"/>
                  </a:moveTo>
                  <a:cubicBezTo>
                    <a:pt x="152273" y="2324354"/>
                    <a:pt x="137033" y="2301494"/>
                    <a:pt x="144653" y="2286254"/>
                  </a:cubicBezTo>
                  <a:cubicBezTo>
                    <a:pt x="152273" y="2263394"/>
                    <a:pt x="175133" y="2255774"/>
                    <a:pt x="190373" y="2263394"/>
                  </a:cubicBezTo>
                  <a:cubicBezTo>
                    <a:pt x="213233" y="2263394"/>
                    <a:pt x="220853" y="2286254"/>
                    <a:pt x="213233" y="2309114"/>
                  </a:cubicBezTo>
                  <a:cubicBezTo>
                    <a:pt x="213233" y="2324354"/>
                    <a:pt x="197993" y="2331974"/>
                    <a:pt x="182753" y="2331974"/>
                  </a:cubicBezTo>
                  <a:cubicBezTo>
                    <a:pt x="175133" y="2331974"/>
                    <a:pt x="175133" y="2331974"/>
                    <a:pt x="167513" y="2331974"/>
                  </a:cubicBezTo>
                  <a:close/>
                  <a:moveTo>
                    <a:pt x="6268466" y="2301494"/>
                  </a:moveTo>
                  <a:cubicBezTo>
                    <a:pt x="6260846" y="2278634"/>
                    <a:pt x="6276086" y="2255774"/>
                    <a:pt x="6291326" y="2255774"/>
                  </a:cubicBezTo>
                  <a:cubicBezTo>
                    <a:pt x="6314186" y="2248154"/>
                    <a:pt x="6337046" y="2255774"/>
                    <a:pt x="6344666" y="2278634"/>
                  </a:cubicBezTo>
                  <a:cubicBezTo>
                    <a:pt x="6344666" y="2293874"/>
                    <a:pt x="6337046" y="2316734"/>
                    <a:pt x="6314186" y="2324354"/>
                  </a:cubicBezTo>
                  <a:cubicBezTo>
                    <a:pt x="6314186" y="2324354"/>
                    <a:pt x="6306566" y="2324354"/>
                    <a:pt x="6306566" y="2324354"/>
                  </a:cubicBezTo>
                  <a:cubicBezTo>
                    <a:pt x="6291326" y="2324354"/>
                    <a:pt x="6276086" y="2316734"/>
                    <a:pt x="6268466" y="2301494"/>
                  </a:cubicBezTo>
                  <a:close/>
                  <a:moveTo>
                    <a:pt x="236093" y="2126234"/>
                  </a:moveTo>
                  <a:cubicBezTo>
                    <a:pt x="220853" y="2118614"/>
                    <a:pt x="205613" y="2095754"/>
                    <a:pt x="213233" y="2080514"/>
                  </a:cubicBezTo>
                  <a:cubicBezTo>
                    <a:pt x="220853" y="2057654"/>
                    <a:pt x="243713" y="2050034"/>
                    <a:pt x="266573" y="2057654"/>
                  </a:cubicBezTo>
                  <a:cubicBezTo>
                    <a:pt x="281813" y="2065274"/>
                    <a:pt x="297053" y="2088134"/>
                    <a:pt x="289433" y="2103374"/>
                  </a:cubicBezTo>
                  <a:cubicBezTo>
                    <a:pt x="281813" y="2118614"/>
                    <a:pt x="266573" y="2133854"/>
                    <a:pt x="251333" y="2133854"/>
                  </a:cubicBezTo>
                  <a:cubicBezTo>
                    <a:pt x="243713" y="2133854"/>
                    <a:pt x="243713" y="2133854"/>
                    <a:pt x="236093" y="2126234"/>
                  </a:cubicBezTo>
                  <a:close/>
                  <a:moveTo>
                    <a:pt x="6199886" y="2103374"/>
                  </a:moveTo>
                  <a:cubicBezTo>
                    <a:pt x="6192266" y="2080514"/>
                    <a:pt x="6199886" y="2057654"/>
                    <a:pt x="6222746" y="2050034"/>
                  </a:cubicBezTo>
                  <a:cubicBezTo>
                    <a:pt x="6237986" y="2042414"/>
                    <a:pt x="6260846" y="2050034"/>
                    <a:pt x="6268466" y="2072894"/>
                  </a:cubicBezTo>
                  <a:cubicBezTo>
                    <a:pt x="6276086" y="2095754"/>
                    <a:pt x="6268466" y="2110994"/>
                    <a:pt x="6245606" y="2118614"/>
                  </a:cubicBezTo>
                  <a:cubicBezTo>
                    <a:pt x="6245606" y="2126234"/>
                    <a:pt x="6237986" y="2126234"/>
                    <a:pt x="6230366" y="2126234"/>
                  </a:cubicBezTo>
                  <a:cubicBezTo>
                    <a:pt x="6215126" y="2126234"/>
                    <a:pt x="6207506" y="2118614"/>
                    <a:pt x="6199886" y="2103374"/>
                  </a:cubicBezTo>
                  <a:close/>
                  <a:moveTo>
                    <a:pt x="319913" y="1928114"/>
                  </a:moveTo>
                  <a:cubicBezTo>
                    <a:pt x="297053" y="1920494"/>
                    <a:pt x="289433" y="1897634"/>
                    <a:pt x="297053" y="1882394"/>
                  </a:cubicBezTo>
                  <a:cubicBezTo>
                    <a:pt x="312293" y="1859534"/>
                    <a:pt x="335153" y="1851914"/>
                    <a:pt x="350393" y="1859534"/>
                  </a:cubicBezTo>
                  <a:cubicBezTo>
                    <a:pt x="373253" y="1867154"/>
                    <a:pt x="380873" y="1890014"/>
                    <a:pt x="365633" y="1912874"/>
                  </a:cubicBezTo>
                  <a:cubicBezTo>
                    <a:pt x="365633" y="1928114"/>
                    <a:pt x="350393" y="1935734"/>
                    <a:pt x="335153" y="1935734"/>
                  </a:cubicBezTo>
                  <a:cubicBezTo>
                    <a:pt x="327533" y="1935734"/>
                    <a:pt x="327533" y="1935734"/>
                    <a:pt x="319913" y="1928114"/>
                  </a:cubicBezTo>
                  <a:close/>
                  <a:moveTo>
                    <a:pt x="6116193" y="1905254"/>
                  </a:moveTo>
                  <a:cubicBezTo>
                    <a:pt x="6108573" y="1890014"/>
                    <a:pt x="6116193" y="1867154"/>
                    <a:pt x="6131433" y="1851914"/>
                  </a:cubicBezTo>
                  <a:cubicBezTo>
                    <a:pt x="6154293" y="1844294"/>
                    <a:pt x="6177153" y="1851914"/>
                    <a:pt x="6184773" y="1874774"/>
                  </a:cubicBezTo>
                  <a:cubicBezTo>
                    <a:pt x="6192393" y="1890014"/>
                    <a:pt x="6184773" y="1912874"/>
                    <a:pt x="6169533" y="1928114"/>
                  </a:cubicBezTo>
                  <a:cubicBezTo>
                    <a:pt x="6161913" y="1928114"/>
                    <a:pt x="6154293" y="1928114"/>
                    <a:pt x="6146673" y="1928114"/>
                  </a:cubicBezTo>
                  <a:cubicBezTo>
                    <a:pt x="6139053" y="1928114"/>
                    <a:pt x="6123813" y="1920494"/>
                    <a:pt x="6116193" y="1905254"/>
                  </a:cubicBezTo>
                  <a:close/>
                  <a:moveTo>
                    <a:pt x="411353" y="1737614"/>
                  </a:moveTo>
                  <a:cubicBezTo>
                    <a:pt x="396113" y="1729994"/>
                    <a:pt x="388493" y="1707134"/>
                    <a:pt x="396113" y="1684274"/>
                  </a:cubicBezTo>
                  <a:cubicBezTo>
                    <a:pt x="411353" y="1669034"/>
                    <a:pt x="434213" y="1661414"/>
                    <a:pt x="449453" y="1669034"/>
                  </a:cubicBezTo>
                  <a:cubicBezTo>
                    <a:pt x="464693" y="1684274"/>
                    <a:pt x="472313" y="1707134"/>
                    <a:pt x="464693" y="1722374"/>
                  </a:cubicBezTo>
                  <a:cubicBezTo>
                    <a:pt x="457073" y="1737614"/>
                    <a:pt x="441833" y="1745234"/>
                    <a:pt x="434213" y="1745234"/>
                  </a:cubicBezTo>
                  <a:cubicBezTo>
                    <a:pt x="426593" y="1745234"/>
                    <a:pt x="418973" y="1737614"/>
                    <a:pt x="411353" y="1737614"/>
                  </a:cubicBezTo>
                  <a:close/>
                  <a:moveTo>
                    <a:pt x="6017133" y="1714754"/>
                  </a:moveTo>
                  <a:cubicBezTo>
                    <a:pt x="6009513" y="1699514"/>
                    <a:pt x="6017133" y="1676654"/>
                    <a:pt x="6032373" y="1669034"/>
                  </a:cubicBezTo>
                  <a:cubicBezTo>
                    <a:pt x="6055233" y="1653794"/>
                    <a:pt x="6078093" y="1661414"/>
                    <a:pt x="6085713" y="1684274"/>
                  </a:cubicBezTo>
                  <a:cubicBezTo>
                    <a:pt x="6093333" y="1699514"/>
                    <a:pt x="6093333" y="1722374"/>
                    <a:pt x="6070473" y="1729994"/>
                  </a:cubicBezTo>
                  <a:cubicBezTo>
                    <a:pt x="6062853" y="1737614"/>
                    <a:pt x="6062853" y="1737614"/>
                    <a:pt x="6055233" y="1737614"/>
                  </a:cubicBezTo>
                  <a:cubicBezTo>
                    <a:pt x="6039993" y="1737614"/>
                    <a:pt x="6024753" y="1729994"/>
                    <a:pt x="6017133" y="1714754"/>
                  </a:cubicBezTo>
                  <a:close/>
                  <a:moveTo>
                    <a:pt x="517906" y="1554607"/>
                  </a:moveTo>
                  <a:cubicBezTo>
                    <a:pt x="502666" y="1539367"/>
                    <a:pt x="495046" y="1516507"/>
                    <a:pt x="510286" y="1501267"/>
                  </a:cubicBezTo>
                  <a:cubicBezTo>
                    <a:pt x="517906" y="1478407"/>
                    <a:pt x="540766" y="1478407"/>
                    <a:pt x="563626" y="1486027"/>
                  </a:cubicBezTo>
                  <a:cubicBezTo>
                    <a:pt x="578866" y="1501267"/>
                    <a:pt x="586486" y="1524127"/>
                    <a:pt x="571246" y="1539367"/>
                  </a:cubicBezTo>
                  <a:cubicBezTo>
                    <a:pt x="563626" y="1554607"/>
                    <a:pt x="556006" y="1554607"/>
                    <a:pt x="540766" y="1554607"/>
                  </a:cubicBezTo>
                  <a:cubicBezTo>
                    <a:pt x="533146" y="1554607"/>
                    <a:pt x="525526" y="1554607"/>
                    <a:pt x="517906" y="1554607"/>
                  </a:cubicBezTo>
                  <a:close/>
                  <a:moveTo>
                    <a:pt x="5910453" y="1539367"/>
                  </a:moveTo>
                  <a:cubicBezTo>
                    <a:pt x="5902833" y="1516507"/>
                    <a:pt x="5902833" y="1493647"/>
                    <a:pt x="5925693" y="1486027"/>
                  </a:cubicBezTo>
                  <a:cubicBezTo>
                    <a:pt x="5940933" y="1470787"/>
                    <a:pt x="5963793" y="1478407"/>
                    <a:pt x="5979033" y="1493647"/>
                  </a:cubicBezTo>
                  <a:cubicBezTo>
                    <a:pt x="5986653" y="1508887"/>
                    <a:pt x="5979033" y="1539367"/>
                    <a:pt x="5963793" y="1546987"/>
                  </a:cubicBezTo>
                  <a:cubicBezTo>
                    <a:pt x="5956173" y="1554607"/>
                    <a:pt x="5948553" y="1554607"/>
                    <a:pt x="5940933" y="1554607"/>
                  </a:cubicBezTo>
                  <a:cubicBezTo>
                    <a:pt x="5933313" y="1554607"/>
                    <a:pt x="5918073" y="1546987"/>
                    <a:pt x="5910453" y="1539367"/>
                  </a:cubicBezTo>
                  <a:close/>
                  <a:moveTo>
                    <a:pt x="639826" y="1371727"/>
                  </a:moveTo>
                  <a:cubicBezTo>
                    <a:pt x="624586" y="1364107"/>
                    <a:pt x="616966" y="1341247"/>
                    <a:pt x="632206" y="1318387"/>
                  </a:cubicBezTo>
                  <a:cubicBezTo>
                    <a:pt x="647446" y="1303147"/>
                    <a:pt x="670306" y="1303147"/>
                    <a:pt x="685546" y="1310767"/>
                  </a:cubicBezTo>
                  <a:cubicBezTo>
                    <a:pt x="700786" y="1326007"/>
                    <a:pt x="708406" y="1348867"/>
                    <a:pt x="693166" y="1364107"/>
                  </a:cubicBezTo>
                  <a:cubicBezTo>
                    <a:pt x="685546" y="1379347"/>
                    <a:pt x="677926" y="1379347"/>
                    <a:pt x="662686" y="1379347"/>
                  </a:cubicBezTo>
                  <a:cubicBezTo>
                    <a:pt x="655066" y="1379347"/>
                    <a:pt x="647446" y="1379347"/>
                    <a:pt x="639826" y="1371727"/>
                  </a:cubicBezTo>
                  <a:close/>
                  <a:moveTo>
                    <a:pt x="5788660" y="1364107"/>
                  </a:moveTo>
                  <a:cubicBezTo>
                    <a:pt x="5781040" y="1341247"/>
                    <a:pt x="5781040" y="1318387"/>
                    <a:pt x="5796280" y="1310767"/>
                  </a:cubicBezTo>
                  <a:cubicBezTo>
                    <a:pt x="5819140" y="1295527"/>
                    <a:pt x="5842000" y="1303147"/>
                    <a:pt x="5849620" y="1318387"/>
                  </a:cubicBezTo>
                  <a:cubicBezTo>
                    <a:pt x="5864860" y="1333627"/>
                    <a:pt x="5864860" y="1356487"/>
                    <a:pt x="5842000" y="1371727"/>
                  </a:cubicBezTo>
                  <a:cubicBezTo>
                    <a:pt x="5834380" y="1371727"/>
                    <a:pt x="5826760" y="1379347"/>
                    <a:pt x="5819140" y="1379347"/>
                  </a:cubicBezTo>
                  <a:cubicBezTo>
                    <a:pt x="5811520" y="1379347"/>
                    <a:pt x="5796280" y="1371727"/>
                    <a:pt x="5788660" y="1364107"/>
                  </a:cubicBezTo>
                  <a:close/>
                  <a:moveTo>
                    <a:pt x="769239" y="1204087"/>
                  </a:moveTo>
                  <a:cubicBezTo>
                    <a:pt x="753999" y="1188847"/>
                    <a:pt x="753999" y="1165987"/>
                    <a:pt x="769239" y="1150747"/>
                  </a:cubicBezTo>
                  <a:cubicBezTo>
                    <a:pt x="776859" y="1135507"/>
                    <a:pt x="807339" y="1135507"/>
                    <a:pt x="822579" y="1143127"/>
                  </a:cubicBezTo>
                  <a:cubicBezTo>
                    <a:pt x="837819" y="1158367"/>
                    <a:pt x="837819" y="1181227"/>
                    <a:pt x="822579" y="1196467"/>
                  </a:cubicBezTo>
                  <a:cubicBezTo>
                    <a:pt x="814959" y="1211707"/>
                    <a:pt x="807339" y="1211707"/>
                    <a:pt x="792099" y="1211707"/>
                  </a:cubicBezTo>
                  <a:cubicBezTo>
                    <a:pt x="784479" y="1211707"/>
                    <a:pt x="776859" y="1211707"/>
                    <a:pt x="769239" y="1204087"/>
                  </a:cubicBezTo>
                  <a:close/>
                  <a:moveTo>
                    <a:pt x="5659120" y="1196467"/>
                  </a:moveTo>
                  <a:cubicBezTo>
                    <a:pt x="5643880" y="1181227"/>
                    <a:pt x="5651500" y="1158367"/>
                    <a:pt x="5666740" y="1143127"/>
                  </a:cubicBezTo>
                  <a:cubicBezTo>
                    <a:pt x="5681980" y="1127887"/>
                    <a:pt x="5704840" y="1127887"/>
                    <a:pt x="5720080" y="1143127"/>
                  </a:cubicBezTo>
                  <a:cubicBezTo>
                    <a:pt x="5727700" y="1165987"/>
                    <a:pt x="5727700" y="1188847"/>
                    <a:pt x="5712460" y="1196467"/>
                  </a:cubicBezTo>
                  <a:cubicBezTo>
                    <a:pt x="5704840" y="1204087"/>
                    <a:pt x="5697220" y="1211707"/>
                    <a:pt x="5689600" y="1211707"/>
                  </a:cubicBezTo>
                  <a:cubicBezTo>
                    <a:pt x="5674360" y="1211707"/>
                    <a:pt x="5666740" y="1204087"/>
                    <a:pt x="5659120" y="1196467"/>
                  </a:cubicBezTo>
                  <a:close/>
                  <a:moveTo>
                    <a:pt x="914019" y="1044067"/>
                  </a:moveTo>
                  <a:cubicBezTo>
                    <a:pt x="898779" y="1028827"/>
                    <a:pt x="898779" y="1005967"/>
                    <a:pt x="914019" y="990727"/>
                  </a:cubicBezTo>
                  <a:cubicBezTo>
                    <a:pt x="929259" y="975487"/>
                    <a:pt x="952119" y="975487"/>
                    <a:pt x="967359" y="990727"/>
                  </a:cubicBezTo>
                  <a:cubicBezTo>
                    <a:pt x="982599" y="1005967"/>
                    <a:pt x="982599" y="1028827"/>
                    <a:pt x="967359" y="1044067"/>
                  </a:cubicBezTo>
                  <a:cubicBezTo>
                    <a:pt x="959739" y="1051687"/>
                    <a:pt x="952119" y="1051687"/>
                    <a:pt x="936879" y="1051687"/>
                  </a:cubicBezTo>
                  <a:cubicBezTo>
                    <a:pt x="929259" y="1051687"/>
                    <a:pt x="921639" y="1051687"/>
                    <a:pt x="914019" y="1044067"/>
                  </a:cubicBezTo>
                  <a:close/>
                  <a:moveTo>
                    <a:pt x="5514467" y="1036447"/>
                  </a:moveTo>
                  <a:cubicBezTo>
                    <a:pt x="5499227" y="1021207"/>
                    <a:pt x="5506847" y="998347"/>
                    <a:pt x="5514467" y="983107"/>
                  </a:cubicBezTo>
                  <a:cubicBezTo>
                    <a:pt x="5529707" y="967867"/>
                    <a:pt x="5560187" y="967867"/>
                    <a:pt x="5575427" y="983107"/>
                  </a:cubicBezTo>
                  <a:cubicBezTo>
                    <a:pt x="5583047" y="998347"/>
                    <a:pt x="5583047" y="1028827"/>
                    <a:pt x="5567807" y="1036447"/>
                  </a:cubicBezTo>
                  <a:cubicBezTo>
                    <a:pt x="5560187" y="1044067"/>
                    <a:pt x="5552567" y="1051687"/>
                    <a:pt x="5544947" y="1051687"/>
                  </a:cubicBezTo>
                  <a:cubicBezTo>
                    <a:pt x="5537327" y="1051687"/>
                    <a:pt x="5522087" y="1044067"/>
                    <a:pt x="5514467" y="1036447"/>
                  </a:cubicBezTo>
                  <a:close/>
                  <a:moveTo>
                    <a:pt x="1066292" y="891667"/>
                  </a:moveTo>
                  <a:cubicBezTo>
                    <a:pt x="1051052" y="876427"/>
                    <a:pt x="1051052" y="853567"/>
                    <a:pt x="1066292" y="838327"/>
                  </a:cubicBezTo>
                  <a:cubicBezTo>
                    <a:pt x="1081532" y="823087"/>
                    <a:pt x="1104392" y="823087"/>
                    <a:pt x="1119632" y="838327"/>
                  </a:cubicBezTo>
                  <a:cubicBezTo>
                    <a:pt x="1134872" y="853567"/>
                    <a:pt x="1134872" y="884047"/>
                    <a:pt x="1119632" y="899287"/>
                  </a:cubicBezTo>
                  <a:cubicBezTo>
                    <a:pt x="1112012" y="899287"/>
                    <a:pt x="1104392" y="906907"/>
                    <a:pt x="1089152" y="906907"/>
                  </a:cubicBezTo>
                  <a:cubicBezTo>
                    <a:pt x="1081532" y="906907"/>
                    <a:pt x="1073912" y="899287"/>
                    <a:pt x="1066292" y="891667"/>
                  </a:cubicBezTo>
                  <a:close/>
                  <a:moveTo>
                    <a:pt x="5362067" y="891667"/>
                  </a:moveTo>
                  <a:cubicBezTo>
                    <a:pt x="5346827" y="876427"/>
                    <a:pt x="5346827" y="853567"/>
                    <a:pt x="5362067" y="838327"/>
                  </a:cubicBezTo>
                  <a:cubicBezTo>
                    <a:pt x="5377307" y="823087"/>
                    <a:pt x="5400167" y="823087"/>
                    <a:pt x="5415407" y="838327"/>
                  </a:cubicBezTo>
                  <a:cubicBezTo>
                    <a:pt x="5430647" y="845947"/>
                    <a:pt x="5430647" y="876427"/>
                    <a:pt x="5415407" y="891667"/>
                  </a:cubicBezTo>
                  <a:cubicBezTo>
                    <a:pt x="5407787" y="899287"/>
                    <a:pt x="5400167" y="899287"/>
                    <a:pt x="5392547" y="899287"/>
                  </a:cubicBezTo>
                  <a:cubicBezTo>
                    <a:pt x="5384927" y="899287"/>
                    <a:pt x="5369687" y="899287"/>
                    <a:pt x="5362067" y="891667"/>
                  </a:cubicBezTo>
                  <a:close/>
                  <a:moveTo>
                    <a:pt x="1226312" y="754507"/>
                  </a:moveTo>
                  <a:cubicBezTo>
                    <a:pt x="1211072" y="739267"/>
                    <a:pt x="1218692" y="708787"/>
                    <a:pt x="1233932" y="701167"/>
                  </a:cubicBezTo>
                  <a:cubicBezTo>
                    <a:pt x="1249172" y="685927"/>
                    <a:pt x="1272032" y="685927"/>
                    <a:pt x="1287272" y="708787"/>
                  </a:cubicBezTo>
                  <a:cubicBezTo>
                    <a:pt x="1302512" y="724027"/>
                    <a:pt x="1294892" y="746887"/>
                    <a:pt x="1279652" y="762127"/>
                  </a:cubicBezTo>
                  <a:cubicBezTo>
                    <a:pt x="1272032" y="762127"/>
                    <a:pt x="1264412" y="769747"/>
                    <a:pt x="1256792" y="769747"/>
                  </a:cubicBezTo>
                  <a:cubicBezTo>
                    <a:pt x="1241552" y="769747"/>
                    <a:pt x="1233932" y="762127"/>
                    <a:pt x="1226312" y="754507"/>
                  </a:cubicBezTo>
                  <a:close/>
                  <a:moveTo>
                    <a:pt x="5202174" y="754507"/>
                  </a:moveTo>
                  <a:cubicBezTo>
                    <a:pt x="5186934" y="739267"/>
                    <a:pt x="5186934" y="716407"/>
                    <a:pt x="5194554" y="701167"/>
                  </a:cubicBezTo>
                  <a:cubicBezTo>
                    <a:pt x="5209794" y="685927"/>
                    <a:pt x="5232654" y="685927"/>
                    <a:pt x="5247894" y="693547"/>
                  </a:cubicBezTo>
                  <a:cubicBezTo>
                    <a:pt x="5270754" y="708787"/>
                    <a:pt x="5270754" y="731647"/>
                    <a:pt x="5255514" y="746887"/>
                  </a:cubicBezTo>
                  <a:cubicBezTo>
                    <a:pt x="5247894" y="762127"/>
                    <a:pt x="5240274" y="762127"/>
                    <a:pt x="5225034" y="762127"/>
                  </a:cubicBezTo>
                  <a:cubicBezTo>
                    <a:pt x="5217414" y="762127"/>
                    <a:pt x="5209794" y="762127"/>
                    <a:pt x="5202174" y="754507"/>
                  </a:cubicBezTo>
                  <a:close/>
                  <a:moveTo>
                    <a:pt x="1393825" y="624967"/>
                  </a:moveTo>
                  <a:cubicBezTo>
                    <a:pt x="1386205" y="602107"/>
                    <a:pt x="1386205" y="579247"/>
                    <a:pt x="1409065" y="571627"/>
                  </a:cubicBezTo>
                  <a:cubicBezTo>
                    <a:pt x="1424305" y="556387"/>
                    <a:pt x="1447165" y="564007"/>
                    <a:pt x="1462405" y="579247"/>
                  </a:cubicBezTo>
                  <a:cubicBezTo>
                    <a:pt x="1470025" y="594487"/>
                    <a:pt x="1470025" y="617347"/>
                    <a:pt x="1447165" y="632587"/>
                  </a:cubicBezTo>
                  <a:cubicBezTo>
                    <a:pt x="1439545" y="640207"/>
                    <a:pt x="1439545" y="640207"/>
                    <a:pt x="1431925" y="640207"/>
                  </a:cubicBezTo>
                  <a:cubicBezTo>
                    <a:pt x="1416685" y="640207"/>
                    <a:pt x="1401445" y="632587"/>
                    <a:pt x="1393825" y="624967"/>
                  </a:cubicBezTo>
                  <a:close/>
                  <a:moveTo>
                    <a:pt x="5034534" y="632587"/>
                  </a:moveTo>
                  <a:cubicBezTo>
                    <a:pt x="5011674" y="617347"/>
                    <a:pt x="5011674" y="594487"/>
                    <a:pt x="5019294" y="579247"/>
                  </a:cubicBezTo>
                  <a:cubicBezTo>
                    <a:pt x="5034534" y="556387"/>
                    <a:pt x="5057394" y="556387"/>
                    <a:pt x="5072634" y="564007"/>
                  </a:cubicBezTo>
                  <a:cubicBezTo>
                    <a:pt x="5095494" y="579247"/>
                    <a:pt x="5095494" y="602107"/>
                    <a:pt x="5087874" y="617347"/>
                  </a:cubicBezTo>
                  <a:cubicBezTo>
                    <a:pt x="5080254" y="632587"/>
                    <a:pt x="5065014" y="632587"/>
                    <a:pt x="5057394" y="632587"/>
                  </a:cubicBezTo>
                  <a:cubicBezTo>
                    <a:pt x="5049774" y="632587"/>
                    <a:pt x="5042154" y="632587"/>
                    <a:pt x="5034534" y="632587"/>
                  </a:cubicBezTo>
                  <a:close/>
                  <a:moveTo>
                    <a:pt x="1576578" y="502920"/>
                  </a:moveTo>
                  <a:cubicBezTo>
                    <a:pt x="1561338" y="487680"/>
                    <a:pt x="1568958" y="464820"/>
                    <a:pt x="1591818" y="449580"/>
                  </a:cubicBezTo>
                  <a:cubicBezTo>
                    <a:pt x="1607058" y="441960"/>
                    <a:pt x="1629918" y="449580"/>
                    <a:pt x="1637538" y="464820"/>
                  </a:cubicBezTo>
                  <a:cubicBezTo>
                    <a:pt x="1652778" y="487680"/>
                    <a:pt x="1645158" y="510540"/>
                    <a:pt x="1629918" y="518160"/>
                  </a:cubicBezTo>
                  <a:cubicBezTo>
                    <a:pt x="1622298" y="525780"/>
                    <a:pt x="1614678" y="525780"/>
                    <a:pt x="1607058" y="525780"/>
                  </a:cubicBezTo>
                  <a:cubicBezTo>
                    <a:pt x="1591818" y="525780"/>
                    <a:pt x="1584198" y="518160"/>
                    <a:pt x="1576578" y="502920"/>
                  </a:cubicBezTo>
                  <a:close/>
                  <a:moveTo>
                    <a:pt x="4851781" y="518160"/>
                  </a:moveTo>
                  <a:cubicBezTo>
                    <a:pt x="4836541" y="502920"/>
                    <a:pt x="4828921" y="480060"/>
                    <a:pt x="4844161" y="464820"/>
                  </a:cubicBezTo>
                  <a:cubicBezTo>
                    <a:pt x="4851781" y="441960"/>
                    <a:pt x="4874641" y="441960"/>
                    <a:pt x="4889881" y="449580"/>
                  </a:cubicBezTo>
                  <a:cubicBezTo>
                    <a:pt x="4912741" y="457200"/>
                    <a:pt x="4920361" y="487680"/>
                    <a:pt x="4905121" y="502920"/>
                  </a:cubicBezTo>
                  <a:cubicBezTo>
                    <a:pt x="4897501" y="510540"/>
                    <a:pt x="4889881" y="518160"/>
                    <a:pt x="4874641" y="518160"/>
                  </a:cubicBezTo>
                  <a:cubicBezTo>
                    <a:pt x="4867021" y="518160"/>
                    <a:pt x="4859401" y="518160"/>
                    <a:pt x="4851781" y="518160"/>
                  </a:cubicBezTo>
                  <a:close/>
                  <a:moveTo>
                    <a:pt x="1759458" y="396240"/>
                  </a:moveTo>
                  <a:cubicBezTo>
                    <a:pt x="1751838" y="381000"/>
                    <a:pt x="1759458" y="358140"/>
                    <a:pt x="1782318" y="350520"/>
                  </a:cubicBezTo>
                  <a:cubicBezTo>
                    <a:pt x="1797558" y="335280"/>
                    <a:pt x="1820418" y="342900"/>
                    <a:pt x="1828038" y="365760"/>
                  </a:cubicBezTo>
                  <a:cubicBezTo>
                    <a:pt x="1835658" y="381000"/>
                    <a:pt x="1835658" y="403860"/>
                    <a:pt x="1812798" y="419100"/>
                  </a:cubicBezTo>
                  <a:cubicBezTo>
                    <a:pt x="1805178" y="419100"/>
                    <a:pt x="1805178" y="419100"/>
                    <a:pt x="1797558" y="419100"/>
                  </a:cubicBezTo>
                  <a:cubicBezTo>
                    <a:pt x="1782318" y="419100"/>
                    <a:pt x="1767078" y="411480"/>
                    <a:pt x="1759458" y="396240"/>
                  </a:cubicBezTo>
                  <a:close/>
                  <a:moveTo>
                    <a:pt x="4669028" y="411480"/>
                  </a:moveTo>
                  <a:cubicBezTo>
                    <a:pt x="4646168" y="403860"/>
                    <a:pt x="4646168" y="381000"/>
                    <a:pt x="4653788" y="365760"/>
                  </a:cubicBezTo>
                  <a:cubicBezTo>
                    <a:pt x="4661408" y="342900"/>
                    <a:pt x="4684268" y="335280"/>
                    <a:pt x="4699508" y="342900"/>
                  </a:cubicBezTo>
                  <a:cubicBezTo>
                    <a:pt x="4722368" y="358140"/>
                    <a:pt x="4729988" y="381000"/>
                    <a:pt x="4722368" y="396240"/>
                  </a:cubicBezTo>
                  <a:cubicBezTo>
                    <a:pt x="4714748" y="411480"/>
                    <a:pt x="4699508" y="419100"/>
                    <a:pt x="4684268" y="419100"/>
                  </a:cubicBezTo>
                  <a:cubicBezTo>
                    <a:pt x="4676648" y="419100"/>
                    <a:pt x="4676648" y="419100"/>
                    <a:pt x="4669028" y="411480"/>
                  </a:cubicBezTo>
                  <a:close/>
                  <a:moveTo>
                    <a:pt x="1957451" y="304800"/>
                  </a:moveTo>
                  <a:cubicBezTo>
                    <a:pt x="1949831" y="289560"/>
                    <a:pt x="1957451" y="266700"/>
                    <a:pt x="1972691" y="259080"/>
                  </a:cubicBezTo>
                  <a:cubicBezTo>
                    <a:pt x="1995551" y="251460"/>
                    <a:pt x="2018411" y="259080"/>
                    <a:pt x="2026031" y="274320"/>
                  </a:cubicBezTo>
                  <a:cubicBezTo>
                    <a:pt x="2033651" y="297180"/>
                    <a:pt x="2026031" y="320040"/>
                    <a:pt x="2003171" y="327660"/>
                  </a:cubicBezTo>
                  <a:cubicBezTo>
                    <a:pt x="2003171" y="327660"/>
                    <a:pt x="1995551" y="327660"/>
                    <a:pt x="1987931" y="327660"/>
                  </a:cubicBezTo>
                  <a:cubicBezTo>
                    <a:pt x="1972691" y="327660"/>
                    <a:pt x="1957451" y="320040"/>
                    <a:pt x="1957451" y="304800"/>
                  </a:cubicBezTo>
                  <a:close/>
                  <a:moveTo>
                    <a:pt x="4478528" y="327660"/>
                  </a:moveTo>
                  <a:cubicBezTo>
                    <a:pt x="4455668" y="312420"/>
                    <a:pt x="4448048" y="297180"/>
                    <a:pt x="4455668" y="274320"/>
                  </a:cubicBezTo>
                  <a:cubicBezTo>
                    <a:pt x="4463288" y="251460"/>
                    <a:pt x="4486148" y="243840"/>
                    <a:pt x="4509008" y="251460"/>
                  </a:cubicBezTo>
                  <a:cubicBezTo>
                    <a:pt x="4524248" y="259080"/>
                    <a:pt x="4531868" y="281940"/>
                    <a:pt x="4524248" y="304800"/>
                  </a:cubicBezTo>
                  <a:cubicBezTo>
                    <a:pt x="4516628" y="320040"/>
                    <a:pt x="4509008" y="327660"/>
                    <a:pt x="4493768" y="327660"/>
                  </a:cubicBezTo>
                  <a:cubicBezTo>
                    <a:pt x="4486148" y="327660"/>
                    <a:pt x="4478528" y="327660"/>
                    <a:pt x="4478528" y="327660"/>
                  </a:cubicBezTo>
                  <a:close/>
                  <a:moveTo>
                    <a:pt x="2155444" y="228600"/>
                  </a:moveTo>
                  <a:cubicBezTo>
                    <a:pt x="2147824" y="205740"/>
                    <a:pt x="2155444" y="182880"/>
                    <a:pt x="2178304" y="175260"/>
                  </a:cubicBezTo>
                  <a:cubicBezTo>
                    <a:pt x="2193544" y="175260"/>
                    <a:pt x="2216404" y="182880"/>
                    <a:pt x="2224024" y="205740"/>
                  </a:cubicBezTo>
                  <a:cubicBezTo>
                    <a:pt x="2231644" y="220980"/>
                    <a:pt x="2224024" y="243840"/>
                    <a:pt x="2201164" y="251460"/>
                  </a:cubicBezTo>
                  <a:cubicBezTo>
                    <a:pt x="2201164" y="251460"/>
                    <a:pt x="2193544" y="251460"/>
                    <a:pt x="2185924" y="251460"/>
                  </a:cubicBezTo>
                  <a:cubicBezTo>
                    <a:pt x="2170684" y="251460"/>
                    <a:pt x="2155444" y="243840"/>
                    <a:pt x="2155444" y="228600"/>
                  </a:cubicBezTo>
                  <a:close/>
                  <a:moveTo>
                    <a:pt x="4280535" y="251460"/>
                  </a:moveTo>
                  <a:cubicBezTo>
                    <a:pt x="4257675" y="243840"/>
                    <a:pt x="4250055" y="220980"/>
                    <a:pt x="4257675" y="198120"/>
                  </a:cubicBezTo>
                  <a:cubicBezTo>
                    <a:pt x="4265295" y="182880"/>
                    <a:pt x="4280535" y="167640"/>
                    <a:pt x="4303395" y="175260"/>
                  </a:cubicBezTo>
                  <a:cubicBezTo>
                    <a:pt x="4326255" y="182880"/>
                    <a:pt x="4333875" y="205740"/>
                    <a:pt x="4326255" y="220980"/>
                  </a:cubicBezTo>
                  <a:cubicBezTo>
                    <a:pt x="4318635" y="243840"/>
                    <a:pt x="4303395" y="251460"/>
                    <a:pt x="4288155" y="251460"/>
                  </a:cubicBezTo>
                  <a:cubicBezTo>
                    <a:pt x="4288155" y="251460"/>
                    <a:pt x="4280535" y="251460"/>
                    <a:pt x="4280535" y="251460"/>
                  </a:cubicBezTo>
                  <a:close/>
                  <a:moveTo>
                    <a:pt x="2353564" y="160020"/>
                  </a:moveTo>
                  <a:cubicBezTo>
                    <a:pt x="2353564" y="137160"/>
                    <a:pt x="2361184" y="121920"/>
                    <a:pt x="2384044" y="114300"/>
                  </a:cubicBezTo>
                  <a:cubicBezTo>
                    <a:pt x="2406904" y="106680"/>
                    <a:pt x="2422144" y="121920"/>
                    <a:pt x="2429764" y="137160"/>
                  </a:cubicBezTo>
                  <a:cubicBezTo>
                    <a:pt x="2437384" y="160020"/>
                    <a:pt x="2422144" y="182880"/>
                    <a:pt x="2406904" y="190500"/>
                  </a:cubicBezTo>
                  <a:cubicBezTo>
                    <a:pt x="2399284" y="190500"/>
                    <a:pt x="2399284" y="190500"/>
                    <a:pt x="2391664" y="190500"/>
                  </a:cubicBezTo>
                  <a:cubicBezTo>
                    <a:pt x="2376424" y="190500"/>
                    <a:pt x="2361184" y="175260"/>
                    <a:pt x="2353564" y="160020"/>
                  </a:cubicBezTo>
                  <a:close/>
                  <a:moveTo>
                    <a:pt x="4074922" y="182880"/>
                  </a:moveTo>
                  <a:cubicBezTo>
                    <a:pt x="4059682" y="182880"/>
                    <a:pt x="4044442" y="160020"/>
                    <a:pt x="4052062" y="137160"/>
                  </a:cubicBezTo>
                  <a:cubicBezTo>
                    <a:pt x="4052062" y="121920"/>
                    <a:pt x="4074922" y="106680"/>
                    <a:pt x="4097782" y="114300"/>
                  </a:cubicBezTo>
                  <a:cubicBezTo>
                    <a:pt x="4120642" y="114300"/>
                    <a:pt x="4128262" y="137160"/>
                    <a:pt x="4120642" y="160020"/>
                  </a:cubicBezTo>
                  <a:cubicBezTo>
                    <a:pt x="4120642" y="175260"/>
                    <a:pt x="4105402" y="190500"/>
                    <a:pt x="4090162" y="190500"/>
                  </a:cubicBezTo>
                  <a:cubicBezTo>
                    <a:pt x="4082542" y="190500"/>
                    <a:pt x="4082542" y="182880"/>
                    <a:pt x="4074922" y="182880"/>
                  </a:cubicBezTo>
                  <a:close/>
                  <a:moveTo>
                    <a:pt x="2566797" y="106680"/>
                  </a:moveTo>
                  <a:cubicBezTo>
                    <a:pt x="2559177" y="91440"/>
                    <a:pt x="2574417" y="68580"/>
                    <a:pt x="2597277" y="60960"/>
                  </a:cubicBezTo>
                  <a:cubicBezTo>
                    <a:pt x="2612517" y="60960"/>
                    <a:pt x="2635377" y="76200"/>
                    <a:pt x="2635377" y="91440"/>
                  </a:cubicBezTo>
                  <a:cubicBezTo>
                    <a:pt x="2642997" y="114300"/>
                    <a:pt x="2627757" y="137160"/>
                    <a:pt x="2612517" y="137160"/>
                  </a:cubicBezTo>
                  <a:cubicBezTo>
                    <a:pt x="2604897" y="137160"/>
                    <a:pt x="2604897" y="137160"/>
                    <a:pt x="2604897" y="137160"/>
                  </a:cubicBezTo>
                  <a:cubicBezTo>
                    <a:pt x="2582037" y="137160"/>
                    <a:pt x="2566797" y="129540"/>
                    <a:pt x="2566797" y="106680"/>
                  </a:cubicBezTo>
                  <a:close/>
                  <a:moveTo>
                    <a:pt x="3869182" y="137160"/>
                  </a:moveTo>
                  <a:cubicBezTo>
                    <a:pt x="3846322" y="129540"/>
                    <a:pt x="3838702" y="114300"/>
                    <a:pt x="3838702" y="91440"/>
                  </a:cubicBezTo>
                  <a:cubicBezTo>
                    <a:pt x="3846322" y="68580"/>
                    <a:pt x="3861562" y="60960"/>
                    <a:pt x="3884422" y="60960"/>
                  </a:cubicBezTo>
                  <a:cubicBezTo>
                    <a:pt x="3907282" y="68580"/>
                    <a:pt x="3922522" y="83820"/>
                    <a:pt x="3914902" y="106680"/>
                  </a:cubicBezTo>
                  <a:cubicBezTo>
                    <a:pt x="3914902" y="121920"/>
                    <a:pt x="3899662" y="137160"/>
                    <a:pt x="3876802" y="137160"/>
                  </a:cubicBezTo>
                  <a:cubicBezTo>
                    <a:pt x="3876802" y="137160"/>
                    <a:pt x="3876802" y="137160"/>
                    <a:pt x="3869182" y="137160"/>
                  </a:cubicBezTo>
                  <a:close/>
                  <a:moveTo>
                    <a:pt x="2772410" y="68580"/>
                  </a:moveTo>
                  <a:cubicBezTo>
                    <a:pt x="2772410" y="45720"/>
                    <a:pt x="2787650" y="30480"/>
                    <a:pt x="2810510" y="30480"/>
                  </a:cubicBezTo>
                  <a:cubicBezTo>
                    <a:pt x="2825750" y="22860"/>
                    <a:pt x="2848610" y="38100"/>
                    <a:pt x="2848610" y="60960"/>
                  </a:cubicBezTo>
                  <a:cubicBezTo>
                    <a:pt x="2856230" y="83820"/>
                    <a:pt x="2840990" y="99060"/>
                    <a:pt x="2818130" y="106680"/>
                  </a:cubicBezTo>
                  <a:cubicBezTo>
                    <a:pt x="2818130" y="106680"/>
                    <a:pt x="2818130" y="106680"/>
                    <a:pt x="2810510" y="106680"/>
                  </a:cubicBezTo>
                  <a:cubicBezTo>
                    <a:pt x="2795270" y="106680"/>
                    <a:pt x="2780030" y="91440"/>
                    <a:pt x="2772410" y="68580"/>
                  </a:cubicBezTo>
                  <a:close/>
                  <a:moveTo>
                    <a:pt x="3663569" y="99060"/>
                  </a:moveTo>
                  <a:cubicBezTo>
                    <a:pt x="3640709" y="99060"/>
                    <a:pt x="3625469" y="83820"/>
                    <a:pt x="3633089" y="60960"/>
                  </a:cubicBezTo>
                  <a:cubicBezTo>
                    <a:pt x="3633089" y="38100"/>
                    <a:pt x="3648329" y="22860"/>
                    <a:pt x="3671189" y="22860"/>
                  </a:cubicBezTo>
                  <a:cubicBezTo>
                    <a:pt x="3694049" y="30480"/>
                    <a:pt x="3709289" y="45720"/>
                    <a:pt x="3701669" y="68580"/>
                  </a:cubicBezTo>
                  <a:cubicBezTo>
                    <a:pt x="3701669" y="91440"/>
                    <a:pt x="3686429" y="99060"/>
                    <a:pt x="3663569" y="99060"/>
                  </a:cubicBezTo>
                  <a:close/>
                  <a:moveTo>
                    <a:pt x="2985770" y="45720"/>
                  </a:moveTo>
                  <a:cubicBezTo>
                    <a:pt x="2985770" y="22860"/>
                    <a:pt x="3001010" y="7620"/>
                    <a:pt x="3023870" y="7620"/>
                  </a:cubicBezTo>
                  <a:cubicBezTo>
                    <a:pt x="3046730" y="7620"/>
                    <a:pt x="3061970" y="22860"/>
                    <a:pt x="3061970" y="38100"/>
                  </a:cubicBezTo>
                  <a:cubicBezTo>
                    <a:pt x="3061970" y="60960"/>
                    <a:pt x="3046730" y="83820"/>
                    <a:pt x="3031490" y="83820"/>
                  </a:cubicBezTo>
                  <a:cubicBezTo>
                    <a:pt x="3031490" y="83820"/>
                    <a:pt x="3023870" y="83820"/>
                    <a:pt x="3023870" y="83820"/>
                  </a:cubicBezTo>
                  <a:cubicBezTo>
                    <a:pt x="3008630" y="83820"/>
                    <a:pt x="2985770" y="68580"/>
                    <a:pt x="2985770" y="45720"/>
                  </a:cubicBezTo>
                  <a:close/>
                  <a:moveTo>
                    <a:pt x="3450336" y="83820"/>
                  </a:moveTo>
                  <a:cubicBezTo>
                    <a:pt x="3427476" y="76200"/>
                    <a:pt x="3412236" y="60960"/>
                    <a:pt x="3412236" y="38100"/>
                  </a:cubicBezTo>
                  <a:cubicBezTo>
                    <a:pt x="3419856" y="22860"/>
                    <a:pt x="3435096" y="0"/>
                    <a:pt x="3457956" y="7620"/>
                  </a:cubicBezTo>
                  <a:cubicBezTo>
                    <a:pt x="3480816" y="7620"/>
                    <a:pt x="3496056" y="22860"/>
                    <a:pt x="3488436" y="45720"/>
                  </a:cubicBezTo>
                  <a:cubicBezTo>
                    <a:pt x="3488436" y="68580"/>
                    <a:pt x="3473196" y="83820"/>
                    <a:pt x="3450336" y="83820"/>
                  </a:cubicBezTo>
                  <a:close/>
                  <a:moveTo>
                    <a:pt x="3199003" y="38100"/>
                  </a:moveTo>
                  <a:cubicBezTo>
                    <a:pt x="3199003" y="15240"/>
                    <a:pt x="3221863" y="0"/>
                    <a:pt x="3237103" y="0"/>
                  </a:cubicBezTo>
                  <a:cubicBezTo>
                    <a:pt x="3259963" y="0"/>
                    <a:pt x="3275203" y="15240"/>
                    <a:pt x="3275203" y="38100"/>
                  </a:cubicBezTo>
                  <a:cubicBezTo>
                    <a:pt x="3275203" y="60960"/>
                    <a:pt x="3259963" y="76200"/>
                    <a:pt x="3237103" y="76200"/>
                  </a:cubicBezTo>
                  <a:cubicBezTo>
                    <a:pt x="3221863" y="76200"/>
                    <a:pt x="3199003" y="60960"/>
                    <a:pt x="3199003" y="381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221461">
            <a:off x="6960625" y="4352076"/>
            <a:ext cx="1991835" cy="1750254"/>
            <a:chOff x="0" y="0"/>
            <a:chExt cx="2374560" cy="2086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74519" cy="2086610"/>
            </a:xfrm>
            <a:custGeom>
              <a:avLst/>
              <a:gdLst/>
              <a:ahLst/>
              <a:cxnLst/>
              <a:rect r="r" b="b" t="t" l="l"/>
              <a:pathLst>
                <a:path h="2086610" w="2374519">
                  <a:moveTo>
                    <a:pt x="1331849" y="0"/>
                  </a:moveTo>
                  <a:cubicBezTo>
                    <a:pt x="753491" y="0"/>
                    <a:pt x="281559" y="464566"/>
                    <a:pt x="281559" y="1043305"/>
                  </a:cubicBezTo>
                  <a:cubicBezTo>
                    <a:pt x="281559" y="1073785"/>
                    <a:pt x="289179" y="1104265"/>
                    <a:pt x="289179" y="1134745"/>
                  </a:cubicBezTo>
                  <a:cubicBezTo>
                    <a:pt x="0" y="1439291"/>
                    <a:pt x="0" y="1439291"/>
                    <a:pt x="0" y="1439291"/>
                  </a:cubicBezTo>
                  <a:cubicBezTo>
                    <a:pt x="410972" y="1538351"/>
                    <a:pt x="410972" y="1538351"/>
                    <a:pt x="410972" y="1538351"/>
                  </a:cubicBezTo>
                  <a:cubicBezTo>
                    <a:pt x="585978" y="1865757"/>
                    <a:pt x="928497" y="2086610"/>
                    <a:pt x="1331849" y="2086610"/>
                  </a:cubicBezTo>
                  <a:cubicBezTo>
                    <a:pt x="1902714" y="2086610"/>
                    <a:pt x="2374519" y="1622044"/>
                    <a:pt x="2374519" y="1043305"/>
                  </a:cubicBezTo>
                  <a:cubicBezTo>
                    <a:pt x="2374519" y="464566"/>
                    <a:pt x="1902714" y="0"/>
                    <a:pt x="13318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04336" y="843660"/>
            <a:ext cx="1758106" cy="1797363"/>
            <a:chOff x="0" y="0"/>
            <a:chExt cx="2095920" cy="2142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6008" cy="2142744"/>
            </a:xfrm>
            <a:custGeom>
              <a:avLst/>
              <a:gdLst/>
              <a:ahLst/>
              <a:cxnLst/>
              <a:rect r="r" b="b" t="t" l="l"/>
              <a:pathLst>
                <a:path h="2142744" w="2096008">
                  <a:moveTo>
                    <a:pt x="1051814" y="0"/>
                  </a:moveTo>
                  <a:cubicBezTo>
                    <a:pt x="472567" y="0"/>
                    <a:pt x="0" y="472821"/>
                    <a:pt x="0" y="1052322"/>
                  </a:cubicBezTo>
                  <a:cubicBezTo>
                    <a:pt x="0" y="1311529"/>
                    <a:pt x="99060" y="1548003"/>
                    <a:pt x="259080" y="1731010"/>
                  </a:cubicBezTo>
                  <a:cubicBezTo>
                    <a:pt x="198120" y="2142744"/>
                    <a:pt x="198120" y="2142744"/>
                    <a:pt x="198120" y="2142744"/>
                  </a:cubicBezTo>
                  <a:cubicBezTo>
                    <a:pt x="586867" y="1990217"/>
                    <a:pt x="586867" y="1990217"/>
                    <a:pt x="586867" y="1990217"/>
                  </a:cubicBezTo>
                  <a:cubicBezTo>
                    <a:pt x="724027" y="2058797"/>
                    <a:pt x="884047" y="2097024"/>
                    <a:pt x="1051814" y="2097024"/>
                  </a:cubicBezTo>
                  <a:cubicBezTo>
                    <a:pt x="1623441" y="2097024"/>
                    <a:pt x="2096008" y="1624203"/>
                    <a:pt x="2096008" y="1052322"/>
                  </a:cubicBezTo>
                  <a:cubicBezTo>
                    <a:pt x="2095881" y="472821"/>
                    <a:pt x="1623441" y="0"/>
                    <a:pt x="10518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814614" y="3646209"/>
            <a:ext cx="1555883" cy="1287140"/>
          </a:xfrm>
          <a:custGeom>
            <a:avLst/>
            <a:gdLst/>
            <a:ahLst/>
            <a:cxnLst/>
            <a:rect r="r" b="b" t="t" l="l"/>
            <a:pathLst>
              <a:path h="1287140" w="1555883">
                <a:moveTo>
                  <a:pt x="0" y="0"/>
                </a:moveTo>
                <a:lnTo>
                  <a:pt x="1555884" y="0"/>
                </a:lnTo>
                <a:lnTo>
                  <a:pt x="1555884" y="1287139"/>
                </a:lnTo>
                <a:lnTo>
                  <a:pt x="0" y="12871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70549" y="5138800"/>
            <a:ext cx="3426948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69"/>
              </a:lnSpc>
            </a:pPr>
            <a:r>
              <a:rPr lang="en-US" sz="5974">
                <a:solidFill>
                  <a:srgbClr val="FFFFFF"/>
                </a:solidFill>
                <a:latin typeface="jf-openhuninn-2.0"/>
                <a:ea typeface="jf-openhuninn-2.0"/>
                <a:cs typeface="jf-openhuninn-2.0"/>
                <a:sym typeface="jf-openhuninn-2.0"/>
              </a:rPr>
              <a:t>大綱</a:t>
            </a:r>
          </a:p>
          <a:p>
            <a:pPr algn="ctr" marL="0" indent="0" lvl="0">
              <a:lnSpc>
                <a:spcPts val="5160"/>
              </a:lnSpc>
              <a:spcBef>
                <a:spcPct val="0"/>
              </a:spcBef>
            </a:pPr>
            <a:r>
              <a:rPr lang="en-US" sz="4300">
                <a:solidFill>
                  <a:srgbClr val="FFFFFF"/>
                </a:solidFill>
                <a:latin typeface="jf-openhuninn-2.0"/>
                <a:ea typeface="jf-openhuninn-2.0"/>
                <a:cs typeface="jf-openhuninn-2.0"/>
                <a:sym typeface="jf-openhuninn-2.0"/>
              </a:rPr>
              <a:t>Outline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85521" y="1200478"/>
            <a:ext cx="1320833" cy="96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567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12001" y="843660"/>
            <a:ext cx="5401838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製程介紹</a:t>
            </a:r>
          </a:p>
          <a:p>
            <a:pPr algn="l" marL="0" indent="0" lvl="0">
              <a:lnSpc>
                <a:spcPts val="4200"/>
              </a:lnSpc>
            </a:pPr>
            <a:r>
              <a:rPr lang="en-US" b="true" sz="35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Introduction  of  Process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75992" y="4702262"/>
            <a:ext cx="1320833" cy="96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567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107806" y="5227203"/>
            <a:ext cx="457877" cy="4578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099601" y="2758149"/>
            <a:ext cx="457877" cy="45787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1898322">
            <a:off x="-1987267" y="8095155"/>
            <a:ext cx="4891502" cy="4903762"/>
          </a:xfrm>
          <a:custGeom>
            <a:avLst/>
            <a:gdLst/>
            <a:ahLst/>
            <a:cxnLst/>
            <a:rect r="r" b="b" t="t" l="l"/>
            <a:pathLst>
              <a:path h="4903762" w="4891502">
                <a:moveTo>
                  <a:pt x="0" y="0"/>
                </a:moveTo>
                <a:lnTo>
                  <a:pt x="4891502" y="0"/>
                </a:lnTo>
                <a:lnTo>
                  <a:pt x="4891502" y="4903762"/>
                </a:lnTo>
                <a:lnTo>
                  <a:pt x="0" y="4903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228686" y="4412816"/>
            <a:ext cx="5639166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功能製造</a:t>
            </a:r>
          </a:p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Function  of Manufacture</a:t>
            </a:r>
          </a:p>
          <a:p>
            <a:pPr algn="l" marL="0" indent="0" lvl="0">
              <a:lnSpc>
                <a:spcPts val="420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5836881" y="9853782"/>
            <a:ext cx="661423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E2C4B"/>
                </a:solidFill>
                <a:latin typeface="jf-openhuninn-2.0"/>
                <a:ea typeface="jf-openhuninn-2.0"/>
                <a:cs typeface="jf-openhuninn-2.0"/>
                <a:sym typeface="jf-openhuninn-2.0"/>
              </a:rPr>
              <a:t>Designed by Wei Shuo Wang in Kaohsiung Use Canva.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41262" y="296122"/>
            <a:ext cx="999913" cy="547539"/>
            <a:chOff x="0" y="0"/>
            <a:chExt cx="1333217" cy="730051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38100"/>
              <a:ext cx="1333217" cy="352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40"/>
                </a:lnSpc>
              </a:pPr>
              <a:r>
                <a:rPr lang="en-US" b="true" sz="1600" spc="80">
                  <a:solidFill>
                    <a:srgbClr val="FF66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TIME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377840"/>
              <a:ext cx="1333217" cy="352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2024-03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02/24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12001" y="2593398"/>
            <a:ext cx="173199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•結構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•效應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28686" y="6267233"/>
            <a:ext cx="173199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•製程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•封裝</a:t>
            </a:r>
          </a:p>
        </p:txBody>
      </p:sp>
      <p:grpSp>
        <p:nvGrpSpPr>
          <p:cNvPr name="Group 32" id="32"/>
          <p:cNvGrpSpPr/>
          <p:nvPr/>
        </p:nvGrpSpPr>
        <p:grpSpPr>
          <a:xfrm rot="2939131">
            <a:off x="5591565" y="7315537"/>
            <a:ext cx="1991835" cy="1750254"/>
            <a:chOff x="0" y="0"/>
            <a:chExt cx="2374560" cy="20865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74519" cy="2086610"/>
            </a:xfrm>
            <a:custGeom>
              <a:avLst/>
              <a:gdLst/>
              <a:ahLst/>
              <a:cxnLst/>
              <a:rect r="r" b="b" t="t" l="l"/>
              <a:pathLst>
                <a:path h="2086610" w="2374519">
                  <a:moveTo>
                    <a:pt x="1331849" y="0"/>
                  </a:moveTo>
                  <a:cubicBezTo>
                    <a:pt x="753491" y="0"/>
                    <a:pt x="281559" y="464566"/>
                    <a:pt x="281559" y="1043305"/>
                  </a:cubicBezTo>
                  <a:cubicBezTo>
                    <a:pt x="281559" y="1073785"/>
                    <a:pt x="289179" y="1104265"/>
                    <a:pt x="289179" y="1134745"/>
                  </a:cubicBezTo>
                  <a:cubicBezTo>
                    <a:pt x="0" y="1439291"/>
                    <a:pt x="0" y="1439291"/>
                    <a:pt x="0" y="1439291"/>
                  </a:cubicBezTo>
                  <a:cubicBezTo>
                    <a:pt x="410972" y="1538351"/>
                    <a:pt x="410972" y="1538351"/>
                    <a:pt x="410972" y="1538351"/>
                  </a:cubicBezTo>
                  <a:cubicBezTo>
                    <a:pt x="585978" y="1865757"/>
                    <a:pt x="928497" y="2086610"/>
                    <a:pt x="1331849" y="2086610"/>
                  </a:cubicBezTo>
                  <a:cubicBezTo>
                    <a:pt x="1902714" y="2086610"/>
                    <a:pt x="2374519" y="1622044"/>
                    <a:pt x="2374519" y="1043305"/>
                  </a:cubicBezTo>
                  <a:cubicBezTo>
                    <a:pt x="2374519" y="464566"/>
                    <a:pt x="1902714" y="0"/>
                    <a:pt x="13318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5927067" y="7763172"/>
            <a:ext cx="1320833" cy="96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567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731030" y="7739232"/>
            <a:ext cx="5639166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總結</a:t>
            </a:r>
          </a:p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SUMMARY</a:t>
            </a:r>
          </a:p>
          <a:p>
            <a:pPr algn="l" marL="0" indent="0" lvl="0">
              <a:lnSpc>
                <a:spcPts val="4200"/>
              </a:lnSpc>
            </a:pPr>
          </a:p>
        </p:txBody>
      </p:sp>
      <p:grpSp>
        <p:nvGrpSpPr>
          <p:cNvPr name="Group 36" id="36"/>
          <p:cNvGrpSpPr/>
          <p:nvPr/>
        </p:nvGrpSpPr>
        <p:grpSpPr>
          <a:xfrm rot="0">
            <a:off x="5068558" y="7176625"/>
            <a:ext cx="457877" cy="457877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536833">
            <a:off x="-4428213" y="-2916505"/>
            <a:ext cx="9627545" cy="9651674"/>
          </a:xfrm>
          <a:custGeom>
            <a:avLst/>
            <a:gdLst/>
            <a:ahLst/>
            <a:cxnLst/>
            <a:rect r="r" b="b" t="t" l="l"/>
            <a:pathLst>
              <a:path h="9651674" w="9627545">
                <a:moveTo>
                  <a:pt x="0" y="0"/>
                </a:moveTo>
                <a:lnTo>
                  <a:pt x="9627545" y="0"/>
                </a:lnTo>
                <a:lnTo>
                  <a:pt x="9627545" y="9651674"/>
                </a:lnTo>
                <a:lnTo>
                  <a:pt x="0" y="9651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7573183">
            <a:off x="1230111" y="7154961"/>
            <a:ext cx="1013029" cy="101302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643924" y="4922716"/>
            <a:ext cx="4061669" cy="4061669"/>
          </a:xfrm>
          <a:custGeom>
            <a:avLst/>
            <a:gdLst/>
            <a:ahLst/>
            <a:cxnLst/>
            <a:rect r="r" b="b" t="t" l="l"/>
            <a:pathLst>
              <a:path h="4061669" w="4061669">
                <a:moveTo>
                  <a:pt x="0" y="0"/>
                </a:moveTo>
                <a:lnTo>
                  <a:pt x="4061669" y="0"/>
                </a:lnTo>
                <a:lnTo>
                  <a:pt x="4061669" y="4061669"/>
                </a:lnTo>
                <a:lnTo>
                  <a:pt x="0" y="40616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90217" y="1019175"/>
            <a:ext cx="11169083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19"/>
              </a:lnSpc>
            </a:pPr>
            <a:r>
              <a:rPr lang="en-US" sz="105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製程介紹</a:t>
            </a:r>
          </a:p>
          <a:p>
            <a:pPr algn="ctr" marL="0" indent="0" lvl="0">
              <a:lnSpc>
                <a:spcPts val="8279"/>
              </a:lnSpc>
            </a:pPr>
            <a:r>
              <a:rPr lang="en-US" b="true" sz="6899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Introduction  of  Process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5560" y="800100"/>
            <a:ext cx="1882501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7573183">
            <a:off x="11621986" y="5257668"/>
            <a:ext cx="459113" cy="45911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1600" y="9853782"/>
            <a:ext cx="661423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E2C4B"/>
                </a:solidFill>
                <a:latin typeface="jf-openhuninn-2.0"/>
                <a:ea typeface="jf-openhuninn-2.0"/>
                <a:cs typeface="jf-openhuninn-2.0"/>
                <a:sym typeface="jf-openhuninn-2.0"/>
              </a:rPr>
              <a:t>Designed by Wei Shuo Wang in Kaohsiung Use Canva.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03/24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98929"/>
            <a:ext cx="9853055" cy="188071"/>
            <a:chOff x="0" y="0"/>
            <a:chExt cx="2496405" cy="47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405" cy="47650"/>
            </a:xfrm>
            <a:custGeom>
              <a:avLst/>
              <a:gdLst/>
              <a:ahLst/>
              <a:cxnLst/>
              <a:rect r="r" b="b" t="t" l="l"/>
              <a:pathLst>
                <a:path h="47650" w="2496405">
                  <a:moveTo>
                    <a:pt x="0" y="0"/>
                  </a:moveTo>
                  <a:lnTo>
                    <a:pt x="2496405" y="0"/>
                  </a:lnTo>
                  <a:lnTo>
                    <a:pt x="2496405" y="47650"/>
                  </a:lnTo>
                  <a:lnTo>
                    <a:pt x="0" y="4765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6405" cy="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3055" y="0"/>
            <a:ext cx="8434945" cy="167138"/>
            <a:chOff x="0" y="0"/>
            <a:chExt cx="2137108" cy="423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42347"/>
            </a:xfrm>
            <a:custGeom>
              <a:avLst/>
              <a:gdLst/>
              <a:ahLst/>
              <a:cxnLst/>
              <a:rect r="r" b="b" t="t" l="l"/>
              <a:pathLst>
                <a:path h="42347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42347"/>
                  </a:lnTo>
                  <a:lnTo>
                    <a:pt x="0" y="4234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8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3769" y="841759"/>
            <a:ext cx="373881" cy="3738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15476"/>
            <a:ext cx="16230600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金氧半場效電晶體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Metal-Oxide-Semiconductor Field-Effect Transistor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7650" y="3100762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 Metal 金屬  (Cu)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61208" y="10022840"/>
            <a:ext cx="590536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</a:pPr>
            <a:r>
              <a:rPr lang="en-US" sz="15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金屬氧化物半導體場效電晶體  from wiki</a:t>
            </a:r>
            <a:r>
              <a:rPr lang="en-US" sz="15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 : https://ppt.cc/fLRtQx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826010" y="3110287"/>
            <a:ext cx="8433290" cy="5554879"/>
            <a:chOff x="0" y="0"/>
            <a:chExt cx="11244387" cy="7406506"/>
          </a:xfrm>
        </p:grpSpPr>
        <p:sp>
          <p:nvSpPr>
            <p:cNvPr name="Freeform 15" id="15"/>
            <p:cNvSpPr/>
            <p:nvPr/>
          </p:nvSpPr>
          <p:spPr>
            <a:xfrm flipH="false" flipV="false" rot="5400000">
              <a:off x="6688788" y="4303419"/>
              <a:ext cx="3103087" cy="3103087"/>
            </a:xfrm>
            <a:custGeom>
              <a:avLst/>
              <a:gdLst/>
              <a:ahLst/>
              <a:cxnLst/>
              <a:rect r="r" b="b" t="t" l="l"/>
              <a:pathLst>
                <a:path h="3103087" w="3103087">
                  <a:moveTo>
                    <a:pt x="0" y="0"/>
                  </a:moveTo>
                  <a:lnTo>
                    <a:pt x="3103087" y="0"/>
                  </a:lnTo>
                  <a:lnTo>
                    <a:pt x="3103087" y="3103087"/>
                  </a:lnTo>
                  <a:lnTo>
                    <a:pt x="0" y="3103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5400000">
              <a:off x="1674801" y="4303419"/>
              <a:ext cx="3103087" cy="3103087"/>
            </a:xfrm>
            <a:custGeom>
              <a:avLst/>
              <a:gdLst/>
              <a:ahLst/>
              <a:cxnLst/>
              <a:rect r="r" b="b" t="t" l="l"/>
              <a:pathLst>
                <a:path h="3103087" w="3103087">
                  <a:moveTo>
                    <a:pt x="0" y="0"/>
                  </a:moveTo>
                  <a:lnTo>
                    <a:pt x="3103087" y="0"/>
                  </a:lnTo>
                  <a:lnTo>
                    <a:pt x="3103087" y="3103087"/>
                  </a:lnTo>
                  <a:lnTo>
                    <a:pt x="0" y="3103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44387" cy="4672183"/>
            </a:xfrm>
            <a:custGeom>
              <a:avLst/>
              <a:gdLst/>
              <a:ahLst/>
              <a:cxnLst/>
              <a:rect r="r" b="b" t="t" l="l"/>
              <a:pathLst>
                <a:path h="4672183" w="11244387">
                  <a:moveTo>
                    <a:pt x="0" y="0"/>
                  </a:moveTo>
                  <a:lnTo>
                    <a:pt x="11244387" y="0"/>
                  </a:lnTo>
                  <a:lnTo>
                    <a:pt x="11244387" y="4672183"/>
                  </a:lnTo>
                  <a:lnTo>
                    <a:pt x="0" y="4672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557255" y="8474666"/>
            <a:ext cx="151327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▲ CMOS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6225" y="3826873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•Oxide 氧化物  (SiO₂ 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6225" y="4550773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•Semiconductor 半導體  (n+ or p+)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6225" y="5789023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•接線端點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6358" y="6463557"/>
            <a:ext cx="8496697" cy="35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Source (源極):  多數載子來源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Drain (汲極):  多數載子流向哪裡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Gate (閘極):  控制開關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Bulk、Body、Backgate、Substrate(基底):</a:t>
            </a:r>
          </a:p>
          <a:p>
            <a:pPr algn="l">
              <a:lnSpc>
                <a:spcPts val="3749"/>
              </a:lnSpc>
            </a:pPr>
            <a:r>
              <a:rPr lang="en-US" sz="24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避免閂鎖效應(Latch-Up)與基底效應(BODY EFFECT)</a:t>
            </a:r>
          </a:p>
          <a:p>
            <a:pPr algn="l">
              <a:lnSpc>
                <a:spcPts val="3749"/>
              </a:lnSpc>
            </a:pPr>
            <a:r>
              <a:rPr lang="en-US" sz="24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一般會與電路的Source相接，NMOS (VSS)  PMOS(VDD)</a:t>
            </a:r>
          </a:p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04/24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98929"/>
            <a:ext cx="9853055" cy="188071"/>
            <a:chOff x="0" y="0"/>
            <a:chExt cx="2496405" cy="47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405" cy="47650"/>
            </a:xfrm>
            <a:custGeom>
              <a:avLst/>
              <a:gdLst/>
              <a:ahLst/>
              <a:cxnLst/>
              <a:rect r="r" b="b" t="t" l="l"/>
              <a:pathLst>
                <a:path h="47650" w="2496405">
                  <a:moveTo>
                    <a:pt x="0" y="0"/>
                  </a:moveTo>
                  <a:lnTo>
                    <a:pt x="2496405" y="0"/>
                  </a:lnTo>
                  <a:lnTo>
                    <a:pt x="2496405" y="47650"/>
                  </a:lnTo>
                  <a:lnTo>
                    <a:pt x="0" y="4765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6405" cy="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3055" y="0"/>
            <a:ext cx="8434945" cy="167138"/>
            <a:chOff x="0" y="0"/>
            <a:chExt cx="2137108" cy="423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42347"/>
            </a:xfrm>
            <a:custGeom>
              <a:avLst/>
              <a:gdLst/>
              <a:ahLst/>
              <a:cxnLst/>
              <a:rect r="r" b="b" t="t" l="l"/>
              <a:pathLst>
                <a:path h="42347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42347"/>
                  </a:lnTo>
                  <a:lnTo>
                    <a:pt x="0" y="4234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8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3769" y="841759"/>
            <a:ext cx="373881" cy="3738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853055" y="172224"/>
            <a:ext cx="8434945" cy="5869316"/>
          </a:xfrm>
          <a:custGeom>
            <a:avLst/>
            <a:gdLst/>
            <a:ahLst/>
            <a:cxnLst/>
            <a:rect r="r" b="b" t="t" l="l"/>
            <a:pathLst>
              <a:path h="5869316" w="8434945">
                <a:moveTo>
                  <a:pt x="0" y="0"/>
                </a:moveTo>
                <a:lnTo>
                  <a:pt x="8434945" y="0"/>
                </a:lnTo>
                <a:lnTo>
                  <a:pt x="8434945" y="5869316"/>
                </a:lnTo>
                <a:lnTo>
                  <a:pt x="0" y="58693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75486" y="6565204"/>
            <a:ext cx="2182214" cy="729362"/>
          </a:xfrm>
          <a:custGeom>
            <a:avLst/>
            <a:gdLst/>
            <a:ahLst/>
            <a:cxnLst/>
            <a:rect r="r" b="b" t="t" l="l"/>
            <a:pathLst>
              <a:path h="729362" w="2182214">
                <a:moveTo>
                  <a:pt x="0" y="0"/>
                </a:moveTo>
                <a:lnTo>
                  <a:pt x="2182215" y="0"/>
                </a:lnTo>
                <a:lnTo>
                  <a:pt x="2182215" y="729362"/>
                </a:lnTo>
                <a:lnTo>
                  <a:pt x="0" y="729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6069" t="0" r="-108179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38192" y="7466016"/>
            <a:ext cx="1323489" cy="472985"/>
          </a:xfrm>
          <a:custGeom>
            <a:avLst/>
            <a:gdLst/>
            <a:ahLst/>
            <a:cxnLst/>
            <a:rect r="r" b="b" t="t" l="l"/>
            <a:pathLst>
              <a:path h="472985" w="1323489">
                <a:moveTo>
                  <a:pt x="0" y="0"/>
                </a:moveTo>
                <a:lnTo>
                  <a:pt x="1323489" y="0"/>
                </a:lnTo>
                <a:lnTo>
                  <a:pt x="1323489" y="472985"/>
                </a:lnTo>
                <a:lnTo>
                  <a:pt x="0" y="4729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0590" t="0" r="-266312" b="-23617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761681" y="7466016"/>
            <a:ext cx="1284533" cy="444792"/>
          </a:xfrm>
          <a:custGeom>
            <a:avLst/>
            <a:gdLst/>
            <a:ahLst/>
            <a:cxnLst/>
            <a:rect r="r" b="b" t="t" l="l"/>
            <a:pathLst>
              <a:path h="444792" w="1284533">
                <a:moveTo>
                  <a:pt x="0" y="0"/>
                </a:moveTo>
                <a:lnTo>
                  <a:pt x="1284533" y="0"/>
                </a:lnTo>
                <a:lnTo>
                  <a:pt x="1284533" y="444792"/>
                </a:lnTo>
                <a:lnTo>
                  <a:pt x="0" y="4447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1142" t="0" r="-255960" b="-23617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018259" y="8078457"/>
            <a:ext cx="1317685" cy="465928"/>
          </a:xfrm>
          <a:custGeom>
            <a:avLst/>
            <a:gdLst/>
            <a:ahLst/>
            <a:cxnLst/>
            <a:rect r="r" b="b" t="t" l="l"/>
            <a:pathLst>
              <a:path h="465928" w="1317685">
                <a:moveTo>
                  <a:pt x="0" y="0"/>
                </a:moveTo>
                <a:lnTo>
                  <a:pt x="1317686" y="0"/>
                </a:lnTo>
                <a:lnTo>
                  <a:pt x="1317686" y="465928"/>
                </a:lnTo>
                <a:lnTo>
                  <a:pt x="0" y="4659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64552" t="0" r="-265610" b="-23617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596504" y="8715835"/>
            <a:ext cx="2161197" cy="476305"/>
          </a:xfrm>
          <a:custGeom>
            <a:avLst/>
            <a:gdLst/>
            <a:ahLst/>
            <a:cxnLst/>
            <a:rect r="r" b="b" t="t" l="l"/>
            <a:pathLst>
              <a:path h="476305" w="2161197">
                <a:moveTo>
                  <a:pt x="0" y="0"/>
                </a:moveTo>
                <a:lnTo>
                  <a:pt x="2161197" y="0"/>
                </a:lnTo>
                <a:lnTo>
                  <a:pt x="2161197" y="476306"/>
                </a:lnTo>
                <a:lnTo>
                  <a:pt x="0" y="4763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1313" t="0" r="-162881" b="-33508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178295" y="9261921"/>
            <a:ext cx="1157650" cy="533803"/>
          </a:xfrm>
          <a:custGeom>
            <a:avLst/>
            <a:gdLst/>
            <a:ahLst/>
            <a:cxnLst/>
            <a:rect r="r" b="b" t="t" l="l"/>
            <a:pathLst>
              <a:path h="533803" w="1157650">
                <a:moveTo>
                  <a:pt x="0" y="0"/>
                </a:moveTo>
                <a:lnTo>
                  <a:pt x="1157650" y="0"/>
                </a:lnTo>
                <a:lnTo>
                  <a:pt x="1157650" y="533804"/>
                </a:lnTo>
                <a:lnTo>
                  <a:pt x="0" y="533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70062" t="0" r="-16348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278112" y="7079604"/>
            <a:ext cx="1792415" cy="1874385"/>
            <a:chOff x="0" y="0"/>
            <a:chExt cx="2389887" cy="24991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46870" y="421292"/>
              <a:ext cx="1648034" cy="548658"/>
            </a:xfrm>
            <a:custGeom>
              <a:avLst/>
              <a:gdLst/>
              <a:ahLst/>
              <a:cxnLst/>
              <a:rect r="r" b="b" t="t" l="l"/>
              <a:pathLst>
                <a:path h="548658" w="1648034">
                  <a:moveTo>
                    <a:pt x="0" y="0"/>
                  </a:moveTo>
                  <a:lnTo>
                    <a:pt x="1648034" y="0"/>
                  </a:lnTo>
                  <a:lnTo>
                    <a:pt x="1648034" y="548657"/>
                  </a:lnTo>
                  <a:lnTo>
                    <a:pt x="0" y="548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AutoShape 20" id="20"/>
            <p:cNvSpPr/>
            <p:nvPr/>
          </p:nvSpPr>
          <p:spPr>
            <a:xfrm flipH="true">
              <a:off x="2043296" y="974778"/>
              <a:ext cx="0" cy="60317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arrow" len="sm" w="med"/>
              <a:tailEnd type="arrow" len="sm" w="med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970887" y="0"/>
              <a:ext cx="0" cy="621238"/>
            </a:xfrm>
            <a:prstGeom prst="line">
              <a:avLst/>
            </a:prstGeom>
            <a:ln cap="rnd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42078" y="1383271"/>
              <a:ext cx="1648034" cy="548658"/>
            </a:xfrm>
            <a:custGeom>
              <a:avLst/>
              <a:gdLst/>
              <a:ahLst/>
              <a:cxnLst/>
              <a:rect r="r" b="b" t="t" l="l"/>
              <a:pathLst>
                <a:path h="548658" w="1648034">
                  <a:moveTo>
                    <a:pt x="0" y="0"/>
                  </a:moveTo>
                  <a:lnTo>
                    <a:pt x="1648034" y="0"/>
                  </a:lnTo>
                  <a:lnTo>
                    <a:pt x="1648034" y="548658"/>
                  </a:lnTo>
                  <a:lnTo>
                    <a:pt x="0" y="548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AutoShape 23" id="23"/>
            <p:cNvSpPr/>
            <p:nvPr/>
          </p:nvSpPr>
          <p:spPr>
            <a:xfrm>
              <a:off x="966095" y="1877942"/>
              <a:ext cx="0" cy="621238"/>
            </a:xfrm>
            <a:prstGeom prst="line">
              <a:avLst/>
            </a:prstGeom>
            <a:ln cap="rnd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4" id="24"/>
            <p:cNvSpPr txBox="true"/>
            <p:nvPr/>
          </p:nvSpPr>
          <p:spPr>
            <a:xfrm rot="0">
              <a:off x="2193566" y="1088672"/>
              <a:ext cx="196321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d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261950" y="763066"/>
              <a:ext cx="173542" cy="173542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11091" y="753541"/>
              <a:ext cx="75259" cy="163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</a:pPr>
              <a:r>
                <a:rPr lang="en-US" sz="800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+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258623" y="1733201"/>
              <a:ext cx="176868" cy="17686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1BF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295476" y="1701451"/>
              <a:ext cx="103164" cy="178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45"/>
                </a:lnSpc>
              </a:pPr>
              <a:r>
                <a:rPr lang="en-US" sz="818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-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566750" y="763066"/>
              <a:ext cx="173542" cy="173542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615891" y="753541"/>
              <a:ext cx="75259" cy="163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</a:pPr>
              <a:r>
                <a:rPr lang="en-US" sz="800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+</a:t>
              </a:r>
            </a:p>
          </p:txBody>
        </p:sp>
        <p:grpSp>
          <p:nvGrpSpPr>
            <p:cNvPr name="Group 37" id="37"/>
            <p:cNvGrpSpPr/>
            <p:nvPr/>
          </p:nvGrpSpPr>
          <p:grpSpPr>
            <a:xfrm rot="0">
              <a:off x="871550" y="763066"/>
              <a:ext cx="173542" cy="173542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920691" y="753541"/>
              <a:ext cx="75259" cy="163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</a:pPr>
              <a:r>
                <a:rPr lang="en-US" sz="800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+</a:t>
              </a:r>
            </a:p>
          </p:txBody>
        </p:sp>
        <p:grpSp>
          <p:nvGrpSpPr>
            <p:cNvPr name="Group 41" id="41"/>
            <p:cNvGrpSpPr/>
            <p:nvPr/>
          </p:nvGrpSpPr>
          <p:grpSpPr>
            <a:xfrm rot="0">
              <a:off x="1172092" y="763066"/>
              <a:ext cx="173542" cy="173542"/>
              <a:chOff x="0" y="0"/>
              <a:chExt cx="812800" cy="8128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1221233" y="753541"/>
              <a:ext cx="75259" cy="163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</a:pPr>
              <a:r>
                <a:rPr lang="en-US" sz="800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+</a:t>
              </a:r>
            </a:p>
          </p:txBody>
        </p:sp>
        <p:grpSp>
          <p:nvGrpSpPr>
            <p:cNvPr name="Group 45" id="45"/>
            <p:cNvGrpSpPr/>
            <p:nvPr/>
          </p:nvGrpSpPr>
          <p:grpSpPr>
            <a:xfrm rot="0">
              <a:off x="1472634" y="763066"/>
              <a:ext cx="173542" cy="173542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1521775" y="753541"/>
              <a:ext cx="75259" cy="163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"/>
                </a:lnSpc>
              </a:pPr>
              <a:r>
                <a:rPr lang="en-US" sz="800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+</a:t>
              </a:r>
            </a:p>
          </p:txBody>
        </p:sp>
        <p:grpSp>
          <p:nvGrpSpPr>
            <p:cNvPr name="Group 49" id="49"/>
            <p:cNvGrpSpPr/>
            <p:nvPr/>
          </p:nvGrpSpPr>
          <p:grpSpPr>
            <a:xfrm rot="0">
              <a:off x="565087" y="1733201"/>
              <a:ext cx="176868" cy="176868"/>
              <a:chOff x="0" y="0"/>
              <a:chExt cx="812800" cy="8128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1BFB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601939" y="1701451"/>
              <a:ext cx="103164" cy="178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45"/>
                </a:lnSpc>
              </a:pPr>
              <a:r>
                <a:rPr lang="en-US" sz="818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-</a:t>
              </a:r>
            </a:p>
          </p:txBody>
        </p:sp>
        <p:grpSp>
          <p:nvGrpSpPr>
            <p:cNvPr name="Group 53" id="53"/>
            <p:cNvGrpSpPr/>
            <p:nvPr/>
          </p:nvGrpSpPr>
          <p:grpSpPr>
            <a:xfrm rot="0">
              <a:off x="882453" y="1733201"/>
              <a:ext cx="176868" cy="176868"/>
              <a:chOff x="0" y="0"/>
              <a:chExt cx="81280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1BFB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56" id="56"/>
            <p:cNvSpPr txBox="true"/>
            <p:nvPr/>
          </p:nvSpPr>
          <p:spPr>
            <a:xfrm rot="0">
              <a:off x="919305" y="1701451"/>
              <a:ext cx="103164" cy="178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45"/>
                </a:lnSpc>
              </a:pPr>
              <a:r>
                <a:rPr lang="en-US" sz="818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-</a:t>
              </a:r>
            </a:p>
          </p:txBody>
        </p:sp>
        <p:grpSp>
          <p:nvGrpSpPr>
            <p:cNvPr name="Group 57" id="57"/>
            <p:cNvGrpSpPr/>
            <p:nvPr/>
          </p:nvGrpSpPr>
          <p:grpSpPr>
            <a:xfrm rot="0">
              <a:off x="1186321" y="1733201"/>
              <a:ext cx="176868" cy="176868"/>
              <a:chOff x="0" y="0"/>
              <a:chExt cx="812800" cy="8128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1BFB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60" id="60"/>
            <p:cNvSpPr txBox="true"/>
            <p:nvPr/>
          </p:nvSpPr>
          <p:spPr>
            <a:xfrm rot="0">
              <a:off x="1223174" y="1701451"/>
              <a:ext cx="103164" cy="178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45"/>
                </a:lnSpc>
              </a:pPr>
              <a:r>
                <a:rPr lang="en-US" sz="818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-</a:t>
              </a:r>
            </a:p>
          </p:txBody>
        </p:sp>
        <p:grpSp>
          <p:nvGrpSpPr>
            <p:cNvPr name="Group 61" id="61"/>
            <p:cNvGrpSpPr/>
            <p:nvPr/>
          </p:nvGrpSpPr>
          <p:grpSpPr>
            <a:xfrm rot="0">
              <a:off x="1469308" y="1733201"/>
              <a:ext cx="176868" cy="176868"/>
              <a:chOff x="0" y="0"/>
              <a:chExt cx="812800" cy="812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1BFB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1506160" y="1701451"/>
              <a:ext cx="103164" cy="178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45"/>
                </a:lnSpc>
              </a:pPr>
              <a:r>
                <a:rPr lang="en-US" sz="818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rPr>
                <a:t>-</a:t>
              </a:r>
            </a:p>
          </p:txBody>
        </p:sp>
        <p:sp>
          <p:nvSpPr>
            <p:cNvPr name="AutoShape 65" id="65"/>
            <p:cNvSpPr/>
            <p:nvPr/>
          </p:nvSpPr>
          <p:spPr>
            <a:xfrm flipH="true">
              <a:off x="348721" y="969949"/>
              <a:ext cx="0" cy="667417"/>
            </a:xfrm>
            <a:prstGeom prst="line">
              <a:avLst/>
            </a:prstGeom>
            <a:ln cap="rnd" w="50800">
              <a:solidFill>
                <a:srgbClr val="00BF63"/>
              </a:solidFill>
              <a:prstDash val="sysDot"/>
              <a:headEnd type="none" len="sm" w="sm"/>
              <a:tailEnd type="arrow" len="sm" w="med"/>
            </a:ln>
          </p:spPr>
        </p:sp>
        <p:sp>
          <p:nvSpPr>
            <p:cNvPr name="AutoShape 66" id="66"/>
            <p:cNvSpPr/>
            <p:nvPr/>
          </p:nvSpPr>
          <p:spPr>
            <a:xfrm flipH="true">
              <a:off x="653521" y="969949"/>
              <a:ext cx="0" cy="667417"/>
            </a:xfrm>
            <a:prstGeom prst="line">
              <a:avLst/>
            </a:prstGeom>
            <a:ln cap="rnd" w="50800">
              <a:solidFill>
                <a:srgbClr val="00BF63"/>
              </a:solidFill>
              <a:prstDash val="sysDot"/>
              <a:headEnd type="none" len="sm" w="sm"/>
              <a:tailEnd type="arrow" len="sm" w="med"/>
            </a:ln>
          </p:spPr>
        </p:sp>
        <p:sp>
          <p:nvSpPr>
            <p:cNvPr name="AutoShape 67" id="67"/>
            <p:cNvSpPr/>
            <p:nvPr/>
          </p:nvSpPr>
          <p:spPr>
            <a:xfrm flipH="true">
              <a:off x="958321" y="969949"/>
              <a:ext cx="0" cy="667417"/>
            </a:xfrm>
            <a:prstGeom prst="line">
              <a:avLst/>
            </a:prstGeom>
            <a:ln cap="rnd" w="50800">
              <a:solidFill>
                <a:srgbClr val="00BF63"/>
              </a:solidFill>
              <a:prstDash val="sysDot"/>
              <a:headEnd type="none" len="sm" w="sm"/>
              <a:tailEnd type="arrow" len="sm" w="med"/>
            </a:ln>
          </p:spPr>
        </p:sp>
        <p:sp>
          <p:nvSpPr>
            <p:cNvPr name="AutoShape 68" id="68"/>
            <p:cNvSpPr/>
            <p:nvPr/>
          </p:nvSpPr>
          <p:spPr>
            <a:xfrm flipH="true">
              <a:off x="1258863" y="969949"/>
              <a:ext cx="0" cy="667417"/>
            </a:xfrm>
            <a:prstGeom prst="line">
              <a:avLst/>
            </a:prstGeom>
            <a:ln cap="rnd" w="50800">
              <a:solidFill>
                <a:srgbClr val="00BF63"/>
              </a:solidFill>
              <a:prstDash val="sysDot"/>
              <a:headEnd type="none" len="sm" w="sm"/>
              <a:tailEnd type="arrow" len="sm" w="med"/>
            </a:ln>
          </p:spPr>
        </p:sp>
        <p:sp>
          <p:nvSpPr>
            <p:cNvPr name="AutoShape 69" id="69"/>
            <p:cNvSpPr/>
            <p:nvPr/>
          </p:nvSpPr>
          <p:spPr>
            <a:xfrm flipH="true">
              <a:off x="1559405" y="969949"/>
              <a:ext cx="0" cy="667417"/>
            </a:xfrm>
            <a:prstGeom prst="line">
              <a:avLst/>
            </a:prstGeom>
            <a:ln cap="rnd" w="50800">
              <a:solidFill>
                <a:srgbClr val="00BF63"/>
              </a:solidFill>
              <a:prstDash val="sysDot"/>
              <a:headEnd type="none" len="sm" w="sm"/>
              <a:tailEnd type="arrow" len="sm" w="med"/>
            </a:ln>
          </p:spPr>
        </p:sp>
        <p:sp>
          <p:nvSpPr>
            <p:cNvPr name="TextBox 70" id="70"/>
            <p:cNvSpPr txBox="true"/>
            <p:nvPr/>
          </p:nvSpPr>
          <p:spPr>
            <a:xfrm rot="0">
              <a:off x="0" y="996725"/>
              <a:ext cx="196321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BF63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E</a:t>
              </a:r>
            </a:p>
          </p:txBody>
        </p:sp>
      </p:grpSp>
      <p:sp>
        <p:nvSpPr>
          <p:cNvPr name="AutoShape 71" id="71"/>
          <p:cNvSpPr/>
          <p:nvPr/>
        </p:nvSpPr>
        <p:spPr>
          <a:xfrm flipV="true">
            <a:off x="1304340" y="8706310"/>
            <a:ext cx="2780286" cy="0"/>
          </a:xfrm>
          <a:prstGeom prst="line">
            <a:avLst/>
          </a:prstGeom>
          <a:ln cap="rnd" w="190500">
            <a:solidFill>
              <a:srgbClr val="6768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>
            <a:off x="1304340" y="9433575"/>
            <a:ext cx="2780286" cy="0"/>
          </a:xfrm>
          <a:prstGeom prst="line">
            <a:avLst/>
          </a:prstGeom>
          <a:ln cap="rnd" w="190500">
            <a:solidFill>
              <a:srgbClr val="6768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3" id="73"/>
          <p:cNvSpPr/>
          <p:nvPr/>
        </p:nvSpPr>
        <p:spPr>
          <a:xfrm flipH="false" flipV="false" rot="5400000">
            <a:off x="1304340" y="8866548"/>
            <a:ext cx="397184" cy="397184"/>
          </a:xfrm>
          <a:custGeom>
            <a:avLst/>
            <a:gdLst/>
            <a:ahLst/>
            <a:cxnLst/>
            <a:rect r="r" b="b" t="t" l="l"/>
            <a:pathLst>
              <a:path h="397184" w="397184">
                <a:moveTo>
                  <a:pt x="0" y="0"/>
                </a:moveTo>
                <a:lnTo>
                  <a:pt x="397184" y="0"/>
                </a:lnTo>
                <a:lnTo>
                  <a:pt x="397184" y="397184"/>
                </a:lnTo>
                <a:lnTo>
                  <a:pt x="0" y="3971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4" id="74"/>
          <p:cNvSpPr txBox="true"/>
          <p:nvPr/>
        </p:nvSpPr>
        <p:spPr>
          <a:xfrm rot="0">
            <a:off x="4332447" y="8444373"/>
            <a:ext cx="189396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49"/>
              </a:lnSpc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Metal Line  1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332447" y="9115941"/>
            <a:ext cx="189396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49"/>
              </a:lnSpc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Metal Line  2</a:t>
            </a:r>
          </a:p>
        </p:txBody>
      </p:sp>
      <p:sp>
        <p:nvSpPr>
          <p:cNvPr name="Freeform 76" id="76"/>
          <p:cNvSpPr/>
          <p:nvPr/>
        </p:nvSpPr>
        <p:spPr>
          <a:xfrm flipH="false" flipV="false" rot="5400000">
            <a:off x="1701524" y="8866548"/>
            <a:ext cx="397184" cy="397184"/>
          </a:xfrm>
          <a:custGeom>
            <a:avLst/>
            <a:gdLst/>
            <a:ahLst/>
            <a:cxnLst/>
            <a:rect r="r" b="b" t="t" l="l"/>
            <a:pathLst>
              <a:path h="397184" w="397184">
                <a:moveTo>
                  <a:pt x="0" y="0"/>
                </a:moveTo>
                <a:lnTo>
                  <a:pt x="397184" y="0"/>
                </a:lnTo>
                <a:lnTo>
                  <a:pt x="397184" y="397184"/>
                </a:lnTo>
                <a:lnTo>
                  <a:pt x="0" y="3971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5400000">
            <a:off x="2098708" y="8866548"/>
            <a:ext cx="397184" cy="397184"/>
          </a:xfrm>
          <a:custGeom>
            <a:avLst/>
            <a:gdLst/>
            <a:ahLst/>
            <a:cxnLst/>
            <a:rect r="r" b="b" t="t" l="l"/>
            <a:pathLst>
              <a:path h="397184" w="397184">
                <a:moveTo>
                  <a:pt x="0" y="0"/>
                </a:moveTo>
                <a:lnTo>
                  <a:pt x="397183" y="0"/>
                </a:lnTo>
                <a:lnTo>
                  <a:pt x="397183" y="397184"/>
                </a:lnTo>
                <a:lnTo>
                  <a:pt x="0" y="3971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5400000">
            <a:off x="2495891" y="8873161"/>
            <a:ext cx="397184" cy="397184"/>
          </a:xfrm>
          <a:custGeom>
            <a:avLst/>
            <a:gdLst/>
            <a:ahLst/>
            <a:cxnLst/>
            <a:rect r="r" b="b" t="t" l="l"/>
            <a:pathLst>
              <a:path h="397184" w="397184">
                <a:moveTo>
                  <a:pt x="0" y="0"/>
                </a:moveTo>
                <a:lnTo>
                  <a:pt x="397184" y="0"/>
                </a:lnTo>
                <a:lnTo>
                  <a:pt x="397184" y="397184"/>
                </a:lnTo>
                <a:lnTo>
                  <a:pt x="0" y="3971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5400000">
            <a:off x="2893075" y="8879774"/>
            <a:ext cx="397184" cy="397184"/>
          </a:xfrm>
          <a:custGeom>
            <a:avLst/>
            <a:gdLst/>
            <a:ahLst/>
            <a:cxnLst/>
            <a:rect r="r" b="b" t="t" l="l"/>
            <a:pathLst>
              <a:path h="397184" w="397184">
                <a:moveTo>
                  <a:pt x="0" y="0"/>
                </a:moveTo>
                <a:lnTo>
                  <a:pt x="397184" y="0"/>
                </a:lnTo>
                <a:lnTo>
                  <a:pt x="397184" y="397184"/>
                </a:lnTo>
                <a:lnTo>
                  <a:pt x="0" y="3971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5400000">
            <a:off x="3290259" y="8873161"/>
            <a:ext cx="397184" cy="397184"/>
          </a:xfrm>
          <a:custGeom>
            <a:avLst/>
            <a:gdLst/>
            <a:ahLst/>
            <a:cxnLst/>
            <a:rect r="r" b="b" t="t" l="l"/>
            <a:pathLst>
              <a:path h="397184" w="397184">
                <a:moveTo>
                  <a:pt x="0" y="0"/>
                </a:moveTo>
                <a:lnTo>
                  <a:pt x="397184" y="0"/>
                </a:lnTo>
                <a:lnTo>
                  <a:pt x="397184" y="397184"/>
                </a:lnTo>
                <a:lnTo>
                  <a:pt x="0" y="3971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5400000">
            <a:off x="3687443" y="8862927"/>
            <a:ext cx="397184" cy="397184"/>
          </a:xfrm>
          <a:custGeom>
            <a:avLst/>
            <a:gdLst/>
            <a:ahLst/>
            <a:cxnLst/>
            <a:rect r="r" b="b" t="t" l="l"/>
            <a:pathLst>
              <a:path h="397184" w="397184">
                <a:moveTo>
                  <a:pt x="0" y="0"/>
                </a:moveTo>
                <a:lnTo>
                  <a:pt x="397183" y="0"/>
                </a:lnTo>
                <a:lnTo>
                  <a:pt x="397183" y="397184"/>
                </a:lnTo>
                <a:lnTo>
                  <a:pt x="0" y="39718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6994244" y="8519174"/>
            <a:ext cx="242689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4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產生訊號耦合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  </a:t>
            </a:r>
          </a:p>
          <a:p>
            <a:pPr algn="just" marL="0" indent="0" lvl="0">
              <a:lnSpc>
                <a:spcPts val="3749"/>
              </a:lnSpc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Signal Coupling</a:t>
            </a:r>
          </a:p>
        </p:txBody>
      </p:sp>
      <p:sp>
        <p:nvSpPr>
          <p:cNvPr name="AutoShape 83" id="83"/>
          <p:cNvSpPr/>
          <p:nvPr/>
        </p:nvSpPr>
        <p:spPr>
          <a:xfrm>
            <a:off x="6226409" y="8706310"/>
            <a:ext cx="767835" cy="308164"/>
          </a:xfrm>
          <a:prstGeom prst="line">
            <a:avLst/>
          </a:prstGeom>
          <a:ln cap="rnd" w="3810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 flipV="true">
            <a:off x="6226409" y="9014475"/>
            <a:ext cx="767835" cy="363404"/>
          </a:xfrm>
          <a:prstGeom prst="line">
            <a:avLst/>
          </a:prstGeom>
          <a:ln cap="rnd" w="3810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5" id="85"/>
          <p:cNvSpPr/>
          <p:nvPr/>
        </p:nvSpPr>
        <p:spPr>
          <a:xfrm flipH="false" flipV="false" rot="0">
            <a:off x="10362847" y="7132005"/>
            <a:ext cx="1355195" cy="796111"/>
          </a:xfrm>
          <a:custGeom>
            <a:avLst/>
            <a:gdLst/>
            <a:ahLst/>
            <a:cxnLst/>
            <a:rect r="r" b="b" t="t" l="l"/>
            <a:pathLst>
              <a:path h="796111" w="1355195">
                <a:moveTo>
                  <a:pt x="0" y="0"/>
                </a:moveTo>
                <a:lnTo>
                  <a:pt x="1355195" y="0"/>
                </a:lnTo>
                <a:lnTo>
                  <a:pt x="1355195" y="796111"/>
                </a:lnTo>
                <a:lnTo>
                  <a:pt x="0" y="7961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47278" t="0" r="-243474" b="-6956"/>
            </a:stretch>
          </a:blipFill>
        </p:spPr>
      </p:sp>
      <p:sp>
        <p:nvSpPr>
          <p:cNvPr name="TextBox 86" id="86"/>
          <p:cNvSpPr txBox="true"/>
          <p:nvPr/>
        </p:nvSpPr>
        <p:spPr>
          <a:xfrm rot="0">
            <a:off x="1028700" y="315476"/>
            <a:ext cx="9449555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材料效應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Material Effects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028700" y="5837436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•高介電質材料  (High-K)  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897650" y="2985965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•低介電質材料  (Low-K)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304340" y="3542091"/>
            <a:ext cx="7962302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49"/>
              </a:lnSpc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半導體製程進步使電路趨於綿密，工作頻率要求愈來愈快，晶片內部電路容易產生寄生電阻電容效應，進而使頻率無法再提升，加上寄生電阻的問題來自於線路本身的電阻性稱為阻容遲滯(RC Delay)。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304340" y="6427986"/>
            <a:ext cx="8116794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49"/>
              </a:lnSpc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電晶體製程的縮密，狹窄空間易產生漏電流，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閘極的漏電在於閘極與基極間的絕緣度不夠，必須用新材料來替換，要換替成更高絕緣度(k值大)材質。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0556072" y="7936261"/>
            <a:ext cx="116197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</a:pPr>
            <a:r>
              <a:rPr lang="en-US" sz="18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d↓，C↑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0243652" y="8314854"/>
            <a:ext cx="178681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</a:pPr>
            <a:r>
              <a:rPr lang="en-US" sz="18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ε(介電質)↑，C↑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05/24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536833">
            <a:off x="-4428213" y="-2916505"/>
            <a:ext cx="9627545" cy="9651674"/>
          </a:xfrm>
          <a:custGeom>
            <a:avLst/>
            <a:gdLst/>
            <a:ahLst/>
            <a:cxnLst/>
            <a:rect r="r" b="b" t="t" l="l"/>
            <a:pathLst>
              <a:path h="9651674" w="9627545">
                <a:moveTo>
                  <a:pt x="0" y="0"/>
                </a:moveTo>
                <a:lnTo>
                  <a:pt x="9627545" y="0"/>
                </a:lnTo>
                <a:lnTo>
                  <a:pt x="9627545" y="9651674"/>
                </a:lnTo>
                <a:lnTo>
                  <a:pt x="0" y="9651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7573183">
            <a:off x="1230111" y="7154961"/>
            <a:ext cx="1013029" cy="101302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448848" y="4571248"/>
            <a:ext cx="4061669" cy="4061669"/>
          </a:xfrm>
          <a:custGeom>
            <a:avLst/>
            <a:gdLst/>
            <a:ahLst/>
            <a:cxnLst/>
            <a:rect r="r" b="b" t="t" l="l"/>
            <a:pathLst>
              <a:path h="4061669" w="4061669">
                <a:moveTo>
                  <a:pt x="0" y="0"/>
                </a:moveTo>
                <a:lnTo>
                  <a:pt x="4061669" y="0"/>
                </a:lnTo>
                <a:lnTo>
                  <a:pt x="4061669" y="4061669"/>
                </a:lnTo>
                <a:lnTo>
                  <a:pt x="0" y="4061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7573183">
            <a:off x="7509844" y="6372526"/>
            <a:ext cx="459113" cy="45911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506082" y="4571248"/>
            <a:ext cx="5753218" cy="4061669"/>
          </a:xfrm>
          <a:custGeom>
            <a:avLst/>
            <a:gdLst/>
            <a:ahLst/>
            <a:cxnLst/>
            <a:rect r="r" b="b" t="t" l="l"/>
            <a:pathLst>
              <a:path h="4061669" w="5753218">
                <a:moveTo>
                  <a:pt x="0" y="0"/>
                </a:moveTo>
                <a:lnTo>
                  <a:pt x="5753218" y="0"/>
                </a:lnTo>
                <a:lnTo>
                  <a:pt x="5753218" y="4061669"/>
                </a:lnTo>
                <a:lnTo>
                  <a:pt x="0" y="40616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0556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090217" y="1019175"/>
            <a:ext cx="11169083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19"/>
              </a:lnSpc>
            </a:pPr>
            <a:r>
              <a:rPr lang="en-US" sz="105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功能製造</a:t>
            </a:r>
          </a:p>
          <a:p>
            <a:pPr algn="ctr" marL="0" indent="0" lvl="0">
              <a:lnSpc>
                <a:spcPts val="8279"/>
              </a:lnSpc>
            </a:pPr>
            <a:r>
              <a:rPr lang="en-US" b="true" sz="6899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Function of Manufacture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5560" y="800100"/>
            <a:ext cx="2058991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11927" y="9111932"/>
            <a:ext cx="991470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</a:pPr>
            <a:r>
              <a:rPr lang="en-US" sz="15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用樂高積木介紹半導體製程 - 投影片完整說明</a:t>
            </a:r>
            <a:r>
              <a:rPr lang="en-US" sz="15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 : </a:t>
            </a:r>
            <a:r>
              <a:rPr lang="en-US" sz="15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https://youtu.be/jKqvorv0gt4?si=H87pC85Wq1wFxhGw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600" y="9853782"/>
            <a:ext cx="661423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E2C4B"/>
                </a:solidFill>
                <a:latin typeface="jf-openhuninn-2.0"/>
                <a:ea typeface="jf-openhuninn-2.0"/>
                <a:cs typeface="jf-openhuninn-2.0"/>
                <a:sym typeface="jf-openhuninn-2.0"/>
              </a:rPr>
              <a:t>Designed by Wei Shuo Wang in Kaohsiung Use Canva.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06/24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98929"/>
            <a:ext cx="9853055" cy="188071"/>
            <a:chOff x="0" y="0"/>
            <a:chExt cx="2496405" cy="47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405" cy="47650"/>
            </a:xfrm>
            <a:custGeom>
              <a:avLst/>
              <a:gdLst/>
              <a:ahLst/>
              <a:cxnLst/>
              <a:rect r="r" b="b" t="t" l="l"/>
              <a:pathLst>
                <a:path h="47650" w="2496405">
                  <a:moveTo>
                    <a:pt x="0" y="0"/>
                  </a:moveTo>
                  <a:lnTo>
                    <a:pt x="2496405" y="0"/>
                  </a:lnTo>
                  <a:lnTo>
                    <a:pt x="2496405" y="47650"/>
                  </a:lnTo>
                  <a:lnTo>
                    <a:pt x="0" y="4765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6405" cy="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3055" y="0"/>
            <a:ext cx="8434945" cy="167138"/>
            <a:chOff x="0" y="0"/>
            <a:chExt cx="2137108" cy="423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42347"/>
            </a:xfrm>
            <a:custGeom>
              <a:avLst/>
              <a:gdLst/>
              <a:ahLst/>
              <a:cxnLst/>
              <a:rect r="r" b="b" t="t" l="l"/>
              <a:pathLst>
                <a:path h="42347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42347"/>
                  </a:lnTo>
                  <a:lnTo>
                    <a:pt x="0" y="4234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8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1537504"/>
            <a:ext cx="18288000" cy="7804556"/>
          </a:xfrm>
          <a:custGeom>
            <a:avLst/>
            <a:gdLst/>
            <a:ahLst/>
            <a:cxnLst/>
            <a:rect r="r" b="b" t="t" l="l"/>
            <a:pathLst>
              <a:path h="7804556" w="18288000">
                <a:moveTo>
                  <a:pt x="0" y="0"/>
                </a:moveTo>
                <a:lnTo>
                  <a:pt x="18288000" y="0"/>
                </a:lnTo>
                <a:lnTo>
                  <a:pt x="18288000" y="7804557"/>
                </a:lnTo>
                <a:lnTo>
                  <a:pt x="0" y="78045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64270" y="9594702"/>
            <a:ext cx="837756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19"/>
              </a:lnSpc>
            </a:pPr>
            <a:r>
              <a:rPr lang="en-US" sz="17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線上樂高積木網站</a:t>
            </a:r>
            <a:r>
              <a:rPr lang="en-US" sz="17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: https://www.mecabricks.com/en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07/24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1855" y="149170"/>
            <a:ext cx="11019390" cy="125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276"/>
              </a:lnSpc>
            </a:pPr>
            <a:r>
              <a:rPr lang="en-US" b="true" sz="734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使用線上3D樂高堆疊MOS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4819" y="654819"/>
            <a:ext cx="373881" cy="37388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98929"/>
            <a:ext cx="9853055" cy="188071"/>
            <a:chOff x="0" y="0"/>
            <a:chExt cx="2496405" cy="47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405" cy="47650"/>
            </a:xfrm>
            <a:custGeom>
              <a:avLst/>
              <a:gdLst/>
              <a:ahLst/>
              <a:cxnLst/>
              <a:rect r="r" b="b" t="t" l="l"/>
              <a:pathLst>
                <a:path h="47650" w="2496405">
                  <a:moveTo>
                    <a:pt x="0" y="0"/>
                  </a:moveTo>
                  <a:lnTo>
                    <a:pt x="2496405" y="0"/>
                  </a:lnTo>
                  <a:lnTo>
                    <a:pt x="2496405" y="47650"/>
                  </a:lnTo>
                  <a:lnTo>
                    <a:pt x="0" y="4765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6405" cy="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3055" y="0"/>
            <a:ext cx="8434945" cy="167138"/>
            <a:chOff x="0" y="0"/>
            <a:chExt cx="2137108" cy="423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42347"/>
            </a:xfrm>
            <a:custGeom>
              <a:avLst/>
              <a:gdLst/>
              <a:ahLst/>
              <a:cxnLst/>
              <a:rect r="r" b="b" t="t" l="l"/>
              <a:pathLst>
                <a:path h="42347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42347"/>
                  </a:lnTo>
                  <a:lnTo>
                    <a:pt x="0" y="4234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8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3769" y="841759"/>
            <a:ext cx="373881" cy="3738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618489" y="5410988"/>
            <a:ext cx="8669511" cy="4876012"/>
          </a:xfrm>
          <a:custGeom>
            <a:avLst/>
            <a:gdLst/>
            <a:ahLst/>
            <a:cxnLst/>
            <a:rect r="r" b="b" t="t" l="l"/>
            <a:pathLst>
              <a:path h="4876012" w="8669511">
                <a:moveTo>
                  <a:pt x="0" y="0"/>
                </a:moveTo>
                <a:lnTo>
                  <a:pt x="8669511" y="0"/>
                </a:lnTo>
                <a:lnTo>
                  <a:pt x="8669511" y="4876012"/>
                </a:lnTo>
                <a:lnTo>
                  <a:pt x="0" y="4876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8530450">
            <a:off x="14906728" y="3873040"/>
            <a:ext cx="2259398" cy="2593284"/>
          </a:xfrm>
          <a:custGeom>
            <a:avLst/>
            <a:gdLst/>
            <a:ahLst/>
            <a:cxnLst/>
            <a:rect r="r" b="b" t="t" l="l"/>
            <a:pathLst>
              <a:path h="2593284" w="2259398">
                <a:moveTo>
                  <a:pt x="0" y="0"/>
                </a:moveTo>
                <a:lnTo>
                  <a:pt x="2259398" y="0"/>
                </a:lnTo>
                <a:lnTo>
                  <a:pt x="2259398" y="2593284"/>
                </a:lnTo>
                <a:lnTo>
                  <a:pt x="0" y="2593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315476"/>
            <a:ext cx="9449555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薄膜沉積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Deposition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7275" y="4317091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•Diffusion  擴散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84050" y="5204614"/>
            <a:ext cx="2548358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 + O₂ ⇀ SiO₂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663253" y="3217740"/>
            <a:ext cx="2624747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2H₂ + O₂ ⇀ 2H₂O</a:t>
            </a:r>
          </a:p>
        </p:txBody>
      </p:sp>
      <p:sp>
        <p:nvSpPr>
          <p:cNvPr name="TextBox 17" id="17"/>
          <p:cNvSpPr txBox="true"/>
          <p:nvPr/>
        </p:nvSpPr>
        <p:spPr>
          <a:xfrm rot="1673801">
            <a:off x="12543528" y="7259798"/>
            <a:ext cx="984121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18" id="18"/>
          <p:cNvSpPr txBox="true"/>
          <p:nvPr/>
        </p:nvSpPr>
        <p:spPr>
          <a:xfrm rot="2036663">
            <a:off x="12111987" y="8074128"/>
            <a:ext cx="1932337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5850" y="2985965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•Oxidation 氧化  (SiO₂ 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5982" y="3563506"/>
            <a:ext cx="646803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以爐管高溫烘烤方式在表面形成絕緣氧化層。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7275" y="7786489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•Anneal 退火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5939" y="8367514"/>
            <a:ext cx="8098262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將金屬加溫到高於再結晶溫度的某一溫度並維持此溫度一段時間，再將其緩慢冷卻增加柔軟性、延展性和韌性，並釋放內部殘留應力、以及產生特定的顯微結構。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5850" y="6050046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•Alloy 合金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48802" y="6631071"/>
            <a:ext cx="812683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完成金屬導線製程的晶片必須經過合金的製程，使鋁金屬導線層能與矽密切熔合。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887830" y="448826"/>
            <a:ext cx="3728879" cy="3672962"/>
            <a:chOff x="0" y="0"/>
            <a:chExt cx="4971839" cy="4897282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2694108" y="572090"/>
              <a:ext cx="2263107" cy="4325192"/>
              <a:chOff x="0" y="0"/>
              <a:chExt cx="447033" cy="854359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47033" cy="854359"/>
              </a:xfrm>
              <a:custGeom>
                <a:avLst/>
                <a:gdLst/>
                <a:ahLst/>
                <a:cxnLst/>
                <a:rect r="r" b="b" t="t" l="l"/>
                <a:pathLst>
                  <a:path h="854359" w="447033">
                    <a:moveTo>
                      <a:pt x="149092" y="19070"/>
                    </a:moveTo>
                    <a:cubicBezTo>
                      <a:pt x="171936" y="7556"/>
                      <a:pt x="198065" y="0"/>
                      <a:pt x="223637" y="0"/>
                    </a:cubicBezTo>
                    <a:cubicBezTo>
                      <a:pt x="249210" y="0"/>
                      <a:pt x="273817" y="6476"/>
                      <a:pt x="296494" y="17990"/>
                    </a:cubicBezTo>
                    <a:cubicBezTo>
                      <a:pt x="296977" y="18350"/>
                      <a:pt x="297460" y="18350"/>
                      <a:pt x="297942" y="18710"/>
                    </a:cubicBezTo>
                    <a:cubicBezTo>
                      <a:pt x="383103" y="64765"/>
                      <a:pt x="445827" y="186379"/>
                      <a:pt x="447033" y="329425"/>
                    </a:cubicBezTo>
                    <a:lnTo>
                      <a:pt x="447033" y="706119"/>
                    </a:lnTo>
                    <a:cubicBezTo>
                      <a:pt x="447033" y="745435"/>
                      <a:pt x="431415" y="783140"/>
                      <a:pt x="403615" y="810940"/>
                    </a:cubicBezTo>
                    <a:cubicBezTo>
                      <a:pt x="375815" y="838741"/>
                      <a:pt x="338109" y="854359"/>
                      <a:pt x="298793" y="854359"/>
                    </a:cubicBezTo>
                    <a:lnTo>
                      <a:pt x="148240" y="854359"/>
                    </a:lnTo>
                    <a:cubicBezTo>
                      <a:pt x="66369" y="854359"/>
                      <a:pt x="0" y="787990"/>
                      <a:pt x="0" y="706119"/>
                    </a:cubicBezTo>
                    <a:lnTo>
                      <a:pt x="0" y="329815"/>
                    </a:lnTo>
                    <a:cubicBezTo>
                      <a:pt x="1206" y="185660"/>
                      <a:pt x="62966" y="64045"/>
                      <a:pt x="149092" y="19070"/>
                    </a:cubicBezTo>
                    <a:lnTo>
                      <a:pt x="149092" y="19070"/>
                    </a:lnTo>
                    <a:close/>
                  </a:path>
                </a:pathLst>
              </a:custGeom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88900"/>
                <a:ext cx="447033" cy="7654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>
              <a:off x="2752602" y="2193841"/>
              <a:ext cx="2189990" cy="284091"/>
            </a:xfrm>
            <a:custGeom>
              <a:avLst/>
              <a:gdLst/>
              <a:ahLst/>
              <a:cxnLst/>
              <a:rect r="r" b="b" t="t" l="l"/>
              <a:pathLst>
                <a:path h="284091" w="2189990">
                  <a:moveTo>
                    <a:pt x="0" y="0"/>
                  </a:moveTo>
                  <a:quadBezTo>
                    <a:pt x="1094995" y="568183"/>
                    <a:pt x="2189990" y="0"/>
                  </a:quadBezTo>
                </a:path>
              </a:pathLst>
            </a:custGeom>
            <a:ln cap="flat" w="63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0" id="30"/>
            <p:cNvSpPr/>
            <p:nvPr/>
          </p:nvSpPr>
          <p:spPr>
            <a:xfrm>
              <a:off x="2723355" y="2537864"/>
              <a:ext cx="2189990" cy="284091"/>
            </a:xfrm>
            <a:custGeom>
              <a:avLst/>
              <a:gdLst/>
              <a:ahLst/>
              <a:cxnLst/>
              <a:rect r="r" b="b" t="t" l="l"/>
              <a:pathLst>
                <a:path h="284091" w="2189990">
                  <a:moveTo>
                    <a:pt x="0" y="0"/>
                  </a:moveTo>
                  <a:quadBezTo>
                    <a:pt x="1094995" y="568183"/>
                    <a:pt x="2189990" y="0"/>
                  </a:quadBezTo>
                </a:path>
              </a:pathLst>
            </a:custGeom>
            <a:ln cap="flat" w="63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1" id="31"/>
            <p:cNvSpPr/>
            <p:nvPr/>
          </p:nvSpPr>
          <p:spPr>
            <a:xfrm>
              <a:off x="2767225" y="2888108"/>
              <a:ext cx="2189990" cy="284091"/>
            </a:xfrm>
            <a:custGeom>
              <a:avLst/>
              <a:gdLst/>
              <a:ahLst/>
              <a:cxnLst/>
              <a:rect r="r" b="b" t="t" l="l"/>
              <a:pathLst>
                <a:path h="284091" w="2189990">
                  <a:moveTo>
                    <a:pt x="0" y="0"/>
                  </a:moveTo>
                  <a:quadBezTo>
                    <a:pt x="1094995" y="568183"/>
                    <a:pt x="2189990" y="0"/>
                  </a:quadBezTo>
                </a:path>
              </a:pathLst>
            </a:custGeom>
            <a:ln cap="flat" w="63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2" id="32"/>
            <p:cNvSpPr/>
            <p:nvPr/>
          </p:nvSpPr>
          <p:spPr>
            <a:xfrm>
              <a:off x="2723355" y="3426864"/>
              <a:ext cx="2189990" cy="284091"/>
            </a:xfrm>
            <a:custGeom>
              <a:avLst/>
              <a:gdLst/>
              <a:ahLst/>
              <a:cxnLst/>
              <a:rect r="r" b="b" t="t" l="l"/>
              <a:pathLst>
                <a:path h="284091" w="2189990">
                  <a:moveTo>
                    <a:pt x="0" y="0"/>
                  </a:moveTo>
                  <a:quadBezTo>
                    <a:pt x="1094995" y="568183"/>
                    <a:pt x="2189990" y="0"/>
                  </a:quadBezTo>
                </a:path>
              </a:pathLst>
            </a:custGeom>
            <a:ln cap="flat" w="63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3" id="33"/>
            <p:cNvSpPr/>
            <p:nvPr/>
          </p:nvSpPr>
          <p:spPr>
            <a:xfrm>
              <a:off x="2694108" y="3770887"/>
              <a:ext cx="2189990" cy="284091"/>
            </a:xfrm>
            <a:custGeom>
              <a:avLst/>
              <a:gdLst/>
              <a:ahLst/>
              <a:cxnLst/>
              <a:rect r="r" b="b" t="t" l="l"/>
              <a:pathLst>
                <a:path h="284091" w="2189990">
                  <a:moveTo>
                    <a:pt x="0" y="0"/>
                  </a:moveTo>
                  <a:quadBezTo>
                    <a:pt x="1094996" y="568183"/>
                    <a:pt x="2189991" y="0"/>
                  </a:quadBezTo>
                </a:path>
              </a:pathLst>
            </a:custGeom>
            <a:ln cap="flat" w="63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4" id="34"/>
            <p:cNvSpPr/>
            <p:nvPr/>
          </p:nvSpPr>
          <p:spPr>
            <a:xfrm>
              <a:off x="2737978" y="4121131"/>
              <a:ext cx="2189990" cy="284091"/>
            </a:xfrm>
            <a:custGeom>
              <a:avLst/>
              <a:gdLst/>
              <a:ahLst/>
              <a:cxnLst/>
              <a:rect r="r" b="b" t="t" l="l"/>
              <a:pathLst>
                <a:path h="284091" w="2189990">
                  <a:moveTo>
                    <a:pt x="0" y="0"/>
                  </a:moveTo>
                  <a:quadBezTo>
                    <a:pt x="1094996" y="568183"/>
                    <a:pt x="2189991" y="0"/>
                  </a:quadBezTo>
                </a:path>
              </a:pathLst>
            </a:custGeom>
            <a:ln cap="flat" w="63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5" id="35"/>
            <p:cNvGrpSpPr/>
            <p:nvPr/>
          </p:nvGrpSpPr>
          <p:grpSpPr>
            <a:xfrm rot="0">
              <a:off x="0" y="1863137"/>
              <a:ext cx="2057400" cy="1340812"/>
              <a:chOff x="0" y="0"/>
              <a:chExt cx="406400" cy="264852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06400" cy="264852"/>
              </a:xfrm>
              <a:custGeom>
                <a:avLst/>
                <a:gdLst/>
                <a:ahLst/>
                <a:cxnLst/>
                <a:rect r="r" b="b" t="t" l="l"/>
                <a:pathLst>
                  <a:path h="264852" w="406400">
                    <a:moveTo>
                      <a:pt x="132426" y="0"/>
                    </a:moveTo>
                    <a:lnTo>
                      <a:pt x="273974" y="0"/>
                    </a:lnTo>
                    <a:cubicBezTo>
                      <a:pt x="309096" y="0"/>
                      <a:pt x="342779" y="13952"/>
                      <a:pt x="367613" y="38787"/>
                    </a:cubicBezTo>
                    <a:cubicBezTo>
                      <a:pt x="392448" y="63621"/>
                      <a:pt x="406400" y="97304"/>
                      <a:pt x="406400" y="132426"/>
                    </a:cubicBezTo>
                    <a:lnTo>
                      <a:pt x="406400" y="132426"/>
                    </a:lnTo>
                    <a:cubicBezTo>
                      <a:pt x="406400" y="205563"/>
                      <a:pt x="347111" y="264852"/>
                      <a:pt x="273974" y="264852"/>
                    </a:cubicBezTo>
                    <a:lnTo>
                      <a:pt x="132426" y="264852"/>
                    </a:lnTo>
                    <a:cubicBezTo>
                      <a:pt x="97304" y="264852"/>
                      <a:pt x="63621" y="250900"/>
                      <a:pt x="38787" y="226065"/>
                    </a:cubicBezTo>
                    <a:cubicBezTo>
                      <a:pt x="13952" y="201231"/>
                      <a:pt x="0" y="167547"/>
                      <a:pt x="0" y="132426"/>
                    </a:cubicBezTo>
                    <a:lnTo>
                      <a:pt x="0" y="132426"/>
                    </a:lnTo>
                    <a:cubicBezTo>
                      <a:pt x="0" y="97304"/>
                      <a:pt x="13952" y="63621"/>
                      <a:pt x="38787" y="38787"/>
                    </a:cubicBezTo>
                    <a:cubicBezTo>
                      <a:pt x="63621" y="13952"/>
                      <a:pt x="97304" y="0"/>
                      <a:pt x="132426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406400" cy="3029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  <a:r>
                  <a:rPr lang="en-US" sz="2199">
                    <a:solidFill>
                      <a:srgbClr val="000000"/>
                    </a:solidFill>
                    <a:latin typeface="Noto Sans T Chinese"/>
                    <a:ea typeface="Noto Sans T Chinese"/>
                    <a:cs typeface="Noto Sans T Chinese"/>
                    <a:sym typeface="Noto Sans T Chinese"/>
                  </a:rPr>
                  <a:t>加熱器</a:t>
                </a:r>
              </a:p>
            </p:txBody>
          </p:sp>
        </p:grpSp>
        <p:sp>
          <p:nvSpPr>
            <p:cNvPr name="AutoShape 38" id="38"/>
            <p:cNvSpPr/>
            <p:nvPr/>
          </p:nvSpPr>
          <p:spPr>
            <a:xfrm>
              <a:off x="1956784" y="2219241"/>
              <a:ext cx="836887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1930338" y="2862708"/>
              <a:ext cx="836887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1901092" y="3452264"/>
              <a:ext cx="836887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1956784" y="4146531"/>
              <a:ext cx="836887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2" id="42"/>
            <p:cNvGrpSpPr/>
            <p:nvPr/>
          </p:nvGrpSpPr>
          <p:grpSpPr>
            <a:xfrm rot="0">
              <a:off x="0" y="3203950"/>
              <a:ext cx="2057400" cy="1340812"/>
              <a:chOff x="0" y="0"/>
              <a:chExt cx="406400" cy="264852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06400" cy="264852"/>
              </a:xfrm>
              <a:custGeom>
                <a:avLst/>
                <a:gdLst/>
                <a:ahLst/>
                <a:cxnLst/>
                <a:rect r="r" b="b" t="t" l="l"/>
                <a:pathLst>
                  <a:path h="264852" w="406400">
                    <a:moveTo>
                      <a:pt x="132426" y="0"/>
                    </a:moveTo>
                    <a:lnTo>
                      <a:pt x="273974" y="0"/>
                    </a:lnTo>
                    <a:cubicBezTo>
                      <a:pt x="309096" y="0"/>
                      <a:pt x="342779" y="13952"/>
                      <a:pt x="367613" y="38787"/>
                    </a:cubicBezTo>
                    <a:cubicBezTo>
                      <a:pt x="392448" y="63621"/>
                      <a:pt x="406400" y="97304"/>
                      <a:pt x="406400" y="132426"/>
                    </a:cubicBezTo>
                    <a:lnTo>
                      <a:pt x="406400" y="132426"/>
                    </a:lnTo>
                    <a:cubicBezTo>
                      <a:pt x="406400" y="205563"/>
                      <a:pt x="347111" y="264852"/>
                      <a:pt x="273974" y="264852"/>
                    </a:cubicBezTo>
                    <a:lnTo>
                      <a:pt x="132426" y="264852"/>
                    </a:lnTo>
                    <a:cubicBezTo>
                      <a:pt x="97304" y="264852"/>
                      <a:pt x="63621" y="250900"/>
                      <a:pt x="38787" y="226065"/>
                    </a:cubicBezTo>
                    <a:cubicBezTo>
                      <a:pt x="13952" y="201231"/>
                      <a:pt x="0" y="167547"/>
                      <a:pt x="0" y="132426"/>
                    </a:cubicBezTo>
                    <a:lnTo>
                      <a:pt x="0" y="132426"/>
                    </a:lnTo>
                    <a:cubicBezTo>
                      <a:pt x="0" y="97304"/>
                      <a:pt x="13952" y="63621"/>
                      <a:pt x="38787" y="38787"/>
                    </a:cubicBezTo>
                    <a:cubicBezTo>
                      <a:pt x="63621" y="13952"/>
                      <a:pt x="97304" y="0"/>
                      <a:pt x="132426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406400" cy="3029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79"/>
                  </a:lnSpc>
                </a:pPr>
                <a:r>
                  <a:rPr lang="en-US" sz="2199">
                    <a:solidFill>
                      <a:srgbClr val="000000"/>
                    </a:solidFill>
                    <a:latin typeface="Noto Sans T Chinese"/>
                    <a:ea typeface="Noto Sans T Chinese"/>
                    <a:cs typeface="Noto Sans T Chinese"/>
                    <a:sym typeface="Noto Sans T Chinese"/>
                  </a:rPr>
                  <a:t>加熱器</a:t>
                </a: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2765544" y="0"/>
              <a:ext cx="2120236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Quartz tube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884050" y="4786694"/>
            <a:ext cx="3274369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 + 2H₂O ⇀ SiO₂+2H₂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87407" y="4856246"/>
            <a:ext cx="811679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分子通過布朗運動從高濃度區域向低濃度區域的運輸的過程，利用此過程稱為擴散。</a:t>
            </a:r>
          </a:p>
        </p:txBody>
      </p:sp>
      <p:sp>
        <p:nvSpPr>
          <p:cNvPr name="AutoShape 48" id="48"/>
          <p:cNvSpPr/>
          <p:nvPr/>
        </p:nvSpPr>
        <p:spPr>
          <a:xfrm flipH="true">
            <a:off x="710710" y="3224090"/>
            <a:ext cx="375140" cy="5191050"/>
          </a:xfrm>
          <a:prstGeom prst="line">
            <a:avLst/>
          </a:prstGeom>
          <a:ln cap="rnd" w="47625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TextBox 49" id="49"/>
          <p:cNvSpPr txBox="true"/>
          <p:nvPr/>
        </p:nvSpPr>
        <p:spPr>
          <a:xfrm rot="0">
            <a:off x="440450" y="4999170"/>
            <a:ext cx="457200" cy="1245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熱製程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08/24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76504" y="3722434"/>
            <a:ext cx="8711496" cy="4896611"/>
          </a:xfrm>
          <a:custGeom>
            <a:avLst/>
            <a:gdLst/>
            <a:ahLst/>
            <a:cxnLst/>
            <a:rect r="r" b="b" t="t" l="l"/>
            <a:pathLst>
              <a:path h="4896611" w="8711496">
                <a:moveTo>
                  <a:pt x="0" y="0"/>
                </a:moveTo>
                <a:lnTo>
                  <a:pt x="8711496" y="0"/>
                </a:lnTo>
                <a:lnTo>
                  <a:pt x="8711496" y="4896611"/>
                </a:lnTo>
                <a:lnTo>
                  <a:pt x="0" y="4896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119862"/>
            <a:ext cx="9853055" cy="187240"/>
            <a:chOff x="0" y="0"/>
            <a:chExt cx="2496405" cy="474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96405" cy="47440"/>
            </a:xfrm>
            <a:custGeom>
              <a:avLst/>
              <a:gdLst/>
              <a:ahLst/>
              <a:cxnLst/>
              <a:rect r="r" b="b" t="t" l="l"/>
              <a:pathLst>
                <a:path h="47440" w="2496405">
                  <a:moveTo>
                    <a:pt x="0" y="0"/>
                  </a:moveTo>
                  <a:lnTo>
                    <a:pt x="2496405" y="0"/>
                  </a:lnTo>
                  <a:lnTo>
                    <a:pt x="2496405" y="47440"/>
                  </a:lnTo>
                  <a:lnTo>
                    <a:pt x="0" y="4744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96405" cy="85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53055" y="0"/>
            <a:ext cx="8434945" cy="167138"/>
            <a:chOff x="0" y="0"/>
            <a:chExt cx="2137108" cy="423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7108" cy="42347"/>
            </a:xfrm>
            <a:custGeom>
              <a:avLst/>
              <a:gdLst/>
              <a:ahLst/>
              <a:cxnLst/>
              <a:rect r="r" b="b" t="t" l="l"/>
              <a:pathLst>
                <a:path h="42347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42347"/>
                  </a:lnTo>
                  <a:lnTo>
                    <a:pt x="0" y="4234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37108" cy="8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3769" y="841759"/>
            <a:ext cx="373881" cy="37388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1107567">
            <a:off x="15228535" y="2358942"/>
            <a:ext cx="1426441" cy="1858555"/>
          </a:xfrm>
          <a:custGeom>
            <a:avLst/>
            <a:gdLst/>
            <a:ahLst/>
            <a:cxnLst/>
            <a:rect r="r" b="b" t="t" l="l"/>
            <a:pathLst>
              <a:path h="1858555" w="1426441">
                <a:moveTo>
                  <a:pt x="0" y="0"/>
                </a:moveTo>
                <a:lnTo>
                  <a:pt x="1426442" y="0"/>
                </a:lnTo>
                <a:lnTo>
                  <a:pt x="1426442" y="1858556"/>
                </a:lnTo>
                <a:lnTo>
                  <a:pt x="0" y="18585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1673801">
            <a:off x="12160939" y="5661522"/>
            <a:ext cx="984121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14" id="14"/>
          <p:cNvSpPr txBox="true"/>
          <p:nvPr/>
        </p:nvSpPr>
        <p:spPr>
          <a:xfrm rot="1882111">
            <a:off x="11853991" y="6491469"/>
            <a:ext cx="1932337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15" id="15"/>
          <p:cNvSpPr txBox="true"/>
          <p:nvPr/>
        </p:nvSpPr>
        <p:spPr>
          <a:xfrm rot="1451484">
            <a:off x="11967868" y="5129520"/>
            <a:ext cx="15205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15476"/>
            <a:ext cx="5389850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光阻劑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988313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•Vapor Prime 表面預處理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3582" y="3615421"/>
            <a:ext cx="848947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為了確保光阻有效的附著於晶圓上，必須確認晶圓是乾淨且沒有水分的狀態，若有水分，必須進行脫水烘烤。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1107567">
            <a:off x="13733161" y="1965099"/>
            <a:ext cx="1426441" cy="1858555"/>
          </a:xfrm>
          <a:custGeom>
            <a:avLst/>
            <a:gdLst/>
            <a:ahLst/>
            <a:cxnLst/>
            <a:rect r="r" b="b" t="t" l="l"/>
            <a:pathLst>
              <a:path h="1858555" w="1426441">
                <a:moveTo>
                  <a:pt x="0" y="0"/>
                </a:moveTo>
                <a:lnTo>
                  <a:pt x="1426441" y="0"/>
                </a:lnTo>
                <a:lnTo>
                  <a:pt x="1426441" y="1858556"/>
                </a:lnTo>
                <a:lnTo>
                  <a:pt x="0" y="18585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4800327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•Spin Coat 旋轉塗佈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3582" y="5425945"/>
            <a:ext cx="821292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以噴嘴噴射或滴落光阻液至晶片或基材上，利用離心力使溶液擴散。控制厚度因子:  旋轉速度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6610220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•Soft bake 軟烘烤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3582" y="7238870"/>
            <a:ext cx="821292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透過溫度90 - 100°C進行烘烤，除了可去除光阻大部分溶劑外，還可以提高光阻黏著度，將抗蝕刻均勻性提高。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8423146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•Cooling 冷卻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3582" y="9051796"/>
            <a:ext cx="821292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必須在冷板上快速進行冷卻。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09/24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98929"/>
            <a:ext cx="9853055" cy="188071"/>
            <a:chOff x="0" y="0"/>
            <a:chExt cx="2496405" cy="47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405" cy="47650"/>
            </a:xfrm>
            <a:custGeom>
              <a:avLst/>
              <a:gdLst/>
              <a:ahLst/>
              <a:cxnLst/>
              <a:rect r="r" b="b" t="t" l="l"/>
              <a:pathLst>
                <a:path h="47650" w="2496405">
                  <a:moveTo>
                    <a:pt x="0" y="0"/>
                  </a:moveTo>
                  <a:lnTo>
                    <a:pt x="2496405" y="0"/>
                  </a:lnTo>
                  <a:lnTo>
                    <a:pt x="2496405" y="47650"/>
                  </a:lnTo>
                  <a:lnTo>
                    <a:pt x="0" y="4765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6405" cy="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3055" y="0"/>
            <a:ext cx="8434945" cy="167138"/>
            <a:chOff x="0" y="0"/>
            <a:chExt cx="2137108" cy="423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42347"/>
            </a:xfrm>
            <a:custGeom>
              <a:avLst/>
              <a:gdLst/>
              <a:ahLst/>
              <a:cxnLst/>
              <a:rect r="r" b="b" t="t" l="l"/>
              <a:pathLst>
                <a:path h="42347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42347"/>
                  </a:lnTo>
                  <a:lnTo>
                    <a:pt x="0" y="4234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8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3769" y="841759"/>
            <a:ext cx="373881" cy="3738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059570" y="1226475"/>
            <a:ext cx="8373877" cy="4706840"/>
          </a:xfrm>
          <a:custGeom>
            <a:avLst/>
            <a:gdLst/>
            <a:ahLst/>
            <a:cxnLst/>
            <a:rect r="r" b="b" t="t" l="l"/>
            <a:pathLst>
              <a:path h="4706840" w="8373877">
                <a:moveTo>
                  <a:pt x="0" y="0"/>
                </a:moveTo>
                <a:lnTo>
                  <a:pt x="8373876" y="0"/>
                </a:lnTo>
                <a:lnTo>
                  <a:pt x="8373876" y="4706839"/>
                </a:lnTo>
                <a:lnTo>
                  <a:pt x="0" y="47068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11885378" y="40930"/>
            <a:ext cx="2754818" cy="504360"/>
          </a:xfrm>
          <a:custGeom>
            <a:avLst/>
            <a:gdLst/>
            <a:ahLst/>
            <a:cxnLst/>
            <a:rect r="r" b="b" t="t" l="l"/>
            <a:pathLst>
              <a:path h="504360" w="2754818">
                <a:moveTo>
                  <a:pt x="0" y="0"/>
                </a:moveTo>
                <a:lnTo>
                  <a:pt x="2754818" y="0"/>
                </a:lnTo>
                <a:lnTo>
                  <a:pt x="2754818" y="504360"/>
                </a:lnTo>
                <a:lnTo>
                  <a:pt x="0" y="5043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572" t="-38587" r="-10703" b="-38587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1673801">
            <a:off x="13031468" y="3886305"/>
            <a:ext cx="878746" cy="30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0"/>
              </a:lnSpc>
              <a:spcBef>
                <a:spcPct val="0"/>
              </a:spcBef>
            </a:pPr>
            <a:r>
              <a:rPr lang="en-US" b="true" sz="178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14" id="14"/>
          <p:cNvSpPr txBox="true"/>
          <p:nvPr/>
        </p:nvSpPr>
        <p:spPr>
          <a:xfrm rot="1882111">
            <a:off x="12741423" y="4450934"/>
            <a:ext cx="1725432" cy="30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0"/>
              </a:lnSpc>
              <a:spcBef>
                <a:spcPct val="0"/>
              </a:spcBef>
            </a:pPr>
            <a:r>
              <a:rPr lang="en-US" b="true" sz="178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15" id="15"/>
          <p:cNvSpPr txBox="true"/>
          <p:nvPr/>
        </p:nvSpPr>
        <p:spPr>
          <a:xfrm rot="1761635">
            <a:off x="12741654" y="3474013"/>
            <a:ext cx="1357709" cy="30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0"/>
              </a:lnSpc>
              <a:spcBef>
                <a:spcPct val="0"/>
              </a:spcBef>
            </a:pPr>
            <a:r>
              <a:rPr lang="en-US" b="true" sz="178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5400000">
            <a:off x="13267009" y="316253"/>
            <a:ext cx="3305463" cy="504360"/>
          </a:xfrm>
          <a:custGeom>
            <a:avLst/>
            <a:gdLst/>
            <a:ahLst/>
            <a:cxnLst/>
            <a:rect r="r" b="b" t="t" l="l"/>
            <a:pathLst>
              <a:path h="504360" w="3305463">
                <a:moveTo>
                  <a:pt x="0" y="0"/>
                </a:moveTo>
                <a:lnTo>
                  <a:pt x="3305463" y="0"/>
                </a:lnTo>
                <a:lnTo>
                  <a:pt x="3305463" y="504360"/>
                </a:lnTo>
                <a:lnTo>
                  <a:pt x="0" y="5043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8122" t="-45647" r="-10191" b="-45647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315476"/>
            <a:ext cx="5389850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微影製程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Photolithography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4166174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•曝光後烘烤  (顯影前)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0257" y="4791792"/>
            <a:ext cx="8422798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在曝光過程中，在曝光區與非曝光區邊界將會出現駐波效應，此效應將會在兩個區域的邊界附近形成強弱相間的過渡區，這將影響顯影後形成的圖形尺寸和解析度。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426885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•顯影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0257" y="7052503"/>
            <a:ext cx="842279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照射到光的部分，發生光化學反應，使光阻劑產生化學變化，並溶於特定顯影液，沒照光的地方不溶。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8332929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•硬烘烤  (顯影後)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0257" y="8958547"/>
            <a:ext cx="842279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蒸發所有光阻中的溶劑，增加抗蝕刻及佈植能力，增加光阻和表面的附著力，改善材質穩定度。</a:t>
            </a:r>
          </a:p>
        </p:txBody>
      </p:sp>
      <p:grpSp>
        <p:nvGrpSpPr>
          <p:cNvPr name="Group 24" id="24"/>
          <p:cNvGrpSpPr/>
          <p:nvPr/>
        </p:nvGrpSpPr>
        <p:grpSpPr>
          <a:xfrm rot="-128561">
            <a:off x="9517927" y="5904739"/>
            <a:ext cx="7642119" cy="4298692"/>
            <a:chOff x="0" y="0"/>
            <a:chExt cx="10189492" cy="57315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89492" cy="5731589"/>
            </a:xfrm>
            <a:custGeom>
              <a:avLst/>
              <a:gdLst/>
              <a:ahLst/>
              <a:cxnLst/>
              <a:rect r="r" b="b" t="t" l="l"/>
              <a:pathLst>
                <a:path h="5731589" w="10189492">
                  <a:moveTo>
                    <a:pt x="0" y="0"/>
                  </a:moveTo>
                  <a:lnTo>
                    <a:pt x="10189492" y="0"/>
                  </a:lnTo>
                  <a:lnTo>
                    <a:pt x="10189492" y="5731589"/>
                  </a:lnTo>
                  <a:lnTo>
                    <a:pt x="0" y="5731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-1745134">
              <a:off x="1351616" y="4115414"/>
              <a:ext cx="935638" cy="649099"/>
            </a:xfrm>
            <a:custGeom>
              <a:avLst/>
              <a:gdLst/>
              <a:ahLst/>
              <a:cxnLst/>
              <a:rect r="r" b="b" t="t" l="l"/>
              <a:pathLst>
                <a:path h="649099" w="935638">
                  <a:moveTo>
                    <a:pt x="0" y="0"/>
                  </a:moveTo>
                  <a:lnTo>
                    <a:pt x="935638" y="0"/>
                  </a:lnTo>
                  <a:lnTo>
                    <a:pt x="935638" y="649099"/>
                  </a:lnTo>
                  <a:lnTo>
                    <a:pt x="0" y="649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-1745134">
              <a:off x="785022" y="2018504"/>
              <a:ext cx="935638" cy="649099"/>
            </a:xfrm>
            <a:custGeom>
              <a:avLst/>
              <a:gdLst/>
              <a:ahLst/>
              <a:cxnLst/>
              <a:rect r="r" b="b" t="t" l="l"/>
              <a:pathLst>
                <a:path h="649099" w="935638">
                  <a:moveTo>
                    <a:pt x="0" y="0"/>
                  </a:moveTo>
                  <a:lnTo>
                    <a:pt x="935639" y="0"/>
                  </a:lnTo>
                  <a:lnTo>
                    <a:pt x="935639" y="649099"/>
                  </a:lnTo>
                  <a:lnTo>
                    <a:pt x="0" y="649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1189885">
            <a:off x="12994942" y="2049531"/>
            <a:ext cx="630289" cy="30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0"/>
              </a:lnSpc>
              <a:spcBef>
                <a:spcPct val="0"/>
              </a:spcBef>
            </a:pPr>
            <a:r>
              <a:rPr lang="en-US" b="true" sz="178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Mask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2784906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•曝光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30257" y="3410524"/>
            <a:ext cx="842279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使用曝光機，使用光罩搭配對準機制進行曝光。</a:t>
            </a:r>
          </a:p>
        </p:txBody>
      </p:sp>
      <p:sp>
        <p:nvSpPr>
          <p:cNvPr name="TextBox 31" id="31"/>
          <p:cNvSpPr txBox="true"/>
          <p:nvPr/>
        </p:nvSpPr>
        <p:spPr>
          <a:xfrm rot="1905145">
            <a:off x="13960634" y="6495097"/>
            <a:ext cx="1357709" cy="30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0"/>
              </a:lnSpc>
              <a:spcBef>
                <a:spcPct val="0"/>
              </a:spcBef>
            </a:pPr>
            <a:r>
              <a:rPr lang="en-US" b="true" sz="178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TextBox 32" id="32"/>
          <p:cNvSpPr txBox="true"/>
          <p:nvPr/>
        </p:nvSpPr>
        <p:spPr>
          <a:xfrm rot="2572722">
            <a:off x="13198405" y="7599596"/>
            <a:ext cx="552971" cy="30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0"/>
              </a:lnSpc>
              <a:spcBef>
                <a:spcPct val="0"/>
              </a:spcBef>
            </a:pPr>
            <a:r>
              <a:rPr lang="en-US" b="true" sz="178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33" id="33"/>
          <p:cNvSpPr txBox="true"/>
          <p:nvPr/>
        </p:nvSpPr>
        <p:spPr>
          <a:xfrm rot="2700000">
            <a:off x="12753546" y="7954321"/>
            <a:ext cx="1127096" cy="30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0"/>
              </a:lnSpc>
              <a:spcBef>
                <a:spcPct val="0"/>
              </a:spcBef>
            </a:pPr>
            <a:r>
              <a:rPr lang="en-US" b="true" sz="178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10/24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98929"/>
            <a:ext cx="9853055" cy="188071"/>
            <a:chOff x="0" y="0"/>
            <a:chExt cx="2496405" cy="47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405" cy="47650"/>
            </a:xfrm>
            <a:custGeom>
              <a:avLst/>
              <a:gdLst/>
              <a:ahLst/>
              <a:cxnLst/>
              <a:rect r="r" b="b" t="t" l="l"/>
              <a:pathLst>
                <a:path h="47650" w="2496405">
                  <a:moveTo>
                    <a:pt x="0" y="0"/>
                  </a:moveTo>
                  <a:lnTo>
                    <a:pt x="2496405" y="0"/>
                  </a:lnTo>
                  <a:lnTo>
                    <a:pt x="2496405" y="47650"/>
                  </a:lnTo>
                  <a:lnTo>
                    <a:pt x="0" y="4765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6405" cy="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3055" y="0"/>
            <a:ext cx="8434945" cy="167138"/>
            <a:chOff x="0" y="0"/>
            <a:chExt cx="2137108" cy="423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42347"/>
            </a:xfrm>
            <a:custGeom>
              <a:avLst/>
              <a:gdLst/>
              <a:ahLst/>
              <a:cxnLst/>
              <a:rect r="r" b="b" t="t" l="l"/>
              <a:pathLst>
                <a:path h="42347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42347"/>
                  </a:lnTo>
                  <a:lnTo>
                    <a:pt x="0" y="4234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8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3769" y="841759"/>
            <a:ext cx="373881" cy="3738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873695">
            <a:off x="13958470" y="3748688"/>
            <a:ext cx="634629" cy="440274"/>
          </a:xfrm>
          <a:custGeom>
            <a:avLst/>
            <a:gdLst/>
            <a:ahLst/>
            <a:cxnLst/>
            <a:rect r="r" b="b" t="t" l="l"/>
            <a:pathLst>
              <a:path h="440274" w="634629">
                <a:moveTo>
                  <a:pt x="0" y="0"/>
                </a:moveTo>
                <a:lnTo>
                  <a:pt x="634628" y="0"/>
                </a:lnTo>
                <a:lnTo>
                  <a:pt x="634628" y="440274"/>
                </a:lnTo>
                <a:lnTo>
                  <a:pt x="0" y="440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873695">
            <a:off x="12077452" y="2512950"/>
            <a:ext cx="634629" cy="440274"/>
          </a:xfrm>
          <a:custGeom>
            <a:avLst/>
            <a:gdLst/>
            <a:ahLst/>
            <a:cxnLst/>
            <a:rect r="r" b="b" t="t" l="l"/>
            <a:pathLst>
              <a:path h="440274" w="634629">
                <a:moveTo>
                  <a:pt x="0" y="0"/>
                </a:moveTo>
                <a:lnTo>
                  <a:pt x="634629" y="0"/>
                </a:lnTo>
                <a:lnTo>
                  <a:pt x="634629" y="440274"/>
                </a:lnTo>
                <a:lnTo>
                  <a:pt x="0" y="440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918694" y="-9185"/>
            <a:ext cx="6369306" cy="5484544"/>
          </a:xfrm>
          <a:custGeom>
            <a:avLst/>
            <a:gdLst/>
            <a:ahLst/>
            <a:cxnLst/>
            <a:rect r="r" b="b" t="t" l="l"/>
            <a:pathLst>
              <a:path h="5484544" w="6369306">
                <a:moveTo>
                  <a:pt x="0" y="0"/>
                </a:moveTo>
                <a:lnTo>
                  <a:pt x="6369306" y="0"/>
                </a:lnTo>
                <a:lnTo>
                  <a:pt x="6369306" y="5484544"/>
                </a:lnTo>
                <a:lnTo>
                  <a:pt x="0" y="54845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758" t="0" r="-27395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1505404">
            <a:off x="14494015" y="2145817"/>
            <a:ext cx="794719" cy="27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1"/>
              </a:lnSpc>
              <a:spcBef>
                <a:spcPct val="0"/>
              </a:spcBef>
            </a:pPr>
            <a:r>
              <a:rPr lang="en-US" b="true" sz="16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15" id="15"/>
          <p:cNvSpPr txBox="true"/>
          <p:nvPr/>
        </p:nvSpPr>
        <p:spPr>
          <a:xfrm rot="1548859">
            <a:off x="14111316" y="2538226"/>
            <a:ext cx="1560444" cy="27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1"/>
              </a:lnSpc>
              <a:spcBef>
                <a:spcPct val="0"/>
              </a:spcBef>
            </a:pPr>
            <a:r>
              <a:rPr lang="en-US" b="true" sz="16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16" id="16"/>
          <p:cNvSpPr txBox="true"/>
          <p:nvPr/>
        </p:nvSpPr>
        <p:spPr>
          <a:xfrm rot="1461252">
            <a:off x="14277266" y="1853667"/>
            <a:ext cx="1227884" cy="27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1"/>
              </a:lnSpc>
              <a:spcBef>
                <a:spcPct val="0"/>
              </a:spcBef>
            </a:pPr>
            <a:r>
              <a:rPr lang="en-US" b="true" sz="16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289935" y="5288034"/>
            <a:ext cx="6998065" cy="4998966"/>
          </a:xfrm>
          <a:custGeom>
            <a:avLst/>
            <a:gdLst/>
            <a:ahLst/>
            <a:cxnLst/>
            <a:rect r="r" b="b" t="t" l="l"/>
            <a:pathLst>
              <a:path h="4998966" w="6998065">
                <a:moveTo>
                  <a:pt x="0" y="0"/>
                </a:moveTo>
                <a:lnTo>
                  <a:pt x="6998065" y="0"/>
                </a:lnTo>
                <a:lnTo>
                  <a:pt x="6998065" y="4998966"/>
                </a:lnTo>
                <a:lnTo>
                  <a:pt x="0" y="49989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931" t="0" r="-17682" b="-2891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315476"/>
            <a:ext cx="5389850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蝕刻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Etching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4614791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•乾式蝕刻  (電漿蝕刻)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806128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•透過溶劑或電漿清除剩餘光阻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0257" y="5250995"/>
            <a:ext cx="842279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使用RF高頻高能量粒子束，例如產生自由電子的方式，通入鈍性氣體離子如 Ar+ 進行轟擊。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2784906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•濕式蝕刻  (↑3μm 製程 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0257" y="3410524"/>
            <a:ext cx="842279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使用化學溶液，如氫氟酸(HF)溶解晶圓表面上的物質，可以透過緩衝液或去離子水調整蝕刻速率。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7967560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•三步驟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0257" y="8593178"/>
            <a:ext cx="842279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蝕刻、沖洗、旋乾</a:t>
            </a:r>
          </a:p>
        </p:txBody>
      </p:sp>
      <p:sp>
        <p:nvSpPr>
          <p:cNvPr name="TextBox 26" id="26"/>
          <p:cNvSpPr txBox="true"/>
          <p:nvPr/>
        </p:nvSpPr>
        <p:spPr>
          <a:xfrm rot="1792519">
            <a:off x="14696430" y="6871206"/>
            <a:ext cx="490676" cy="27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1"/>
              </a:lnSpc>
              <a:spcBef>
                <a:spcPct val="0"/>
              </a:spcBef>
            </a:pPr>
            <a:r>
              <a:rPr lang="en-US" b="true" sz="16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27" id="27"/>
          <p:cNvSpPr txBox="true"/>
          <p:nvPr/>
        </p:nvSpPr>
        <p:spPr>
          <a:xfrm rot="1928030">
            <a:off x="14384479" y="7265988"/>
            <a:ext cx="1084067" cy="27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1"/>
              </a:lnSpc>
              <a:spcBef>
                <a:spcPct val="0"/>
              </a:spcBef>
            </a:pPr>
            <a:r>
              <a:rPr lang="en-US" b="true" sz="16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28" id="28"/>
          <p:cNvSpPr txBox="true"/>
          <p:nvPr/>
        </p:nvSpPr>
        <p:spPr>
          <a:xfrm rot="2198618">
            <a:off x="12719610" y="8680590"/>
            <a:ext cx="1227884" cy="27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1"/>
              </a:lnSpc>
              <a:spcBef>
                <a:spcPct val="0"/>
              </a:spcBef>
            </a:pPr>
            <a:r>
              <a:rPr lang="en-US" b="true" sz="16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-1284087">
            <a:off x="11713555" y="6776257"/>
            <a:ext cx="701729" cy="486824"/>
          </a:xfrm>
          <a:custGeom>
            <a:avLst/>
            <a:gdLst/>
            <a:ahLst/>
            <a:cxnLst/>
            <a:rect r="r" b="b" t="t" l="l"/>
            <a:pathLst>
              <a:path h="486824" w="701729">
                <a:moveTo>
                  <a:pt x="0" y="0"/>
                </a:moveTo>
                <a:lnTo>
                  <a:pt x="701729" y="0"/>
                </a:lnTo>
                <a:lnTo>
                  <a:pt x="701729" y="486824"/>
                </a:lnTo>
                <a:lnTo>
                  <a:pt x="0" y="486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11/24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98929"/>
            <a:ext cx="9853055" cy="188071"/>
            <a:chOff x="0" y="0"/>
            <a:chExt cx="2496405" cy="47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405" cy="47650"/>
            </a:xfrm>
            <a:custGeom>
              <a:avLst/>
              <a:gdLst/>
              <a:ahLst/>
              <a:cxnLst/>
              <a:rect r="r" b="b" t="t" l="l"/>
              <a:pathLst>
                <a:path h="47650" w="2496405">
                  <a:moveTo>
                    <a:pt x="0" y="0"/>
                  </a:moveTo>
                  <a:lnTo>
                    <a:pt x="2496405" y="0"/>
                  </a:lnTo>
                  <a:lnTo>
                    <a:pt x="2496405" y="47650"/>
                  </a:lnTo>
                  <a:lnTo>
                    <a:pt x="0" y="4765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6405" cy="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3055" y="0"/>
            <a:ext cx="8434945" cy="167138"/>
            <a:chOff x="0" y="0"/>
            <a:chExt cx="2137108" cy="423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42347"/>
            </a:xfrm>
            <a:custGeom>
              <a:avLst/>
              <a:gdLst/>
              <a:ahLst/>
              <a:cxnLst/>
              <a:rect r="r" b="b" t="t" l="l"/>
              <a:pathLst>
                <a:path h="42347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42347"/>
                  </a:lnTo>
                  <a:lnTo>
                    <a:pt x="0" y="4234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8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3769" y="841759"/>
            <a:ext cx="373881" cy="3738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15476"/>
            <a:ext cx="5389850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薄膜沉積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Deposition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86350" y="7090349"/>
            <a:ext cx="5541609" cy="1981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1. Vapor Prime 表面預處理</a:t>
            </a:r>
          </a:p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2. Spin Coat 旋轉塗佈</a:t>
            </a:r>
          </a:p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3. Soft bake 軟烘烤</a:t>
            </a:r>
          </a:p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4. Cooling 冷卻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784906"/>
            <a:ext cx="81153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•沉積導電的多晶矽 (Polycrystalline Silicon)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0257" y="3410524"/>
            <a:ext cx="8422798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- 運用  </a:t>
            </a:r>
            <a:r>
              <a:rPr lang="en-US" sz="24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L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ow </a:t>
            </a:r>
            <a:r>
              <a:rPr lang="en-US" sz="24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ressure </a:t>
            </a:r>
            <a:r>
              <a:rPr lang="en-US" sz="24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CVD  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或 </a:t>
            </a:r>
            <a:r>
              <a:rPr lang="en-US" sz="24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lasma-</a:t>
            </a:r>
            <a:r>
              <a:rPr lang="en-US" sz="24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E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nhanced </a:t>
            </a:r>
            <a:r>
              <a:rPr lang="en-US" sz="24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CVD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將Poly沉積在表面，用以形成MOSFET電晶體中的輸入端Gate(閘極)。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- 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透過矽烷 (SiH) 在580至650°C的高溫下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  <a:hlinkClick r:id="rId2" tooltip="https://en.wikipedia.org/wiki/Chemical_decomposition"/>
              </a:rPr>
              <a:t>化學分解來實現的。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SiH₄(g) → Si(s) + 2H₂(g) 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  <a:hlinkClick r:id="rId3" tooltip="https://en.wikipedia.org/wiki/Chemical_vapor_deposition"/>
              </a:rPr>
              <a:t>CVD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 at 500-800°C。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23769" y="7521382"/>
            <a:ext cx="373881" cy="37388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6995099"/>
            <a:ext cx="5389850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光阻劑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09318" y="167138"/>
            <a:ext cx="6878682" cy="4608082"/>
            <a:chOff x="0" y="0"/>
            <a:chExt cx="9171576" cy="61441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71576" cy="6144110"/>
            </a:xfrm>
            <a:custGeom>
              <a:avLst/>
              <a:gdLst/>
              <a:ahLst/>
              <a:cxnLst/>
              <a:rect r="r" b="b" t="t" l="l"/>
              <a:pathLst>
                <a:path h="6144110" w="9171576">
                  <a:moveTo>
                    <a:pt x="0" y="0"/>
                  </a:moveTo>
                  <a:lnTo>
                    <a:pt x="9171576" y="0"/>
                  </a:lnTo>
                  <a:lnTo>
                    <a:pt x="9171576" y="6144110"/>
                  </a:lnTo>
                  <a:lnTo>
                    <a:pt x="0" y="614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285" t="-12633" r="-23234" b="-1296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1376247">
              <a:off x="2590277" y="2502596"/>
              <a:ext cx="654235" cy="3533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61"/>
                </a:lnSpc>
                <a:spcBef>
                  <a:spcPct val="0"/>
                </a:spcBef>
              </a:pPr>
              <a:r>
                <a:rPr lang="en-US" b="true" sz="1615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SiO₂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1563744">
              <a:off x="2111279" y="3397022"/>
              <a:ext cx="1445423" cy="3533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61"/>
                </a:lnSpc>
                <a:spcBef>
                  <a:spcPct val="0"/>
                </a:spcBef>
              </a:pPr>
              <a:r>
                <a:rPr lang="en-US" b="true" sz="1615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Substrate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1220273">
              <a:off x="2393326" y="1842337"/>
              <a:ext cx="1610673" cy="3533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61"/>
                </a:lnSpc>
                <a:spcBef>
                  <a:spcPct val="0"/>
                </a:spcBef>
              </a:pPr>
              <a:r>
                <a:rPr lang="en-US" b="true" sz="1615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Poly Silicon 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1409318" y="5072620"/>
            <a:ext cx="6682518" cy="5259536"/>
          </a:xfrm>
          <a:custGeom>
            <a:avLst/>
            <a:gdLst/>
            <a:ahLst/>
            <a:cxnLst/>
            <a:rect r="r" b="b" t="t" l="l"/>
            <a:pathLst>
              <a:path h="5259536" w="6682518">
                <a:moveTo>
                  <a:pt x="0" y="0"/>
                </a:moveTo>
                <a:lnTo>
                  <a:pt x="6682518" y="0"/>
                </a:lnTo>
                <a:lnTo>
                  <a:pt x="6682518" y="5259536"/>
                </a:lnTo>
                <a:lnTo>
                  <a:pt x="0" y="5259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1043" t="-4200" r="-24688" b="-7143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1557773">
            <a:off x="13190227" y="6636502"/>
            <a:ext cx="1227884" cy="27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1"/>
              </a:lnSpc>
              <a:spcBef>
                <a:spcPct val="0"/>
              </a:spcBef>
            </a:pPr>
            <a:r>
              <a:rPr lang="en-US" b="true" sz="16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TextBox 26" id="26"/>
          <p:cNvSpPr txBox="true"/>
          <p:nvPr/>
        </p:nvSpPr>
        <p:spPr>
          <a:xfrm rot="1712597">
            <a:off x="13354677" y="7538866"/>
            <a:ext cx="490676" cy="27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1"/>
              </a:lnSpc>
              <a:spcBef>
                <a:spcPct val="0"/>
              </a:spcBef>
            </a:pPr>
            <a:r>
              <a:rPr lang="en-US" b="true" sz="16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27" id="27"/>
          <p:cNvSpPr txBox="true"/>
          <p:nvPr/>
        </p:nvSpPr>
        <p:spPr>
          <a:xfrm rot="1704641">
            <a:off x="13108787" y="7101013"/>
            <a:ext cx="1208005" cy="27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1"/>
              </a:lnSpc>
              <a:spcBef>
                <a:spcPct val="0"/>
              </a:spcBef>
            </a:pPr>
            <a:r>
              <a:rPr lang="en-US" b="true" sz="16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Poly Silicon </a:t>
            </a:r>
          </a:p>
        </p:txBody>
      </p:sp>
      <p:sp>
        <p:nvSpPr>
          <p:cNvPr name="TextBox 28" id="28"/>
          <p:cNvSpPr txBox="true"/>
          <p:nvPr/>
        </p:nvSpPr>
        <p:spPr>
          <a:xfrm rot="1811815">
            <a:off x="12984567" y="8124730"/>
            <a:ext cx="1084067" cy="27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1"/>
              </a:lnSpc>
              <a:spcBef>
                <a:spcPct val="0"/>
              </a:spcBef>
            </a:pPr>
            <a:r>
              <a:rPr lang="en-US" b="true" sz="16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12/24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98929"/>
            <a:ext cx="9853055" cy="188071"/>
            <a:chOff x="0" y="0"/>
            <a:chExt cx="2496405" cy="47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405" cy="47650"/>
            </a:xfrm>
            <a:custGeom>
              <a:avLst/>
              <a:gdLst/>
              <a:ahLst/>
              <a:cxnLst/>
              <a:rect r="r" b="b" t="t" l="l"/>
              <a:pathLst>
                <a:path h="47650" w="2496405">
                  <a:moveTo>
                    <a:pt x="0" y="0"/>
                  </a:moveTo>
                  <a:lnTo>
                    <a:pt x="2496405" y="0"/>
                  </a:lnTo>
                  <a:lnTo>
                    <a:pt x="2496405" y="47650"/>
                  </a:lnTo>
                  <a:lnTo>
                    <a:pt x="0" y="4765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6405" cy="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3055" y="0"/>
            <a:ext cx="8434945" cy="167138"/>
            <a:chOff x="0" y="0"/>
            <a:chExt cx="2137108" cy="423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42347"/>
            </a:xfrm>
            <a:custGeom>
              <a:avLst/>
              <a:gdLst/>
              <a:ahLst/>
              <a:cxnLst/>
              <a:rect r="r" b="b" t="t" l="l"/>
              <a:pathLst>
                <a:path h="42347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42347"/>
                  </a:lnTo>
                  <a:lnTo>
                    <a:pt x="0" y="4234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8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3769" y="841759"/>
            <a:ext cx="373881" cy="3738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15476"/>
            <a:ext cx="5389850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微影製程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Photolithography</a:t>
            </a:r>
          </a:p>
        </p:txBody>
      </p:sp>
      <p:sp>
        <p:nvSpPr>
          <p:cNvPr name="TextBox 12" id="12"/>
          <p:cNvSpPr txBox="true"/>
          <p:nvPr/>
        </p:nvSpPr>
        <p:spPr>
          <a:xfrm rot="1811815">
            <a:off x="11995761" y="5273752"/>
            <a:ext cx="826019" cy="21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2"/>
              </a:lnSpc>
              <a:spcBef>
                <a:spcPct val="0"/>
              </a:spcBef>
            </a:pPr>
            <a:r>
              <a:rPr lang="en-US" b="true" sz="123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124749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•曝光後烘烤  (顯影前)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753399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•顯影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382049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•硬烘烤  (顯影後)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496099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•曝光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23769" y="5536433"/>
            <a:ext cx="373881" cy="37388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5010150"/>
            <a:ext cx="5389850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蝕刻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Etching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7902062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•乾式蝕刻  (電漿蝕刻)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8530712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•透過溶劑或電漿清除剩餘光阻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7273412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•濕式蝕刻  (↑3μm 製程 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9159362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•三步驟 : 蝕刻、沖洗、旋乾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201162" y="4987674"/>
            <a:ext cx="6374633" cy="5299326"/>
            <a:chOff x="0" y="0"/>
            <a:chExt cx="8499511" cy="70657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499511" cy="7065768"/>
            </a:xfrm>
            <a:custGeom>
              <a:avLst/>
              <a:gdLst/>
              <a:ahLst/>
              <a:cxnLst/>
              <a:rect r="r" b="b" t="t" l="l"/>
              <a:pathLst>
                <a:path h="7065768" w="8499511">
                  <a:moveTo>
                    <a:pt x="0" y="0"/>
                  </a:moveTo>
                  <a:lnTo>
                    <a:pt x="8499511" y="0"/>
                  </a:lnTo>
                  <a:lnTo>
                    <a:pt x="8499511" y="7065768"/>
                  </a:lnTo>
                  <a:lnTo>
                    <a:pt x="0" y="7065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920" t="0" r="-24811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-1284087">
              <a:off x="86171" y="2087839"/>
              <a:ext cx="935638" cy="649099"/>
            </a:xfrm>
            <a:custGeom>
              <a:avLst/>
              <a:gdLst/>
              <a:ahLst/>
              <a:cxnLst/>
              <a:rect r="r" b="b" t="t" l="l"/>
              <a:pathLst>
                <a:path h="649099" w="935638">
                  <a:moveTo>
                    <a:pt x="0" y="0"/>
                  </a:moveTo>
                  <a:lnTo>
                    <a:pt x="935638" y="0"/>
                  </a:lnTo>
                  <a:lnTo>
                    <a:pt x="935638" y="649099"/>
                  </a:lnTo>
                  <a:lnTo>
                    <a:pt x="0" y="649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-1284087">
              <a:off x="842520" y="4786110"/>
              <a:ext cx="935638" cy="649099"/>
            </a:xfrm>
            <a:custGeom>
              <a:avLst/>
              <a:gdLst/>
              <a:ahLst/>
              <a:cxnLst/>
              <a:rect r="r" b="b" t="t" l="l"/>
              <a:pathLst>
                <a:path h="649099" w="935638">
                  <a:moveTo>
                    <a:pt x="0" y="0"/>
                  </a:moveTo>
                  <a:lnTo>
                    <a:pt x="935638" y="0"/>
                  </a:lnTo>
                  <a:lnTo>
                    <a:pt x="935638" y="649099"/>
                  </a:lnTo>
                  <a:lnTo>
                    <a:pt x="0" y="649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438736" y="5993539"/>
            <a:ext cx="5849264" cy="4293296"/>
            <a:chOff x="0" y="0"/>
            <a:chExt cx="7799018" cy="572439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799018" cy="5724394"/>
            </a:xfrm>
            <a:custGeom>
              <a:avLst/>
              <a:gdLst/>
              <a:ahLst/>
              <a:cxnLst/>
              <a:rect r="r" b="b" t="t" l="l"/>
              <a:pathLst>
                <a:path h="5724394" w="7799018">
                  <a:moveTo>
                    <a:pt x="0" y="0"/>
                  </a:moveTo>
                  <a:lnTo>
                    <a:pt x="7799018" y="0"/>
                  </a:lnTo>
                  <a:lnTo>
                    <a:pt x="7799018" y="5724394"/>
                  </a:lnTo>
                  <a:lnTo>
                    <a:pt x="0" y="5724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112" t="0" r="-14363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-1284087">
              <a:off x="145652" y="1564894"/>
              <a:ext cx="800936" cy="555649"/>
            </a:xfrm>
            <a:custGeom>
              <a:avLst/>
              <a:gdLst/>
              <a:ahLst/>
              <a:cxnLst/>
              <a:rect r="r" b="b" t="t" l="l"/>
              <a:pathLst>
                <a:path h="555649" w="800936">
                  <a:moveTo>
                    <a:pt x="0" y="0"/>
                  </a:moveTo>
                  <a:lnTo>
                    <a:pt x="800936" y="0"/>
                  </a:lnTo>
                  <a:lnTo>
                    <a:pt x="800936" y="555649"/>
                  </a:lnTo>
                  <a:lnTo>
                    <a:pt x="0" y="5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-1284087">
              <a:off x="1781015" y="3354088"/>
              <a:ext cx="800936" cy="555649"/>
            </a:xfrm>
            <a:custGeom>
              <a:avLst/>
              <a:gdLst/>
              <a:ahLst/>
              <a:cxnLst/>
              <a:rect r="r" b="b" t="t" l="l"/>
              <a:pathLst>
                <a:path h="555649" w="800936">
                  <a:moveTo>
                    <a:pt x="0" y="0"/>
                  </a:moveTo>
                  <a:lnTo>
                    <a:pt x="800936" y="0"/>
                  </a:lnTo>
                  <a:lnTo>
                    <a:pt x="800936" y="555649"/>
                  </a:lnTo>
                  <a:lnTo>
                    <a:pt x="0" y="55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1189885">
            <a:off x="11940510" y="2369616"/>
            <a:ext cx="480257" cy="243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5"/>
              </a:lnSpc>
              <a:spcBef>
                <a:spcPct val="0"/>
              </a:spcBef>
            </a:pPr>
            <a:r>
              <a:rPr lang="en-US" b="true" sz="136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Mask</a:t>
            </a:r>
          </a:p>
        </p:txBody>
      </p:sp>
      <p:sp>
        <p:nvSpPr>
          <p:cNvPr name="TextBox 34" id="34"/>
          <p:cNvSpPr txBox="true"/>
          <p:nvPr/>
        </p:nvSpPr>
        <p:spPr>
          <a:xfrm rot="1557773">
            <a:off x="11973327" y="4097515"/>
            <a:ext cx="935602" cy="21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2"/>
              </a:lnSpc>
              <a:spcBef>
                <a:spcPct val="0"/>
              </a:spcBef>
            </a:pPr>
            <a:r>
              <a:rPr lang="en-US" b="true" sz="123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TextBox 35" id="35"/>
          <p:cNvSpPr txBox="true"/>
          <p:nvPr/>
        </p:nvSpPr>
        <p:spPr>
          <a:xfrm rot="1712597">
            <a:off x="12202622" y="4599524"/>
            <a:ext cx="373877" cy="21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2"/>
              </a:lnSpc>
              <a:spcBef>
                <a:spcPct val="0"/>
              </a:spcBef>
            </a:pPr>
            <a:r>
              <a:rPr lang="en-US" b="true" sz="123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36" id="36"/>
          <p:cNvSpPr txBox="true"/>
          <p:nvPr/>
        </p:nvSpPr>
        <p:spPr>
          <a:xfrm rot="1704641">
            <a:off x="12004368" y="4386024"/>
            <a:ext cx="920455" cy="21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2"/>
              </a:lnSpc>
              <a:spcBef>
                <a:spcPct val="0"/>
              </a:spcBef>
            </a:pPr>
            <a:r>
              <a:rPr lang="en-US" b="true" sz="123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Poly Silicon </a:t>
            </a:r>
          </a:p>
        </p:txBody>
      </p:sp>
      <p:sp>
        <p:nvSpPr>
          <p:cNvPr name="TextBox 37" id="37"/>
          <p:cNvSpPr txBox="true"/>
          <p:nvPr/>
        </p:nvSpPr>
        <p:spPr>
          <a:xfrm rot="1811815">
            <a:off x="11976910" y="4938728"/>
            <a:ext cx="826019" cy="21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2"/>
              </a:lnSpc>
              <a:spcBef>
                <a:spcPct val="0"/>
              </a:spcBef>
            </a:pPr>
            <a:r>
              <a:rPr lang="en-US" b="true" sz="123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5400000">
            <a:off x="13146695" y="3110115"/>
            <a:ext cx="1544886" cy="384304"/>
          </a:xfrm>
          <a:custGeom>
            <a:avLst/>
            <a:gdLst/>
            <a:ahLst/>
            <a:cxnLst/>
            <a:rect r="r" b="b" t="t" l="l"/>
            <a:pathLst>
              <a:path h="384304" w="1544886">
                <a:moveTo>
                  <a:pt x="0" y="0"/>
                </a:moveTo>
                <a:lnTo>
                  <a:pt x="1544886" y="0"/>
                </a:lnTo>
                <a:lnTo>
                  <a:pt x="1544886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6162" t="-38587" r="-8185" b="-38587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5400000">
            <a:off x="11509661" y="2819637"/>
            <a:ext cx="1312299" cy="384304"/>
          </a:xfrm>
          <a:custGeom>
            <a:avLst/>
            <a:gdLst/>
            <a:ahLst/>
            <a:cxnLst/>
            <a:rect r="r" b="b" t="t" l="l"/>
            <a:pathLst>
              <a:path h="384304" w="1312299">
                <a:moveTo>
                  <a:pt x="0" y="0"/>
                </a:moveTo>
                <a:lnTo>
                  <a:pt x="1312298" y="0"/>
                </a:lnTo>
                <a:lnTo>
                  <a:pt x="1312298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7384" t="-38587" r="-27360" b="-38587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0372415" y="1220632"/>
            <a:ext cx="5405183" cy="5045069"/>
          </a:xfrm>
          <a:custGeom>
            <a:avLst/>
            <a:gdLst/>
            <a:ahLst/>
            <a:cxnLst/>
            <a:rect r="r" b="b" t="t" l="l"/>
            <a:pathLst>
              <a:path h="5045069" w="5405183">
                <a:moveTo>
                  <a:pt x="0" y="0"/>
                </a:moveTo>
                <a:lnTo>
                  <a:pt x="5405183" y="0"/>
                </a:lnTo>
                <a:lnTo>
                  <a:pt x="5405183" y="5045069"/>
                </a:lnTo>
                <a:lnTo>
                  <a:pt x="0" y="50450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9679" t="0" r="-36188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5400000">
            <a:off x="11184180" y="800690"/>
            <a:ext cx="1979991" cy="384304"/>
          </a:xfrm>
          <a:custGeom>
            <a:avLst/>
            <a:gdLst/>
            <a:ahLst/>
            <a:cxnLst/>
            <a:rect r="r" b="b" t="t" l="l"/>
            <a:pathLst>
              <a:path h="384304" w="1979991">
                <a:moveTo>
                  <a:pt x="0" y="0"/>
                </a:moveTo>
                <a:lnTo>
                  <a:pt x="1979990" y="0"/>
                </a:lnTo>
                <a:lnTo>
                  <a:pt x="1979990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0483" t="-38587" r="-21378" b="-38587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5400000">
            <a:off x="12533603" y="1196229"/>
            <a:ext cx="2771069" cy="384304"/>
          </a:xfrm>
          <a:custGeom>
            <a:avLst/>
            <a:gdLst/>
            <a:ahLst/>
            <a:cxnLst/>
            <a:rect r="r" b="b" t="t" l="l"/>
            <a:pathLst>
              <a:path h="384304" w="2771069">
                <a:moveTo>
                  <a:pt x="0" y="0"/>
                </a:moveTo>
                <a:lnTo>
                  <a:pt x="2771069" y="0"/>
                </a:lnTo>
                <a:lnTo>
                  <a:pt x="2771069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9041" t="-55640" r="0" b="-5564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5400000">
            <a:off x="12001119" y="3274806"/>
            <a:ext cx="329382" cy="384304"/>
          </a:xfrm>
          <a:custGeom>
            <a:avLst/>
            <a:gdLst/>
            <a:ahLst/>
            <a:cxnLst/>
            <a:rect r="r" b="b" t="t" l="l"/>
            <a:pathLst>
              <a:path h="384304" w="329382">
                <a:moveTo>
                  <a:pt x="0" y="0"/>
                </a:moveTo>
                <a:lnTo>
                  <a:pt x="329382" y="0"/>
                </a:lnTo>
                <a:lnTo>
                  <a:pt x="329382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92955" t="-38587" r="-340708" b="-38587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5400000">
            <a:off x="13733930" y="3827724"/>
            <a:ext cx="370416" cy="384304"/>
          </a:xfrm>
          <a:custGeom>
            <a:avLst/>
            <a:gdLst/>
            <a:ahLst/>
            <a:cxnLst/>
            <a:rect r="r" b="b" t="t" l="l"/>
            <a:pathLst>
              <a:path h="384304" w="370416">
                <a:moveTo>
                  <a:pt x="0" y="0"/>
                </a:moveTo>
                <a:lnTo>
                  <a:pt x="370416" y="0"/>
                </a:lnTo>
                <a:lnTo>
                  <a:pt x="370416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82958" t="-38587" r="-302965" b="-38587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1627529">
            <a:off x="11974109" y="4130840"/>
            <a:ext cx="1013954" cy="22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1"/>
              </a:lnSpc>
              <a:spcBef>
                <a:spcPct val="0"/>
              </a:spcBef>
            </a:pPr>
            <a:r>
              <a:rPr lang="en-US" b="true" sz="13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TextBox 46" id="46"/>
          <p:cNvSpPr txBox="true"/>
          <p:nvPr/>
        </p:nvSpPr>
        <p:spPr>
          <a:xfrm rot="1704641">
            <a:off x="11955210" y="4390299"/>
            <a:ext cx="1060176" cy="22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1"/>
              </a:lnSpc>
              <a:spcBef>
                <a:spcPct val="0"/>
              </a:spcBef>
            </a:pPr>
            <a:r>
              <a:rPr lang="en-US" b="true" sz="13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Poly Silicon </a:t>
            </a:r>
          </a:p>
        </p:txBody>
      </p:sp>
      <p:sp>
        <p:nvSpPr>
          <p:cNvPr name="TextBox 47" id="47"/>
          <p:cNvSpPr txBox="true"/>
          <p:nvPr/>
        </p:nvSpPr>
        <p:spPr>
          <a:xfrm rot="1811815">
            <a:off x="11908041" y="4978944"/>
            <a:ext cx="1084067" cy="22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1"/>
              </a:lnSpc>
              <a:spcBef>
                <a:spcPct val="0"/>
              </a:spcBef>
            </a:pPr>
            <a:r>
              <a:rPr lang="en-US" b="true" sz="13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48" id="48"/>
          <p:cNvSpPr txBox="true"/>
          <p:nvPr/>
        </p:nvSpPr>
        <p:spPr>
          <a:xfrm rot="1193115">
            <a:off x="11849271" y="2356114"/>
            <a:ext cx="569891" cy="27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1"/>
              </a:lnSpc>
              <a:spcBef>
                <a:spcPct val="0"/>
              </a:spcBef>
            </a:pPr>
            <a:r>
              <a:rPr lang="en-US" b="true" sz="16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Mask</a:t>
            </a:r>
          </a:p>
        </p:txBody>
      </p:sp>
      <p:sp>
        <p:nvSpPr>
          <p:cNvPr name="TextBox 49" id="49"/>
          <p:cNvSpPr txBox="true"/>
          <p:nvPr/>
        </p:nvSpPr>
        <p:spPr>
          <a:xfrm rot="1712597">
            <a:off x="12248537" y="4630785"/>
            <a:ext cx="401942" cy="22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1"/>
              </a:lnSpc>
              <a:spcBef>
                <a:spcPct val="0"/>
              </a:spcBef>
            </a:pPr>
            <a:r>
              <a:rPr lang="en-US" b="true" sz="13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50" id="50"/>
          <p:cNvSpPr txBox="true"/>
          <p:nvPr/>
        </p:nvSpPr>
        <p:spPr>
          <a:xfrm rot="2013850">
            <a:off x="9174386" y="6375505"/>
            <a:ext cx="773344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TextBox 51" id="51"/>
          <p:cNvSpPr txBox="true"/>
          <p:nvPr/>
        </p:nvSpPr>
        <p:spPr>
          <a:xfrm rot="2082935">
            <a:off x="9179272" y="6695657"/>
            <a:ext cx="771699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Poly Silicon </a:t>
            </a:r>
          </a:p>
        </p:txBody>
      </p:sp>
      <p:sp>
        <p:nvSpPr>
          <p:cNvPr name="TextBox 52" id="52"/>
          <p:cNvSpPr txBox="true"/>
          <p:nvPr/>
        </p:nvSpPr>
        <p:spPr>
          <a:xfrm rot="2218628">
            <a:off x="9386751" y="6975599"/>
            <a:ext cx="287077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53" id="53"/>
          <p:cNvSpPr txBox="true"/>
          <p:nvPr/>
        </p:nvSpPr>
        <p:spPr>
          <a:xfrm rot="2312136">
            <a:off x="9199456" y="7401130"/>
            <a:ext cx="662281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54" id="54"/>
          <p:cNvSpPr txBox="true"/>
          <p:nvPr/>
        </p:nvSpPr>
        <p:spPr>
          <a:xfrm rot="1838268">
            <a:off x="15330647" y="6909054"/>
            <a:ext cx="773344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TextBox 55" id="55"/>
          <p:cNvSpPr txBox="true"/>
          <p:nvPr/>
        </p:nvSpPr>
        <p:spPr>
          <a:xfrm rot="1885014">
            <a:off x="15329073" y="7183624"/>
            <a:ext cx="771699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Poly Silicon </a:t>
            </a:r>
          </a:p>
        </p:txBody>
      </p:sp>
      <p:sp>
        <p:nvSpPr>
          <p:cNvPr name="TextBox 56" id="56"/>
          <p:cNvSpPr txBox="true"/>
          <p:nvPr/>
        </p:nvSpPr>
        <p:spPr>
          <a:xfrm rot="1977547">
            <a:off x="15523478" y="7412428"/>
            <a:ext cx="287077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57" id="57"/>
          <p:cNvSpPr txBox="true"/>
          <p:nvPr/>
        </p:nvSpPr>
        <p:spPr>
          <a:xfrm rot="2066356">
            <a:off x="15262373" y="7738548"/>
            <a:ext cx="662281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13/24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98929"/>
            <a:ext cx="9853055" cy="188071"/>
            <a:chOff x="0" y="0"/>
            <a:chExt cx="2496405" cy="47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405" cy="47650"/>
            </a:xfrm>
            <a:custGeom>
              <a:avLst/>
              <a:gdLst/>
              <a:ahLst/>
              <a:cxnLst/>
              <a:rect r="r" b="b" t="t" l="l"/>
              <a:pathLst>
                <a:path h="47650" w="2496405">
                  <a:moveTo>
                    <a:pt x="0" y="0"/>
                  </a:moveTo>
                  <a:lnTo>
                    <a:pt x="2496405" y="0"/>
                  </a:lnTo>
                  <a:lnTo>
                    <a:pt x="2496405" y="47650"/>
                  </a:lnTo>
                  <a:lnTo>
                    <a:pt x="0" y="4765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6405" cy="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3055" y="0"/>
            <a:ext cx="8434945" cy="167138"/>
            <a:chOff x="0" y="0"/>
            <a:chExt cx="2137108" cy="423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42347"/>
            </a:xfrm>
            <a:custGeom>
              <a:avLst/>
              <a:gdLst/>
              <a:ahLst/>
              <a:cxnLst/>
              <a:rect r="r" b="b" t="t" l="l"/>
              <a:pathLst>
                <a:path h="42347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42347"/>
                  </a:lnTo>
                  <a:lnTo>
                    <a:pt x="0" y="4234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8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3769" y="841759"/>
            <a:ext cx="373881" cy="3738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080711" y="594008"/>
            <a:ext cx="6442614" cy="4528006"/>
          </a:xfrm>
          <a:custGeom>
            <a:avLst/>
            <a:gdLst/>
            <a:ahLst/>
            <a:cxnLst/>
            <a:rect r="r" b="b" t="t" l="l"/>
            <a:pathLst>
              <a:path h="4528006" w="6442614">
                <a:moveTo>
                  <a:pt x="0" y="0"/>
                </a:moveTo>
                <a:lnTo>
                  <a:pt x="6442614" y="0"/>
                </a:lnTo>
                <a:lnTo>
                  <a:pt x="6442614" y="4528006"/>
                </a:lnTo>
                <a:lnTo>
                  <a:pt x="0" y="4528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46" t="0" r="-1235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68403">
            <a:off x="10667101" y="5189232"/>
            <a:ext cx="6806853" cy="5030550"/>
          </a:xfrm>
          <a:custGeom>
            <a:avLst/>
            <a:gdLst/>
            <a:ahLst/>
            <a:cxnLst/>
            <a:rect r="r" b="b" t="t" l="l"/>
            <a:pathLst>
              <a:path h="5030550" w="6806853">
                <a:moveTo>
                  <a:pt x="0" y="0"/>
                </a:moveTo>
                <a:lnTo>
                  <a:pt x="6806853" y="0"/>
                </a:lnTo>
                <a:lnTo>
                  <a:pt x="6806853" y="5030550"/>
                </a:lnTo>
                <a:lnTo>
                  <a:pt x="0" y="5030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728" t="0" r="-13605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12405424" y="167138"/>
            <a:ext cx="46507" cy="2627293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>
            <a:off x="12698613" y="167138"/>
            <a:ext cx="0" cy="2052954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>
            <a:off x="12960515" y="167138"/>
            <a:ext cx="0" cy="1455352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>
            <a:off x="13222416" y="167138"/>
            <a:ext cx="0" cy="1455352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>
            <a:off x="13476496" y="167138"/>
            <a:ext cx="0" cy="1455352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>
            <a:off x="13722754" y="167138"/>
            <a:ext cx="0" cy="1455352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>
            <a:off x="13953369" y="167138"/>
            <a:ext cx="0" cy="1455352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20" id="20"/>
          <p:cNvSpPr/>
          <p:nvPr/>
        </p:nvSpPr>
        <p:spPr>
          <a:xfrm>
            <a:off x="14189110" y="167138"/>
            <a:ext cx="0" cy="1455352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21" id="21"/>
          <p:cNvSpPr/>
          <p:nvPr/>
        </p:nvSpPr>
        <p:spPr>
          <a:xfrm>
            <a:off x="14435368" y="167138"/>
            <a:ext cx="0" cy="1455352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>
            <a:off x="14673805" y="167138"/>
            <a:ext cx="0" cy="1455352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>
            <a:off x="14904420" y="167138"/>
            <a:ext cx="0" cy="1455352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>
            <a:off x="15127214" y="167138"/>
            <a:ext cx="0" cy="2163950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25" id="25"/>
          <p:cNvSpPr/>
          <p:nvPr/>
        </p:nvSpPr>
        <p:spPr>
          <a:xfrm>
            <a:off x="15396937" y="167619"/>
            <a:ext cx="0" cy="2163468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26" id="26"/>
          <p:cNvSpPr/>
          <p:nvPr/>
        </p:nvSpPr>
        <p:spPr>
          <a:xfrm>
            <a:off x="15666660" y="167619"/>
            <a:ext cx="0" cy="2626811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27" id="27"/>
          <p:cNvSpPr/>
          <p:nvPr/>
        </p:nvSpPr>
        <p:spPr>
          <a:xfrm>
            <a:off x="15947178" y="167138"/>
            <a:ext cx="0" cy="2855893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28" id="28"/>
          <p:cNvSpPr/>
          <p:nvPr/>
        </p:nvSpPr>
        <p:spPr>
          <a:xfrm flipH="true">
            <a:off x="12120657" y="166800"/>
            <a:ext cx="0" cy="1613679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29" id="29"/>
          <p:cNvSpPr/>
          <p:nvPr/>
        </p:nvSpPr>
        <p:spPr>
          <a:xfrm>
            <a:off x="11827230" y="166800"/>
            <a:ext cx="0" cy="1828788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>
            <a:off x="16225779" y="166800"/>
            <a:ext cx="0" cy="2626811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31" id="31"/>
          <p:cNvSpPr/>
          <p:nvPr/>
        </p:nvSpPr>
        <p:spPr>
          <a:xfrm>
            <a:off x="16487680" y="166800"/>
            <a:ext cx="0" cy="2691211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AutoShape 32" id="32"/>
          <p:cNvSpPr/>
          <p:nvPr/>
        </p:nvSpPr>
        <p:spPr>
          <a:xfrm>
            <a:off x="16773046" y="166800"/>
            <a:ext cx="0" cy="2856230"/>
          </a:xfrm>
          <a:prstGeom prst="line">
            <a:avLst/>
          </a:prstGeom>
          <a:ln cap="flat" w="38100">
            <a:solidFill>
              <a:srgbClr val="FF66C4"/>
            </a:solidFill>
            <a:prstDash val="sysDash"/>
            <a:headEnd type="oval" len="lg" w="lg"/>
            <a:tailEnd type="arrow" len="sm" w="med"/>
          </a:ln>
        </p:spPr>
      </p:sp>
      <p:sp>
        <p:nvSpPr>
          <p:cNvPr name="TextBox 33" id="33"/>
          <p:cNvSpPr txBox="true"/>
          <p:nvPr/>
        </p:nvSpPr>
        <p:spPr>
          <a:xfrm rot="0">
            <a:off x="1430257" y="3410524"/>
            <a:ext cx="8547943" cy="699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  <a:hlinkClick r:id="rId4" tooltip="https://zh.wikipedia.org/wiki/%E6%9C%AC%E5%BE%81%E5%8D%8A%E5%AF%BC%E4%BD%93"/>
              </a:rPr>
              <a:t>本質半導體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引入雜質，使其屬性被改變的過程，大致是將特定離子在電場裡加速，並用磁場來改變方向，這可以穩定的把離子嵌入到固體材料中，摻雜後若有較多的電子稱n+。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- 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  <a:hlinkClick r:id="rId5" tooltip="https://zh.wikipedia.org/wiki/%E6%9C%AC%E5%BE%81%E5%8D%8A%E5%AF%BC%E4%BD%93"/>
              </a:rPr>
              <a:t>本質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半導體 (無雜質)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- </a:t>
            </a:r>
            <a:r>
              <a:rPr lang="en-US" sz="24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N型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半導體 (5A族，磷P) Layout: NIMP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  特徵:  多電子 nₙ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- </a:t>
            </a:r>
            <a:r>
              <a:rPr lang="en-US" sz="2499" b="true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P型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半導體  (3A族，硼B) Layout: PIMP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   特徵: 多電洞 pₚ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4143805" y="5866603"/>
            <a:ext cx="1839147" cy="337177"/>
          </a:xfrm>
          <a:custGeom>
            <a:avLst/>
            <a:gdLst/>
            <a:ahLst/>
            <a:cxnLst/>
            <a:rect r="r" b="b" t="t" l="l"/>
            <a:pathLst>
              <a:path h="337177" w="1839147">
                <a:moveTo>
                  <a:pt x="0" y="0"/>
                </a:moveTo>
                <a:lnTo>
                  <a:pt x="1839147" y="0"/>
                </a:lnTo>
                <a:lnTo>
                  <a:pt x="1839147" y="337177"/>
                </a:lnTo>
                <a:lnTo>
                  <a:pt x="0" y="3371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344378" y="9571163"/>
            <a:ext cx="2347135" cy="413628"/>
          </a:xfrm>
          <a:custGeom>
            <a:avLst/>
            <a:gdLst/>
            <a:ahLst/>
            <a:cxnLst/>
            <a:rect r="r" b="b" t="t" l="l"/>
            <a:pathLst>
              <a:path h="413628" w="2347135">
                <a:moveTo>
                  <a:pt x="0" y="0"/>
                </a:moveTo>
                <a:lnTo>
                  <a:pt x="2347136" y="0"/>
                </a:lnTo>
                <a:lnTo>
                  <a:pt x="2347136" y="413628"/>
                </a:lnTo>
                <a:lnTo>
                  <a:pt x="0" y="4136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246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143805" y="8291945"/>
            <a:ext cx="2719701" cy="383958"/>
          </a:xfrm>
          <a:custGeom>
            <a:avLst/>
            <a:gdLst/>
            <a:ahLst/>
            <a:cxnLst/>
            <a:rect r="r" b="b" t="t" l="l"/>
            <a:pathLst>
              <a:path h="383958" w="2719701">
                <a:moveTo>
                  <a:pt x="0" y="0"/>
                </a:moveTo>
                <a:lnTo>
                  <a:pt x="2719701" y="0"/>
                </a:lnTo>
                <a:lnTo>
                  <a:pt x="2719701" y="383957"/>
                </a:lnTo>
                <a:lnTo>
                  <a:pt x="0" y="3839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028700" y="315476"/>
            <a:ext cx="5389850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離子佈植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Ion Implantation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8700" y="2784906"/>
            <a:ext cx="81153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•摻雜 (Doping)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074838" y="5828503"/>
            <a:ext cx="306916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= 1.5 x 10¹⁰ carriers / cm³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08966" y="6536259"/>
            <a:ext cx="527018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nₙ : n型電子濃度 </a:t>
            </a: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  pₚ :p型電洞濃度   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nᵢ :單位體積內自由電子與電洞數 </a:t>
            </a:r>
          </a:p>
        </p:txBody>
      </p:sp>
      <p:sp>
        <p:nvSpPr>
          <p:cNvPr name="TextBox 41" id="41"/>
          <p:cNvSpPr txBox="true"/>
          <p:nvPr/>
        </p:nvSpPr>
        <p:spPr>
          <a:xfrm rot="1009577">
            <a:off x="13129683" y="1987567"/>
            <a:ext cx="917747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TextBox 42" id="42"/>
          <p:cNvSpPr txBox="true"/>
          <p:nvPr/>
        </p:nvSpPr>
        <p:spPr>
          <a:xfrm rot="976649">
            <a:off x="13131690" y="2464861"/>
            <a:ext cx="91355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Poly Silicon </a:t>
            </a:r>
          </a:p>
        </p:txBody>
      </p:sp>
      <p:sp>
        <p:nvSpPr>
          <p:cNvPr name="TextBox 43" id="43"/>
          <p:cNvSpPr txBox="true"/>
          <p:nvPr/>
        </p:nvSpPr>
        <p:spPr>
          <a:xfrm rot="1116264">
            <a:off x="13421612" y="2915136"/>
            <a:ext cx="334452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44" id="44"/>
          <p:cNvSpPr txBox="true"/>
          <p:nvPr/>
        </p:nvSpPr>
        <p:spPr>
          <a:xfrm rot="1186097">
            <a:off x="13233055" y="3745017"/>
            <a:ext cx="773786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45" id="45"/>
          <p:cNvSpPr txBox="true"/>
          <p:nvPr/>
        </p:nvSpPr>
        <p:spPr>
          <a:xfrm rot="1186097">
            <a:off x="12128099" y="2983460"/>
            <a:ext cx="88228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Source (n+)</a:t>
            </a:r>
          </a:p>
        </p:txBody>
      </p:sp>
      <p:sp>
        <p:nvSpPr>
          <p:cNvPr name="TextBox 46" id="46"/>
          <p:cNvSpPr txBox="true"/>
          <p:nvPr/>
        </p:nvSpPr>
        <p:spPr>
          <a:xfrm rot="1186097">
            <a:off x="14442810" y="3745017"/>
            <a:ext cx="88228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Drain (n+)</a:t>
            </a:r>
          </a:p>
        </p:txBody>
      </p:sp>
      <p:sp>
        <p:nvSpPr>
          <p:cNvPr name="TextBox 47" id="47"/>
          <p:cNvSpPr txBox="true"/>
          <p:nvPr/>
        </p:nvSpPr>
        <p:spPr>
          <a:xfrm rot="1522546">
            <a:off x="12558689" y="7100602"/>
            <a:ext cx="91355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Poly Silicon </a:t>
            </a:r>
          </a:p>
        </p:txBody>
      </p:sp>
      <p:sp>
        <p:nvSpPr>
          <p:cNvPr name="TextBox 48" id="48"/>
          <p:cNvSpPr txBox="true"/>
          <p:nvPr/>
        </p:nvSpPr>
        <p:spPr>
          <a:xfrm rot="1555494">
            <a:off x="12869896" y="7538866"/>
            <a:ext cx="334452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49" id="49"/>
          <p:cNvSpPr txBox="true"/>
          <p:nvPr/>
        </p:nvSpPr>
        <p:spPr>
          <a:xfrm rot="1606683">
            <a:off x="11683804" y="7449942"/>
            <a:ext cx="88228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Source (n+)</a:t>
            </a:r>
          </a:p>
        </p:txBody>
      </p:sp>
      <p:sp>
        <p:nvSpPr>
          <p:cNvPr name="TextBox 50" id="50"/>
          <p:cNvSpPr txBox="true"/>
          <p:nvPr/>
        </p:nvSpPr>
        <p:spPr>
          <a:xfrm rot="1642334">
            <a:off x="13897164" y="8570527"/>
            <a:ext cx="88228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Drain (n+)</a:t>
            </a:r>
          </a:p>
        </p:txBody>
      </p:sp>
      <p:sp>
        <p:nvSpPr>
          <p:cNvPr name="TextBox 51" id="51"/>
          <p:cNvSpPr txBox="true"/>
          <p:nvPr/>
        </p:nvSpPr>
        <p:spPr>
          <a:xfrm rot="1715779">
            <a:off x="12738375" y="8305046"/>
            <a:ext cx="773786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14/24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98929"/>
            <a:ext cx="9853055" cy="188071"/>
            <a:chOff x="0" y="0"/>
            <a:chExt cx="2496405" cy="47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405" cy="47650"/>
            </a:xfrm>
            <a:custGeom>
              <a:avLst/>
              <a:gdLst/>
              <a:ahLst/>
              <a:cxnLst/>
              <a:rect r="r" b="b" t="t" l="l"/>
              <a:pathLst>
                <a:path h="47650" w="2496405">
                  <a:moveTo>
                    <a:pt x="0" y="0"/>
                  </a:moveTo>
                  <a:lnTo>
                    <a:pt x="2496405" y="0"/>
                  </a:lnTo>
                  <a:lnTo>
                    <a:pt x="2496405" y="47650"/>
                  </a:lnTo>
                  <a:lnTo>
                    <a:pt x="0" y="4765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6405" cy="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3055" y="0"/>
            <a:ext cx="8434945" cy="167138"/>
            <a:chOff x="0" y="0"/>
            <a:chExt cx="2137108" cy="423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42347"/>
            </a:xfrm>
            <a:custGeom>
              <a:avLst/>
              <a:gdLst/>
              <a:ahLst/>
              <a:cxnLst/>
              <a:rect r="r" b="b" t="t" l="l"/>
              <a:pathLst>
                <a:path h="42347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42347"/>
                  </a:lnTo>
                  <a:lnTo>
                    <a:pt x="0" y="4234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8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3769" y="841759"/>
            <a:ext cx="373881" cy="3738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500084" y="0"/>
            <a:ext cx="7787916" cy="5279138"/>
          </a:xfrm>
          <a:custGeom>
            <a:avLst/>
            <a:gdLst/>
            <a:ahLst/>
            <a:cxnLst/>
            <a:rect r="r" b="b" t="t" l="l"/>
            <a:pathLst>
              <a:path h="5279138" w="7787916">
                <a:moveTo>
                  <a:pt x="0" y="0"/>
                </a:moveTo>
                <a:lnTo>
                  <a:pt x="7787916" y="0"/>
                </a:lnTo>
                <a:lnTo>
                  <a:pt x="7787916" y="5279138"/>
                </a:lnTo>
                <a:lnTo>
                  <a:pt x="0" y="5279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251" t="-3641" r="-14811" b="-515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48553" y="4450359"/>
            <a:ext cx="7580673" cy="5836641"/>
          </a:xfrm>
          <a:custGeom>
            <a:avLst/>
            <a:gdLst/>
            <a:ahLst/>
            <a:cxnLst/>
            <a:rect r="r" b="b" t="t" l="l"/>
            <a:pathLst>
              <a:path h="5836641" w="7580673">
                <a:moveTo>
                  <a:pt x="0" y="0"/>
                </a:moveTo>
                <a:lnTo>
                  <a:pt x="7580673" y="0"/>
                </a:lnTo>
                <a:lnTo>
                  <a:pt x="7580673" y="5836641"/>
                </a:lnTo>
                <a:lnTo>
                  <a:pt x="0" y="5836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350" t="0" r="-21707" b="-528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315476"/>
            <a:ext cx="5389850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薄膜沉積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Deposition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630044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•Oxidation 氧化  (SiO₂ 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8832" y="3207586"/>
            <a:ext cx="839422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為了在三個極上接上聯外金屬導線，要在上面開井窗，以爐管高溫烘烤方式在表面形成絕緣氧化層。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140898"/>
            <a:ext cx="5541609" cy="1981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1. Vapor Prime 表面預處理</a:t>
            </a:r>
          </a:p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2. Spin Coat 旋轉塗佈</a:t>
            </a:r>
          </a:p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3. Soft bake 軟烘烤</a:t>
            </a:r>
          </a:p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4. Cooling 冷卻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23769" y="5384869"/>
            <a:ext cx="373881" cy="37388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4858586"/>
            <a:ext cx="5389850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光阻劑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TextBox 21" id="21"/>
          <p:cNvSpPr txBox="true"/>
          <p:nvPr/>
        </p:nvSpPr>
        <p:spPr>
          <a:xfrm rot="734748">
            <a:off x="13351023" y="2321585"/>
            <a:ext cx="91355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Poly Silicon </a:t>
            </a:r>
          </a:p>
        </p:txBody>
      </p:sp>
      <p:sp>
        <p:nvSpPr>
          <p:cNvPr name="TextBox 22" id="22"/>
          <p:cNvSpPr txBox="true"/>
          <p:nvPr/>
        </p:nvSpPr>
        <p:spPr>
          <a:xfrm rot="748804">
            <a:off x="13667766" y="2878619"/>
            <a:ext cx="334452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23" id="23"/>
          <p:cNvSpPr txBox="true"/>
          <p:nvPr/>
        </p:nvSpPr>
        <p:spPr>
          <a:xfrm rot="769290">
            <a:off x="12062333" y="3063643"/>
            <a:ext cx="88228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Source (n+)</a:t>
            </a:r>
          </a:p>
        </p:txBody>
      </p:sp>
      <p:sp>
        <p:nvSpPr>
          <p:cNvPr name="TextBox 24" id="24"/>
          <p:cNvSpPr txBox="true"/>
          <p:nvPr/>
        </p:nvSpPr>
        <p:spPr>
          <a:xfrm rot="811831">
            <a:off x="14923337" y="3718734"/>
            <a:ext cx="88228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Drain (n+)</a:t>
            </a:r>
          </a:p>
        </p:txBody>
      </p:sp>
      <p:sp>
        <p:nvSpPr>
          <p:cNvPr name="TextBox 25" id="25"/>
          <p:cNvSpPr txBox="true"/>
          <p:nvPr/>
        </p:nvSpPr>
        <p:spPr>
          <a:xfrm rot="843057">
            <a:off x="13448354" y="3809225"/>
            <a:ext cx="773786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26" id="26"/>
          <p:cNvSpPr txBox="true"/>
          <p:nvPr/>
        </p:nvSpPr>
        <p:spPr>
          <a:xfrm rot="1073132">
            <a:off x="12734356" y="7260747"/>
            <a:ext cx="91355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Poly Silicon </a:t>
            </a:r>
          </a:p>
        </p:txBody>
      </p:sp>
      <p:sp>
        <p:nvSpPr>
          <p:cNvPr name="TextBox 27" id="27"/>
          <p:cNvSpPr txBox="true"/>
          <p:nvPr/>
        </p:nvSpPr>
        <p:spPr>
          <a:xfrm rot="1116926">
            <a:off x="13058627" y="7817112"/>
            <a:ext cx="334452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28" id="28"/>
          <p:cNvSpPr txBox="true"/>
          <p:nvPr/>
        </p:nvSpPr>
        <p:spPr>
          <a:xfrm rot="1047188">
            <a:off x="11613105" y="7896544"/>
            <a:ext cx="88228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Source (n+)</a:t>
            </a:r>
          </a:p>
        </p:txBody>
      </p:sp>
      <p:sp>
        <p:nvSpPr>
          <p:cNvPr name="TextBox 29" id="29"/>
          <p:cNvSpPr txBox="true"/>
          <p:nvPr/>
        </p:nvSpPr>
        <p:spPr>
          <a:xfrm rot="1049740">
            <a:off x="14153593" y="8726893"/>
            <a:ext cx="88228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Drain (n+)</a:t>
            </a:r>
          </a:p>
        </p:txBody>
      </p:sp>
      <p:sp>
        <p:nvSpPr>
          <p:cNvPr name="TextBox 30" id="30"/>
          <p:cNvSpPr txBox="true"/>
          <p:nvPr/>
        </p:nvSpPr>
        <p:spPr>
          <a:xfrm rot="1144818">
            <a:off x="12839033" y="8726975"/>
            <a:ext cx="773786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31" id="31"/>
          <p:cNvSpPr txBox="true"/>
          <p:nvPr/>
        </p:nvSpPr>
        <p:spPr>
          <a:xfrm rot="890257">
            <a:off x="12694770" y="6188455"/>
            <a:ext cx="917747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15/24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98929"/>
            <a:ext cx="9853055" cy="188071"/>
            <a:chOff x="0" y="0"/>
            <a:chExt cx="2496405" cy="47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405" cy="47650"/>
            </a:xfrm>
            <a:custGeom>
              <a:avLst/>
              <a:gdLst/>
              <a:ahLst/>
              <a:cxnLst/>
              <a:rect r="r" b="b" t="t" l="l"/>
              <a:pathLst>
                <a:path h="47650" w="2496405">
                  <a:moveTo>
                    <a:pt x="0" y="0"/>
                  </a:moveTo>
                  <a:lnTo>
                    <a:pt x="2496405" y="0"/>
                  </a:lnTo>
                  <a:lnTo>
                    <a:pt x="2496405" y="47650"/>
                  </a:lnTo>
                  <a:lnTo>
                    <a:pt x="0" y="4765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6405" cy="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3055" y="0"/>
            <a:ext cx="8434945" cy="167138"/>
            <a:chOff x="0" y="0"/>
            <a:chExt cx="2137108" cy="423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42347"/>
            </a:xfrm>
            <a:custGeom>
              <a:avLst/>
              <a:gdLst/>
              <a:ahLst/>
              <a:cxnLst/>
              <a:rect r="r" b="b" t="t" l="l"/>
              <a:pathLst>
                <a:path h="42347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42347"/>
                  </a:lnTo>
                  <a:lnTo>
                    <a:pt x="0" y="4234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8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682690" y="83569"/>
            <a:ext cx="4775674" cy="5059931"/>
          </a:xfrm>
          <a:custGeom>
            <a:avLst/>
            <a:gdLst/>
            <a:ahLst/>
            <a:cxnLst/>
            <a:rect r="r" b="b" t="t" l="l"/>
            <a:pathLst>
              <a:path h="5059931" w="4775674">
                <a:moveTo>
                  <a:pt x="0" y="0"/>
                </a:moveTo>
                <a:lnTo>
                  <a:pt x="4775675" y="0"/>
                </a:lnTo>
                <a:lnTo>
                  <a:pt x="4775675" y="5059931"/>
                </a:lnTo>
                <a:lnTo>
                  <a:pt x="0" y="5059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759" t="0" r="-41403" b="-267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82690" y="5911028"/>
            <a:ext cx="4775674" cy="4375972"/>
          </a:xfrm>
          <a:custGeom>
            <a:avLst/>
            <a:gdLst/>
            <a:ahLst/>
            <a:cxnLst/>
            <a:rect r="r" b="b" t="t" l="l"/>
            <a:pathLst>
              <a:path h="4375972" w="4775674">
                <a:moveTo>
                  <a:pt x="0" y="0"/>
                </a:moveTo>
                <a:lnTo>
                  <a:pt x="4775675" y="0"/>
                </a:lnTo>
                <a:lnTo>
                  <a:pt x="4775675" y="4375972"/>
                </a:lnTo>
                <a:lnTo>
                  <a:pt x="0" y="4375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263" t="0" r="-37571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284087">
            <a:off x="11060393" y="8566375"/>
            <a:ext cx="701729" cy="486824"/>
          </a:xfrm>
          <a:custGeom>
            <a:avLst/>
            <a:gdLst/>
            <a:ahLst/>
            <a:cxnLst/>
            <a:rect r="r" b="b" t="t" l="l"/>
            <a:pathLst>
              <a:path h="486824" w="701729">
                <a:moveTo>
                  <a:pt x="0" y="0"/>
                </a:moveTo>
                <a:lnTo>
                  <a:pt x="701729" y="0"/>
                </a:lnTo>
                <a:lnTo>
                  <a:pt x="701729" y="486825"/>
                </a:lnTo>
                <a:lnTo>
                  <a:pt x="0" y="48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2787195" y="1679927"/>
            <a:ext cx="3744158" cy="384304"/>
          </a:xfrm>
          <a:custGeom>
            <a:avLst/>
            <a:gdLst/>
            <a:ahLst/>
            <a:cxnLst/>
            <a:rect r="r" b="b" t="t" l="l"/>
            <a:pathLst>
              <a:path h="384304" w="3744158">
                <a:moveTo>
                  <a:pt x="0" y="0"/>
                </a:moveTo>
                <a:lnTo>
                  <a:pt x="3744157" y="0"/>
                </a:lnTo>
                <a:lnTo>
                  <a:pt x="3744157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2690" t="-72841" r="0" b="-7284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12290621" y="1079921"/>
            <a:ext cx="2544147" cy="384304"/>
          </a:xfrm>
          <a:custGeom>
            <a:avLst/>
            <a:gdLst/>
            <a:ahLst/>
            <a:cxnLst/>
            <a:rect r="r" b="b" t="t" l="l"/>
            <a:pathLst>
              <a:path h="384304" w="2544147">
                <a:moveTo>
                  <a:pt x="0" y="0"/>
                </a:moveTo>
                <a:lnTo>
                  <a:pt x="2544147" y="0"/>
                </a:lnTo>
                <a:lnTo>
                  <a:pt x="2544147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2260" t="-72841" r="-47167" b="-7284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400000">
            <a:off x="11209462" y="1193103"/>
            <a:ext cx="2883376" cy="384304"/>
          </a:xfrm>
          <a:custGeom>
            <a:avLst/>
            <a:gdLst/>
            <a:ahLst/>
            <a:cxnLst/>
            <a:rect r="r" b="b" t="t" l="l"/>
            <a:pathLst>
              <a:path h="384304" w="2883376">
                <a:moveTo>
                  <a:pt x="0" y="0"/>
                </a:moveTo>
                <a:lnTo>
                  <a:pt x="2883375" y="0"/>
                </a:lnTo>
                <a:lnTo>
                  <a:pt x="2883375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1406" t="-72841" r="-29853" b="-72841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523769" y="841759"/>
            <a:ext cx="373881" cy="37388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315476"/>
            <a:ext cx="5389850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微影製程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Photolithography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124749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•曝光後烘烤  (顯影前)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753399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•顯影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382049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•硬烘烤  (顯影後)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2496099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•曝光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23769" y="5981036"/>
            <a:ext cx="373881" cy="37388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28700" y="5454752"/>
            <a:ext cx="5389850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剝除光阻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Striping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7632289"/>
            <a:ext cx="882435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•剝除未受光阻保護的金屬，留下未照射區。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8260939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•NaOH (氫氧化鈉) 、 KOH (氫氧化鉀)</a:t>
            </a:r>
          </a:p>
        </p:txBody>
      </p:sp>
      <p:sp>
        <p:nvSpPr>
          <p:cNvPr name="TextBox 28" id="28"/>
          <p:cNvSpPr txBox="true"/>
          <p:nvPr/>
        </p:nvSpPr>
        <p:spPr>
          <a:xfrm rot="1207660">
            <a:off x="13150059" y="3285310"/>
            <a:ext cx="797668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Poly Silicon </a:t>
            </a:r>
          </a:p>
        </p:txBody>
      </p:sp>
      <p:sp>
        <p:nvSpPr>
          <p:cNvPr name="TextBox 29" id="29"/>
          <p:cNvSpPr txBox="true"/>
          <p:nvPr/>
        </p:nvSpPr>
        <p:spPr>
          <a:xfrm rot="1196252">
            <a:off x="13381622" y="3590903"/>
            <a:ext cx="334452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30" id="30"/>
          <p:cNvSpPr txBox="true"/>
          <p:nvPr/>
        </p:nvSpPr>
        <p:spPr>
          <a:xfrm rot="1317829">
            <a:off x="12553018" y="3601392"/>
            <a:ext cx="769021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Source (n+)</a:t>
            </a:r>
          </a:p>
        </p:txBody>
      </p:sp>
      <p:sp>
        <p:nvSpPr>
          <p:cNvPr name="TextBox 31" id="31"/>
          <p:cNvSpPr txBox="true"/>
          <p:nvPr/>
        </p:nvSpPr>
        <p:spPr>
          <a:xfrm rot="1253687">
            <a:off x="13904984" y="4119656"/>
            <a:ext cx="666549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Drain (n+)</a:t>
            </a:r>
          </a:p>
        </p:txBody>
      </p:sp>
      <p:sp>
        <p:nvSpPr>
          <p:cNvPr name="TextBox 32" id="32"/>
          <p:cNvSpPr txBox="true"/>
          <p:nvPr/>
        </p:nvSpPr>
        <p:spPr>
          <a:xfrm rot="1353213">
            <a:off x="13179454" y="4127399"/>
            <a:ext cx="773786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33" id="33"/>
          <p:cNvSpPr txBox="true"/>
          <p:nvPr/>
        </p:nvSpPr>
        <p:spPr>
          <a:xfrm rot="1114433">
            <a:off x="13106855" y="2697549"/>
            <a:ext cx="917747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TextBox 34" id="34"/>
          <p:cNvSpPr txBox="true"/>
          <p:nvPr/>
        </p:nvSpPr>
        <p:spPr>
          <a:xfrm rot="493869">
            <a:off x="13529490" y="7457580"/>
            <a:ext cx="91355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Poly Silicon </a:t>
            </a:r>
          </a:p>
        </p:txBody>
      </p:sp>
      <p:sp>
        <p:nvSpPr>
          <p:cNvPr name="TextBox 35" id="35"/>
          <p:cNvSpPr txBox="true"/>
          <p:nvPr/>
        </p:nvSpPr>
        <p:spPr>
          <a:xfrm rot="528052">
            <a:off x="13819136" y="7762133"/>
            <a:ext cx="334452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36" id="36"/>
          <p:cNvSpPr txBox="true"/>
          <p:nvPr/>
        </p:nvSpPr>
        <p:spPr>
          <a:xfrm rot="572891">
            <a:off x="12733769" y="7923434"/>
            <a:ext cx="88228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Source (n+)</a:t>
            </a:r>
          </a:p>
        </p:txBody>
      </p:sp>
      <p:sp>
        <p:nvSpPr>
          <p:cNvPr name="TextBox 37" id="37"/>
          <p:cNvSpPr txBox="true"/>
          <p:nvPr/>
        </p:nvSpPr>
        <p:spPr>
          <a:xfrm rot="554063">
            <a:off x="14411810" y="8231817"/>
            <a:ext cx="88228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Drain (n+)</a:t>
            </a:r>
          </a:p>
        </p:txBody>
      </p:sp>
      <p:sp>
        <p:nvSpPr>
          <p:cNvPr name="TextBox 38" id="38"/>
          <p:cNvSpPr txBox="true"/>
          <p:nvPr/>
        </p:nvSpPr>
        <p:spPr>
          <a:xfrm rot="579975">
            <a:off x="13634294" y="8390806"/>
            <a:ext cx="773786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39" id="39"/>
          <p:cNvSpPr txBox="true"/>
          <p:nvPr/>
        </p:nvSpPr>
        <p:spPr>
          <a:xfrm rot="479577">
            <a:off x="13848629" y="6159032"/>
            <a:ext cx="917747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TextBox 40" id="40"/>
          <p:cNvSpPr txBox="true"/>
          <p:nvPr/>
        </p:nvSpPr>
        <p:spPr>
          <a:xfrm rot="777949">
            <a:off x="13829245" y="481443"/>
            <a:ext cx="569891" cy="27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1"/>
              </a:lnSpc>
              <a:spcBef>
                <a:spcPct val="0"/>
              </a:spcBef>
            </a:pPr>
            <a:r>
              <a:rPr lang="en-US" b="true" sz="16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Mask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16/24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98929"/>
            <a:ext cx="9853055" cy="188071"/>
            <a:chOff x="0" y="0"/>
            <a:chExt cx="2496405" cy="47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405" cy="47650"/>
            </a:xfrm>
            <a:custGeom>
              <a:avLst/>
              <a:gdLst/>
              <a:ahLst/>
              <a:cxnLst/>
              <a:rect r="r" b="b" t="t" l="l"/>
              <a:pathLst>
                <a:path h="47650" w="2496405">
                  <a:moveTo>
                    <a:pt x="0" y="0"/>
                  </a:moveTo>
                  <a:lnTo>
                    <a:pt x="2496405" y="0"/>
                  </a:lnTo>
                  <a:lnTo>
                    <a:pt x="2496405" y="47650"/>
                  </a:lnTo>
                  <a:lnTo>
                    <a:pt x="0" y="4765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6405" cy="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3055" y="0"/>
            <a:ext cx="8434945" cy="167138"/>
            <a:chOff x="0" y="0"/>
            <a:chExt cx="2137108" cy="423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42347"/>
            </a:xfrm>
            <a:custGeom>
              <a:avLst/>
              <a:gdLst/>
              <a:ahLst/>
              <a:cxnLst/>
              <a:rect r="r" b="b" t="t" l="l"/>
              <a:pathLst>
                <a:path h="42347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42347"/>
                  </a:lnTo>
                  <a:lnTo>
                    <a:pt x="0" y="4234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8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106056" y="167138"/>
            <a:ext cx="5928942" cy="5143500"/>
          </a:xfrm>
          <a:custGeom>
            <a:avLst/>
            <a:gdLst/>
            <a:ahLst/>
            <a:cxnLst/>
            <a:rect r="r" b="b" t="t" l="l"/>
            <a:pathLst>
              <a:path h="5143500" w="5928942">
                <a:moveTo>
                  <a:pt x="0" y="0"/>
                </a:moveTo>
                <a:lnTo>
                  <a:pt x="5928943" y="0"/>
                </a:lnTo>
                <a:lnTo>
                  <a:pt x="592894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918" t="0" r="-30247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148073" y="5900464"/>
            <a:ext cx="5844909" cy="4198465"/>
          </a:xfrm>
          <a:custGeom>
            <a:avLst/>
            <a:gdLst/>
            <a:ahLst/>
            <a:cxnLst/>
            <a:rect r="r" b="b" t="t" l="l"/>
            <a:pathLst>
              <a:path h="4198465" w="5844909">
                <a:moveTo>
                  <a:pt x="0" y="0"/>
                </a:moveTo>
                <a:lnTo>
                  <a:pt x="5844909" y="0"/>
                </a:lnTo>
                <a:lnTo>
                  <a:pt x="5844909" y="4198465"/>
                </a:lnTo>
                <a:lnTo>
                  <a:pt x="0" y="41984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21" t="0" r="-15828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284087">
            <a:off x="10755192" y="3347442"/>
            <a:ext cx="701729" cy="486824"/>
          </a:xfrm>
          <a:custGeom>
            <a:avLst/>
            <a:gdLst/>
            <a:ahLst/>
            <a:cxnLst/>
            <a:rect r="r" b="b" t="t" l="l"/>
            <a:pathLst>
              <a:path h="486824" w="701729">
                <a:moveTo>
                  <a:pt x="0" y="0"/>
                </a:moveTo>
                <a:lnTo>
                  <a:pt x="701729" y="0"/>
                </a:lnTo>
                <a:lnTo>
                  <a:pt x="701729" y="486824"/>
                </a:lnTo>
                <a:lnTo>
                  <a:pt x="0" y="486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68758" y="890527"/>
            <a:ext cx="373881" cy="3738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73689" y="364244"/>
            <a:ext cx="6563412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蝕刻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Etching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3689" y="3256156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•乾式蝕刻  (電漿蝕刻)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3689" y="3884806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•透過溶劑或電漿清除剩餘光阻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3689" y="2627506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•濕式蝕刻  (↑3μm 製程 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3689" y="4513456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•三步驟 : 蝕刻、沖洗、旋乾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61884" y="5703571"/>
            <a:ext cx="373881" cy="37388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66816" y="5177288"/>
            <a:ext cx="5921620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金屬薄膜沉積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Metal Deposition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6816" y="7646717"/>
            <a:ext cx="81153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•沉積金屬形成薄膜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8373" y="8272335"/>
            <a:ext cx="842279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- 現今通常用CVD-ALD將金屬Cu氣相沉積至晶圓表面。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-8530450">
            <a:off x="15507690" y="5012936"/>
            <a:ext cx="1404790" cy="1612384"/>
          </a:xfrm>
          <a:custGeom>
            <a:avLst/>
            <a:gdLst/>
            <a:ahLst/>
            <a:cxnLst/>
            <a:rect r="r" b="b" t="t" l="l"/>
            <a:pathLst>
              <a:path h="1612384" w="1404790">
                <a:moveTo>
                  <a:pt x="0" y="0"/>
                </a:moveTo>
                <a:lnTo>
                  <a:pt x="1404790" y="0"/>
                </a:lnTo>
                <a:lnTo>
                  <a:pt x="1404790" y="1612384"/>
                </a:lnTo>
                <a:lnTo>
                  <a:pt x="0" y="1612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16761583" y="4703956"/>
            <a:ext cx="546832" cy="42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Cu</a:t>
            </a:r>
          </a:p>
        </p:txBody>
      </p:sp>
      <p:sp>
        <p:nvSpPr>
          <p:cNvPr name="TextBox 27" id="27"/>
          <p:cNvSpPr txBox="true"/>
          <p:nvPr/>
        </p:nvSpPr>
        <p:spPr>
          <a:xfrm rot="753217">
            <a:off x="12984531" y="7582149"/>
            <a:ext cx="91355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Poly Silicon </a:t>
            </a:r>
          </a:p>
        </p:txBody>
      </p:sp>
      <p:sp>
        <p:nvSpPr>
          <p:cNvPr name="TextBox 28" id="28"/>
          <p:cNvSpPr txBox="true"/>
          <p:nvPr/>
        </p:nvSpPr>
        <p:spPr>
          <a:xfrm rot="788766">
            <a:off x="13307542" y="7977788"/>
            <a:ext cx="334452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29" id="29"/>
          <p:cNvSpPr txBox="true"/>
          <p:nvPr/>
        </p:nvSpPr>
        <p:spPr>
          <a:xfrm rot="1026208">
            <a:off x="12087708" y="8106856"/>
            <a:ext cx="88228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Source (n+)</a:t>
            </a:r>
          </a:p>
        </p:txBody>
      </p:sp>
      <p:sp>
        <p:nvSpPr>
          <p:cNvPr name="TextBox 30" id="30"/>
          <p:cNvSpPr txBox="true"/>
          <p:nvPr/>
        </p:nvSpPr>
        <p:spPr>
          <a:xfrm rot="1038168">
            <a:off x="14079970" y="8663769"/>
            <a:ext cx="88228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Drain (n+)</a:t>
            </a:r>
          </a:p>
        </p:txBody>
      </p:sp>
      <p:sp>
        <p:nvSpPr>
          <p:cNvPr name="TextBox 31" id="31"/>
          <p:cNvSpPr txBox="true"/>
          <p:nvPr/>
        </p:nvSpPr>
        <p:spPr>
          <a:xfrm rot="1020202">
            <a:off x="13124303" y="8785209"/>
            <a:ext cx="773786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32" id="32"/>
          <p:cNvSpPr txBox="true"/>
          <p:nvPr/>
        </p:nvSpPr>
        <p:spPr>
          <a:xfrm rot="573006">
            <a:off x="13408702" y="2271595"/>
            <a:ext cx="91355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Poly Silicon </a:t>
            </a:r>
          </a:p>
        </p:txBody>
      </p:sp>
      <p:sp>
        <p:nvSpPr>
          <p:cNvPr name="TextBox 33" id="33"/>
          <p:cNvSpPr txBox="true"/>
          <p:nvPr/>
        </p:nvSpPr>
        <p:spPr>
          <a:xfrm rot="528052">
            <a:off x="13631325" y="2643473"/>
            <a:ext cx="334452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34" id="34"/>
          <p:cNvSpPr txBox="true"/>
          <p:nvPr/>
        </p:nvSpPr>
        <p:spPr>
          <a:xfrm rot="572891">
            <a:off x="12427483" y="2824689"/>
            <a:ext cx="88228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Source (n+)</a:t>
            </a:r>
          </a:p>
        </p:txBody>
      </p:sp>
      <p:sp>
        <p:nvSpPr>
          <p:cNvPr name="TextBox 35" id="35"/>
          <p:cNvSpPr txBox="true"/>
          <p:nvPr/>
        </p:nvSpPr>
        <p:spPr>
          <a:xfrm rot="554063">
            <a:off x="14416428" y="3227034"/>
            <a:ext cx="88228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Drain (n+)</a:t>
            </a:r>
          </a:p>
        </p:txBody>
      </p:sp>
      <p:sp>
        <p:nvSpPr>
          <p:cNvPr name="TextBox 36" id="36"/>
          <p:cNvSpPr txBox="true"/>
          <p:nvPr/>
        </p:nvSpPr>
        <p:spPr>
          <a:xfrm rot="579975">
            <a:off x="13483709" y="3386023"/>
            <a:ext cx="773786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37" id="37"/>
          <p:cNvSpPr txBox="true"/>
          <p:nvPr/>
        </p:nvSpPr>
        <p:spPr>
          <a:xfrm rot="479577">
            <a:off x="13806383" y="629945"/>
            <a:ext cx="917747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TextBox 38" id="38"/>
          <p:cNvSpPr txBox="true"/>
          <p:nvPr/>
        </p:nvSpPr>
        <p:spPr>
          <a:xfrm rot="658226">
            <a:off x="13039302" y="6810545"/>
            <a:ext cx="803503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Metal - Cu</a:t>
            </a:r>
          </a:p>
        </p:txBody>
      </p:sp>
      <p:sp>
        <p:nvSpPr>
          <p:cNvPr name="TextBox 39" id="39"/>
          <p:cNvSpPr txBox="true"/>
          <p:nvPr/>
        </p:nvSpPr>
        <p:spPr>
          <a:xfrm rot="817766">
            <a:off x="11533532" y="7294558"/>
            <a:ext cx="803503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Metal - Cu</a:t>
            </a:r>
          </a:p>
        </p:txBody>
      </p:sp>
      <p:sp>
        <p:nvSpPr>
          <p:cNvPr name="TextBox 40" id="40"/>
          <p:cNvSpPr txBox="true"/>
          <p:nvPr/>
        </p:nvSpPr>
        <p:spPr>
          <a:xfrm rot="846459">
            <a:off x="15007852" y="8141989"/>
            <a:ext cx="803503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Metal - Cu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68373" y="8818435"/>
            <a:ext cx="842279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- Layout中最靠近底層的金屬稱 Metal 1  (M1)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17/24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98929"/>
            <a:ext cx="9853055" cy="188071"/>
            <a:chOff x="0" y="0"/>
            <a:chExt cx="2496405" cy="47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405" cy="47650"/>
            </a:xfrm>
            <a:custGeom>
              <a:avLst/>
              <a:gdLst/>
              <a:ahLst/>
              <a:cxnLst/>
              <a:rect r="r" b="b" t="t" l="l"/>
              <a:pathLst>
                <a:path h="47650" w="2496405">
                  <a:moveTo>
                    <a:pt x="0" y="0"/>
                  </a:moveTo>
                  <a:lnTo>
                    <a:pt x="2496405" y="0"/>
                  </a:lnTo>
                  <a:lnTo>
                    <a:pt x="2496405" y="47650"/>
                  </a:lnTo>
                  <a:lnTo>
                    <a:pt x="0" y="4765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6405" cy="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3055" y="0"/>
            <a:ext cx="8434945" cy="167138"/>
            <a:chOff x="0" y="0"/>
            <a:chExt cx="2137108" cy="423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42347"/>
            </a:xfrm>
            <a:custGeom>
              <a:avLst/>
              <a:gdLst/>
              <a:ahLst/>
              <a:cxnLst/>
              <a:rect r="r" b="b" t="t" l="l"/>
              <a:pathLst>
                <a:path h="42347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42347"/>
                  </a:lnTo>
                  <a:lnTo>
                    <a:pt x="0" y="4234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8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846955" y="167138"/>
            <a:ext cx="6447144" cy="4621797"/>
          </a:xfrm>
          <a:custGeom>
            <a:avLst/>
            <a:gdLst/>
            <a:ahLst/>
            <a:cxnLst/>
            <a:rect r="r" b="b" t="t" l="l"/>
            <a:pathLst>
              <a:path h="4621797" w="6447144">
                <a:moveTo>
                  <a:pt x="0" y="0"/>
                </a:moveTo>
                <a:lnTo>
                  <a:pt x="6447144" y="0"/>
                </a:lnTo>
                <a:lnTo>
                  <a:pt x="6447144" y="4621796"/>
                </a:lnTo>
                <a:lnTo>
                  <a:pt x="0" y="4621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98" t="0" r="-18196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11610032" y="6278888"/>
            <a:ext cx="1795955" cy="384304"/>
          </a:xfrm>
          <a:custGeom>
            <a:avLst/>
            <a:gdLst/>
            <a:ahLst/>
            <a:cxnLst/>
            <a:rect r="r" b="b" t="t" l="l"/>
            <a:pathLst>
              <a:path h="384304" w="1795955">
                <a:moveTo>
                  <a:pt x="0" y="0"/>
                </a:moveTo>
                <a:lnTo>
                  <a:pt x="1795955" y="0"/>
                </a:lnTo>
                <a:lnTo>
                  <a:pt x="1795955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1244" t="-72841" r="-47928" b="-7284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2759375" y="6288802"/>
            <a:ext cx="1269489" cy="384304"/>
          </a:xfrm>
          <a:custGeom>
            <a:avLst/>
            <a:gdLst/>
            <a:ahLst/>
            <a:cxnLst/>
            <a:rect r="r" b="b" t="t" l="l"/>
            <a:pathLst>
              <a:path h="384304" w="1269489">
                <a:moveTo>
                  <a:pt x="0" y="0"/>
                </a:moveTo>
                <a:lnTo>
                  <a:pt x="1269489" y="0"/>
                </a:lnTo>
                <a:lnTo>
                  <a:pt x="1269489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2025" t="-72841" r="-67805" b="-7284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4905916" y="6646497"/>
            <a:ext cx="1555316" cy="384304"/>
          </a:xfrm>
          <a:custGeom>
            <a:avLst/>
            <a:gdLst/>
            <a:ahLst/>
            <a:cxnLst/>
            <a:rect r="r" b="b" t="t" l="l"/>
            <a:pathLst>
              <a:path h="384304" w="1555316">
                <a:moveTo>
                  <a:pt x="0" y="0"/>
                </a:moveTo>
                <a:lnTo>
                  <a:pt x="1555317" y="0"/>
                </a:lnTo>
                <a:lnTo>
                  <a:pt x="1555317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6305" t="-72841" r="-55344" b="-7284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14510200" y="6637549"/>
            <a:ext cx="1555316" cy="384304"/>
          </a:xfrm>
          <a:custGeom>
            <a:avLst/>
            <a:gdLst/>
            <a:ahLst/>
            <a:cxnLst/>
            <a:rect r="r" b="b" t="t" l="l"/>
            <a:pathLst>
              <a:path h="384304" w="1555316">
                <a:moveTo>
                  <a:pt x="0" y="0"/>
                </a:moveTo>
                <a:lnTo>
                  <a:pt x="1555317" y="0"/>
                </a:lnTo>
                <a:lnTo>
                  <a:pt x="1555317" y="384303"/>
                </a:lnTo>
                <a:lnTo>
                  <a:pt x="0" y="3843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6305" t="-72841" r="-55344" b="-7284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400000">
            <a:off x="14011493" y="6396193"/>
            <a:ext cx="1054708" cy="384304"/>
          </a:xfrm>
          <a:custGeom>
            <a:avLst/>
            <a:gdLst/>
            <a:ahLst/>
            <a:cxnLst/>
            <a:rect r="r" b="b" t="t" l="l"/>
            <a:pathLst>
              <a:path h="384304" w="1054708">
                <a:moveTo>
                  <a:pt x="0" y="0"/>
                </a:moveTo>
                <a:lnTo>
                  <a:pt x="1054708" y="0"/>
                </a:lnTo>
                <a:lnTo>
                  <a:pt x="1054708" y="384303"/>
                </a:lnTo>
                <a:lnTo>
                  <a:pt x="0" y="3843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40245" t="-157216" r="-133991" b="-157216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924630" y="4653037"/>
            <a:ext cx="6369470" cy="5633963"/>
          </a:xfrm>
          <a:custGeom>
            <a:avLst/>
            <a:gdLst/>
            <a:ahLst/>
            <a:cxnLst/>
            <a:rect r="r" b="b" t="t" l="l"/>
            <a:pathLst>
              <a:path h="5633963" w="6369470">
                <a:moveTo>
                  <a:pt x="0" y="0"/>
                </a:moveTo>
                <a:lnTo>
                  <a:pt x="6369469" y="0"/>
                </a:lnTo>
                <a:lnTo>
                  <a:pt x="6369469" y="5633963"/>
                </a:lnTo>
                <a:lnTo>
                  <a:pt x="0" y="5633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003" t="-2736" r="-38733" b="-3338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67022" y="2723454"/>
            <a:ext cx="5541609" cy="1981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1. Vapor Prime 表面預處理</a:t>
            </a:r>
          </a:p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2. Spin Coat 旋轉塗佈</a:t>
            </a:r>
          </a:p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3. Soft bake 軟烘烤</a:t>
            </a:r>
          </a:p>
          <a:p>
            <a:pPr algn="l">
              <a:lnSpc>
                <a:spcPts val="3900"/>
              </a:lnSpc>
            </a:pPr>
            <a:r>
              <a:rPr lang="en-US" sz="30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4. Cooling 冷卻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62091" y="967426"/>
            <a:ext cx="373881" cy="37388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67022" y="441142"/>
            <a:ext cx="5389850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光阻劑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TextBox 20" id="20"/>
          <p:cNvSpPr txBox="true"/>
          <p:nvPr/>
        </p:nvSpPr>
        <p:spPr>
          <a:xfrm rot="342292">
            <a:off x="13218125" y="2272699"/>
            <a:ext cx="91355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Poly Silicon </a:t>
            </a:r>
          </a:p>
        </p:txBody>
      </p:sp>
      <p:sp>
        <p:nvSpPr>
          <p:cNvPr name="TextBox 21" id="21"/>
          <p:cNvSpPr txBox="true"/>
          <p:nvPr/>
        </p:nvSpPr>
        <p:spPr>
          <a:xfrm rot="410662">
            <a:off x="13507866" y="2756732"/>
            <a:ext cx="334452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22" id="22"/>
          <p:cNvSpPr txBox="true"/>
          <p:nvPr/>
        </p:nvSpPr>
        <p:spPr>
          <a:xfrm rot="599441">
            <a:off x="12117002" y="3029965"/>
            <a:ext cx="88228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Source (n+)</a:t>
            </a:r>
          </a:p>
        </p:txBody>
      </p:sp>
      <p:sp>
        <p:nvSpPr>
          <p:cNvPr name="TextBox 23" id="23"/>
          <p:cNvSpPr txBox="true"/>
          <p:nvPr/>
        </p:nvSpPr>
        <p:spPr>
          <a:xfrm rot="485408">
            <a:off x="14477268" y="3361626"/>
            <a:ext cx="882289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Drain (n+)</a:t>
            </a:r>
          </a:p>
        </p:txBody>
      </p:sp>
      <p:sp>
        <p:nvSpPr>
          <p:cNvPr name="TextBox 24" id="24"/>
          <p:cNvSpPr txBox="true"/>
          <p:nvPr/>
        </p:nvSpPr>
        <p:spPr>
          <a:xfrm rot="606781">
            <a:off x="13288736" y="3624855"/>
            <a:ext cx="773786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25" id="25"/>
          <p:cNvSpPr txBox="true"/>
          <p:nvPr/>
        </p:nvSpPr>
        <p:spPr>
          <a:xfrm rot="220447">
            <a:off x="13148609" y="1098565"/>
            <a:ext cx="917747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TextBox 26" id="26"/>
          <p:cNvSpPr txBox="true"/>
          <p:nvPr/>
        </p:nvSpPr>
        <p:spPr>
          <a:xfrm rot="244537">
            <a:off x="13217196" y="1735269"/>
            <a:ext cx="780706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Metal - Cu</a:t>
            </a:r>
          </a:p>
        </p:txBody>
      </p:sp>
      <p:sp>
        <p:nvSpPr>
          <p:cNvPr name="TextBox 27" id="27"/>
          <p:cNvSpPr txBox="true"/>
          <p:nvPr/>
        </p:nvSpPr>
        <p:spPr>
          <a:xfrm rot="244537">
            <a:off x="11746698" y="2486527"/>
            <a:ext cx="780706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Metal - Cu</a:t>
            </a:r>
          </a:p>
        </p:txBody>
      </p:sp>
      <p:sp>
        <p:nvSpPr>
          <p:cNvPr name="TextBox 28" id="28"/>
          <p:cNvSpPr txBox="true"/>
          <p:nvPr/>
        </p:nvSpPr>
        <p:spPr>
          <a:xfrm rot="244537">
            <a:off x="14898182" y="2937351"/>
            <a:ext cx="780706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Metal - Cu</a:t>
            </a:r>
          </a:p>
        </p:txBody>
      </p:sp>
      <p:sp>
        <p:nvSpPr>
          <p:cNvPr name="TextBox 29" id="29"/>
          <p:cNvSpPr txBox="true"/>
          <p:nvPr/>
        </p:nvSpPr>
        <p:spPr>
          <a:xfrm rot="777949">
            <a:off x="13325132" y="6383651"/>
            <a:ext cx="569891" cy="27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61"/>
              </a:lnSpc>
              <a:spcBef>
                <a:spcPct val="0"/>
              </a:spcBef>
            </a:pPr>
            <a:r>
              <a:rPr lang="en-US" b="true" sz="16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Mask</a:t>
            </a:r>
          </a:p>
        </p:txBody>
      </p:sp>
      <p:sp>
        <p:nvSpPr>
          <p:cNvPr name="TextBox 30" id="30"/>
          <p:cNvSpPr txBox="true"/>
          <p:nvPr/>
        </p:nvSpPr>
        <p:spPr>
          <a:xfrm rot="1064684">
            <a:off x="13437919" y="8709582"/>
            <a:ext cx="765347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Poly Silicon </a:t>
            </a:r>
          </a:p>
        </p:txBody>
      </p:sp>
      <p:sp>
        <p:nvSpPr>
          <p:cNvPr name="TextBox 31" id="31"/>
          <p:cNvSpPr txBox="true"/>
          <p:nvPr/>
        </p:nvSpPr>
        <p:spPr>
          <a:xfrm rot="1049723">
            <a:off x="13658270" y="8939019"/>
            <a:ext cx="334452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32" id="32"/>
          <p:cNvSpPr txBox="true"/>
          <p:nvPr/>
        </p:nvSpPr>
        <p:spPr>
          <a:xfrm rot="1026208">
            <a:off x="12706274" y="8988963"/>
            <a:ext cx="882289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Source (n+)</a:t>
            </a:r>
          </a:p>
        </p:txBody>
      </p:sp>
      <p:sp>
        <p:nvSpPr>
          <p:cNvPr name="TextBox 33" id="33"/>
          <p:cNvSpPr txBox="true"/>
          <p:nvPr/>
        </p:nvSpPr>
        <p:spPr>
          <a:xfrm rot="1038168">
            <a:off x="14143303" y="9443159"/>
            <a:ext cx="882289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Drain (n+)</a:t>
            </a:r>
          </a:p>
        </p:txBody>
      </p:sp>
      <p:sp>
        <p:nvSpPr>
          <p:cNvPr name="TextBox 34" id="34"/>
          <p:cNvSpPr txBox="true"/>
          <p:nvPr/>
        </p:nvSpPr>
        <p:spPr>
          <a:xfrm rot="1020202">
            <a:off x="13467924" y="9425182"/>
            <a:ext cx="773786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35" id="35"/>
          <p:cNvSpPr txBox="true"/>
          <p:nvPr/>
        </p:nvSpPr>
        <p:spPr>
          <a:xfrm rot="880673">
            <a:off x="13519928" y="8325830"/>
            <a:ext cx="668663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Metal - Cu</a:t>
            </a:r>
          </a:p>
        </p:txBody>
      </p:sp>
      <p:sp>
        <p:nvSpPr>
          <p:cNvPr name="TextBox 36" id="36"/>
          <p:cNvSpPr txBox="true"/>
          <p:nvPr/>
        </p:nvSpPr>
        <p:spPr>
          <a:xfrm rot="817766">
            <a:off x="12442177" y="8491217"/>
            <a:ext cx="803503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Metal - Cu</a:t>
            </a:r>
          </a:p>
        </p:txBody>
      </p:sp>
      <p:sp>
        <p:nvSpPr>
          <p:cNvPr name="TextBox 37" id="37"/>
          <p:cNvSpPr txBox="true"/>
          <p:nvPr/>
        </p:nvSpPr>
        <p:spPr>
          <a:xfrm rot="846459">
            <a:off x="14560743" y="9157323"/>
            <a:ext cx="803503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Metal - Cu</a:t>
            </a:r>
          </a:p>
        </p:txBody>
      </p:sp>
      <p:sp>
        <p:nvSpPr>
          <p:cNvPr name="TextBox 38" id="38"/>
          <p:cNvSpPr txBox="true"/>
          <p:nvPr/>
        </p:nvSpPr>
        <p:spPr>
          <a:xfrm rot="983607">
            <a:off x="13466561" y="7875304"/>
            <a:ext cx="917747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5400000">
            <a:off x="12200864" y="7484012"/>
            <a:ext cx="614292" cy="384304"/>
          </a:xfrm>
          <a:custGeom>
            <a:avLst/>
            <a:gdLst/>
            <a:ahLst/>
            <a:cxnLst/>
            <a:rect r="r" b="b" t="t" l="l"/>
            <a:pathLst>
              <a:path h="384304" w="614292">
                <a:moveTo>
                  <a:pt x="0" y="0"/>
                </a:moveTo>
                <a:lnTo>
                  <a:pt x="614292" y="0"/>
                </a:lnTo>
                <a:lnTo>
                  <a:pt x="614292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1487" t="-72841" r="-140125" b="-72841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5400000">
            <a:off x="12042282" y="4926613"/>
            <a:ext cx="931456" cy="384304"/>
          </a:xfrm>
          <a:custGeom>
            <a:avLst/>
            <a:gdLst/>
            <a:ahLst/>
            <a:cxnLst/>
            <a:rect r="r" b="b" t="t" l="l"/>
            <a:pathLst>
              <a:path h="384304" w="931456">
                <a:moveTo>
                  <a:pt x="0" y="0"/>
                </a:moveTo>
                <a:lnTo>
                  <a:pt x="931455" y="0"/>
                </a:lnTo>
                <a:lnTo>
                  <a:pt x="931455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2780" t="-72841" r="-91185" b="-72841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5400000">
            <a:off x="13086973" y="7230693"/>
            <a:ext cx="614292" cy="384304"/>
          </a:xfrm>
          <a:custGeom>
            <a:avLst/>
            <a:gdLst/>
            <a:ahLst/>
            <a:cxnLst/>
            <a:rect r="r" b="b" t="t" l="l"/>
            <a:pathLst>
              <a:path h="384304" w="614292">
                <a:moveTo>
                  <a:pt x="0" y="0"/>
                </a:moveTo>
                <a:lnTo>
                  <a:pt x="614293" y="0"/>
                </a:lnTo>
                <a:lnTo>
                  <a:pt x="614293" y="384303"/>
                </a:lnTo>
                <a:lnTo>
                  <a:pt x="0" y="3843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51487" t="-72841" r="-140125" b="-72841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5400000">
            <a:off x="15364062" y="7743667"/>
            <a:ext cx="639024" cy="384304"/>
          </a:xfrm>
          <a:custGeom>
            <a:avLst/>
            <a:gdLst/>
            <a:ahLst/>
            <a:cxnLst/>
            <a:rect r="r" b="b" t="t" l="l"/>
            <a:pathLst>
              <a:path h="384304" w="639024">
                <a:moveTo>
                  <a:pt x="0" y="0"/>
                </a:moveTo>
                <a:lnTo>
                  <a:pt x="639025" y="0"/>
                </a:lnTo>
                <a:lnTo>
                  <a:pt x="639025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8532" t="-72841" r="-134702" b="-72841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5400000">
            <a:off x="12791211" y="5063793"/>
            <a:ext cx="1205816" cy="384304"/>
          </a:xfrm>
          <a:custGeom>
            <a:avLst/>
            <a:gdLst/>
            <a:ahLst/>
            <a:cxnLst/>
            <a:rect r="r" b="b" t="t" l="l"/>
            <a:pathLst>
              <a:path h="384304" w="1205816">
                <a:moveTo>
                  <a:pt x="0" y="0"/>
                </a:moveTo>
                <a:lnTo>
                  <a:pt x="1205816" y="0"/>
                </a:lnTo>
                <a:lnTo>
                  <a:pt x="1205816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4730" t="-72841" r="-70437" b="-72841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5400000">
            <a:off x="14979598" y="5164862"/>
            <a:ext cx="1407953" cy="384304"/>
          </a:xfrm>
          <a:custGeom>
            <a:avLst/>
            <a:gdLst/>
            <a:ahLst/>
            <a:cxnLst/>
            <a:rect r="r" b="b" t="t" l="l"/>
            <a:pathLst>
              <a:path h="384304" w="1407953">
                <a:moveTo>
                  <a:pt x="0" y="0"/>
                </a:moveTo>
                <a:lnTo>
                  <a:pt x="1407953" y="0"/>
                </a:lnTo>
                <a:lnTo>
                  <a:pt x="1407953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505" t="-72841" r="-61137" b="-72841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5400000">
            <a:off x="14968346" y="7734719"/>
            <a:ext cx="639024" cy="384304"/>
          </a:xfrm>
          <a:custGeom>
            <a:avLst/>
            <a:gdLst/>
            <a:ahLst/>
            <a:cxnLst/>
            <a:rect r="r" b="b" t="t" l="l"/>
            <a:pathLst>
              <a:path h="384304" w="639024">
                <a:moveTo>
                  <a:pt x="0" y="0"/>
                </a:moveTo>
                <a:lnTo>
                  <a:pt x="639025" y="0"/>
                </a:lnTo>
                <a:lnTo>
                  <a:pt x="639025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8532" t="-72841" r="-134702" b="-72841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5400000">
            <a:off x="14583882" y="5164862"/>
            <a:ext cx="1407953" cy="384304"/>
          </a:xfrm>
          <a:custGeom>
            <a:avLst/>
            <a:gdLst/>
            <a:ahLst/>
            <a:cxnLst/>
            <a:rect r="r" b="b" t="t" l="l"/>
            <a:pathLst>
              <a:path h="384304" w="1407953">
                <a:moveTo>
                  <a:pt x="0" y="0"/>
                </a:moveTo>
                <a:lnTo>
                  <a:pt x="1407953" y="0"/>
                </a:lnTo>
                <a:lnTo>
                  <a:pt x="1407953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505" t="-72841" r="-61137" b="-72841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5400000">
            <a:off x="14124024" y="7328844"/>
            <a:ext cx="829646" cy="384304"/>
          </a:xfrm>
          <a:custGeom>
            <a:avLst/>
            <a:gdLst/>
            <a:ahLst/>
            <a:cxnLst/>
            <a:rect r="r" b="b" t="t" l="l"/>
            <a:pathLst>
              <a:path h="384304" w="829646">
                <a:moveTo>
                  <a:pt x="0" y="0"/>
                </a:moveTo>
                <a:lnTo>
                  <a:pt x="829646" y="0"/>
                </a:lnTo>
                <a:lnTo>
                  <a:pt x="829646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1055" t="-157216" r="-197467" b="-157216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5400000">
            <a:off x="13834870" y="5164862"/>
            <a:ext cx="1407953" cy="384304"/>
          </a:xfrm>
          <a:custGeom>
            <a:avLst/>
            <a:gdLst/>
            <a:ahLst/>
            <a:cxnLst/>
            <a:rect r="r" b="b" t="t" l="l"/>
            <a:pathLst>
              <a:path h="384304" w="1407953">
                <a:moveTo>
                  <a:pt x="0" y="0"/>
                </a:moveTo>
                <a:lnTo>
                  <a:pt x="1407954" y="0"/>
                </a:lnTo>
                <a:lnTo>
                  <a:pt x="1407954" y="384304"/>
                </a:lnTo>
                <a:lnTo>
                  <a:pt x="0" y="384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505" t="-72841" r="-61137" b="-72841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0846955" y="4598990"/>
            <a:ext cx="7479882" cy="69198"/>
            <a:chOff x="0" y="0"/>
            <a:chExt cx="1895129" cy="1753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95129" cy="17532"/>
            </a:xfrm>
            <a:custGeom>
              <a:avLst/>
              <a:gdLst/>
              <a:ahLst/>
              <a:cxnLst/>
              <a:rect r="r" b="b" t="t" l="l"/>
              <a:pathLst>
                <a:path h="17532" w="1895129">
                  <a:moveTo>
                    <a:pt x="0" y="0"/>
                  </a:moveTo>
                  <a:lnTo>
                    <a:pt x="1895129" y="0"/>
                  </a:lnTo>
                  <a:lnTo>
                    <a:pt x="1895129" y="17532"/>
                  </a:lnTo>
                  <a:lnTo>
                    <a:pt x="0" y="17532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895129" cy="55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62091" y="5402379"/>
            <a:ext cx="373881" cy="373881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4" id="5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67022" y="4876096"/>
            <a:ext cx="5389850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微影製程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Photolithography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67022" y="7685369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•曝光後烘烤  (顯影前)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67022" y="8314019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•顯影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67022" y="8942669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•硬烘烤  (顯影後)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67022" y="7056719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•曝光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18/24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98929"/>
            <a:ext cx="9853055" cy="188071"/>
            <a:chOff x="0" y="0"/>
            <a:chExt cx="2496405" cy="47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405" cy="47650"/>
            </a:xfrm>
            <a:custGeom>
              <a:avLst/>
              <a:gdLst/>
              <a:ahLst/>
              <a:cxnLst/>
              <a:rect r="r" b="b" t="t" l="l"/>
              <a:pathLst>
                <a:path h="47650" w="2496405">
                  <a:moveTo>
                    <a:pt x="0" y="0"/>
                  </a:moveTo>
                  <a:lnTo>
                    <a:pt x="2496405" y="0"/>
                  </a:lnTo>
                  <a:lnTo>
                    <a:pt x="2496405" y="47650"/>
                  </a:lnTo>
                  <a:lnTo>
                    <a:pt x="0" y="4765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6405" cy="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3055" y="0"/>
            <a:ext cx="8434945" cy="167138"/>
            <a:chOff x="0" y="0"/>
            <a:chExt cx="2137108" cy="423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42347"/>
            </a:xfrm>
            <a:custGeom>
              <a:avLst/>
              <a:gdLst/>
              <a:ahLst/>
              <a:cxnLst/>
              <a:rect r="r" b="b" t="t" l="l"/>
              <a:pathLst>
                <a:path h="42347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42347"/>
                  </a:lnTo>
                  <a:lnTo>
                    <a:pt x="0" y="4234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8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55341" y="313975"/>
            <a:ext cx="5907671" cy="4829525"/>
            <a:chOff x="0" y="0"/>
            <a:chExt cx="7876895" cy="64393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72257" y="0"/>
              <a:ext cx="7004638" cy="6439367"/>
            </a:xfrm>
            <a:custGeom>
              <a:avLst/>
              <a:gdLst/>
              <a:ahLst/>
              <a:cxnLst/>
              <a:rect r="r" b="b" t="t" l="l"/>
              <a:pathLst>
                <a:path h="6439367" w="7004638">
                  <a:moveTo>
                    <a:pt x="0" y="0"/>
                  </a:moveTo>
                  <a:lnTo>
                    <a:pt x="7004638" y="0"/>
                  </a:lnTo>
                  <a:lnTo>
                    <a:pt x="7004638" y="6439367"/>
                  </a:lnTo>
                  <a:lnTo>
                    <a:pt x="0" y="6439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698" t="0" r="-46669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-1284087">
              <a:off x="79151" y="3937167"/>
              <a:ext cx="859424" cy="596226"/>
            </a:xfrm>
            <a:custGeom>
              <a:avLst/>
              <a:gdLst/>
              <a:ahLst/>
              <a:cxnLst/>
              <a:rect r="r" b="b" t="t" l="l"/>
              <a:pathLst>
                <a:path h="596226" w="859424">
                  <a:moveTo>
                    <a:pt x="0" y="0"/>
                  </a:moveTo>
                  <a:lnTo>
                    <a:pt x="859425" y="0"/>
                  </a:lnTo>
                  <a:lnTo>
                    <a:pt x="859425" y="596226"/>
                  </a:lnTo>
                  <a:lnTo>
                    <a:pt x="0" y="596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-3825568">
              <a:off x="4234177" y="713415"/>
              <a:ext cx="1223662" cy="257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701"/>
                </a:lnSpc>
                <a:spcBef>
                  <a:spcPct val="0"/>
                </a:spcBef>
              </a:pPr>
              <a:r>
                <a:rPr lang="en-US" b="true" sz="1215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Photoresist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823469">
              <a:off x="4081660" y="2362877"/>
              <a:ext cx="1020463" cy="222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21"/>
                </a:lnSpc>
                <a:spcBef>
                  <a:spcPct val="0"/>
                </a:spcBef>
              </a:pPr>
              <a:r>
                <a:rPr lang="en-US" b="true" sz="1015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Poly Silicon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856061">
              <a:off x="4394547" y="2678025"/>
              <a:ext cx="445937" cy="222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21"/>
                </a:lnSpc>
                <a:spcBef>
                  <a:spcPct val="0"/>
                </a:spcBef>
              </a:pPr>
              <a:r>
                <a:rPr lang="en-US" b="true" sz="1015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SiO₂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849131">
              <a:off x="3103915" y="2678018"/>
              <a:ext cx="1025125" cy="222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21"/>
                </a:lnSpc>
                <a:spcBef>
                  <a:spcPct val="0"/>
                </a:spcBef>
              </a:pPr>
              <a:r>
                <a:rPr lang="en-US" b="true" sz="1015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Source (n+)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831344">
              <a:off x="5168250" y="3173581"/>
              <a:ext cx="894925" cy="222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21"/>
                </a:lnSpc>
                <a:spcBef>
                  <a:spcPct val="0"/>
                </a:spcBef>
              </a:pPr>
              <a:r>
                <a:rPr lang="en-US" b="true" sz="1015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Drain (n+)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840229">
              <a:off x="4179988" y="3174948"/>
              <a:ext cx="874927" cy="222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21"/>
                </a:lnSpc>
                <a:spcBef>
                  <a:spcPct val="0"/>
                </a:spcBef>
              </a:pPr>
              <a:r>
                <a:rPr lang="en-US" b="true" sz="1015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Substrate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779508">
              <a:off x="4147730" y="1921631"/>
              <a:ext cx="891551" cy="222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21"/>
                </a:lnSpc>
                <a:spcBef>
                  <a:spcPct val="0"/>
                </a:spcBef>
              </a:pPr>
              <a:r>
                <a:rPr lang="en-US" b="true" sz="1015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Metal - Cu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817766">
              <a:off x="2658927" y="2142269"/>
              <a:ext cx="1071337" cy="222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21"/>
                </a:lnSpc>
                <a:spcBef>
                  <a:spcPct val="0"/>
                </a:spcBef>
              </a:pPr>
              <a:r>
                <a:rPr lang="en-US" b="true" sz="1015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Metal - Cu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765628">
              <a:off x="5622960" y="2869603"/>
              <a:ext cx="1071337" cy="222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21"/>
                </a:lnSpc>
                <a:spcBef>
                  <a:spcPct val="0"/>
                </a:spcBef>
              </a:pPr>
              <a:r>
                <a:rPr lang="en-US" b="true" sz="1015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Metal - Cu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8758" y="890527"/>
            <a:ext cx="373881" cy="37388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73689" y="364244"/>
            <a:ext cx="6563412" cy="201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蝕刻</a:t>
            </a:r>
          </a:p>
          <a:p>
            <a:pPr algn="just" marL="0" indent="0" lvl="0">
              <a:lnSpc>
                <a:spcPts val="4800"/>
              </a:lnSpc>
            </a:pPr>
            <a:r>
              <a:rPr lang="en-US" b="true" sz="48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Etching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3689" y="3256156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•乾式蝕刻  (電漿蝕刻)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3689" y="3884806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•透過溶劑或電漿清除剩餘光阻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3689" y="2627506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•濕式蝕刻  (↑3μm 製程 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3689" y="4513456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•三步驟 : 蝕刻、沖洗、旋乾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3689" y="5142106"/>
            <a:ext cx="686959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•去除不需要的金屬部分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958073" y="313975"/>
            <a:ext cx="4725960" cy="4744620"/>
          </a:xfrm>
          <a:custGeom>
            <a:avLst/>
            <a:gdLst/>
            <a:ahLst/>
            <a:cxnLst/>
            <a:rect r="r" b="b" t="t" l="l"/>
            <a:pathLst>
              <a:path h="4744620" w="4725960">
                <a:moveTo>
                  <a:pt x="0" y="0"/>
                </a:moveTo>
                <a:lnTo>
                  <a:pt x="4725961" y="0"/>
                </a:lnTo>
                <a:lnTo>
                  <a:pt x="4725961" y="4744619"/>
                </a:lnTo>
                <a:lnTo>
                  <a:pt x="0" y="4744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044" t="0" r="-45365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1284087">
            <a:off x="12515925" y="3492186"/>
            <a:ext cx="701729" cy="486824"/>
          </a:xfrm>
          <a:custGeom>
            <a:avLst/>
            <a:gdLst/>
            <a:ahLst/>
            <a:cxnLst/>
            <a:rect r="r" b="b" t="t" l="l"/>
            <a:pathLst>
              <a:path h="486824" w="701729">
                <a:moveTo>
                  <a:pt x="0" y="0"/>
                </a:moveTo>
                <a:lnTo>
                  <a:pt x="701729" y="0"/>
                </a:lnTo>
                <a:lnTo>
                  <a:pt x="701729" y="486824"/>
                </a:lnTo>
                <a:lnTo>
                  <a:pt x="0" y="4868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536292">
            <a:off x="15058171" y="2102854"/>
            <a:ext cx="765347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Poly Silicon </a:t>
            </a:r>
          </a:p>
        </p:txBody>
      </p:sp>
      <p:sp>
        <p:nvSpPr>
          <p:cNvPr name="TextBox 32" id="32"/>
          <p:cNvSpPr txBox="true"/>
          <p:nvPr/>
        </p:nvSpPr>
        <p:spPr>
          <a:xfrm rot="606445">
            <a:off x="15302799" y="2305736"/>
            <a:ext cx="334452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33" id="33"/>
          <p:cNvSpPr txBox="true"/>
          <p:nvPr/>
        </p:nvSpPr>
        <p:spPr>
          <a:xfrm rot="565212">
            <a:off x="14322742" y="2406756"/>
            <a:ext cx="749686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Source (n+)</a:t>
            </a:r>
          </a:p>
        </p:txBody>
      </p:sp>
      <p:sp>
        <p:nvSpPr>
          <p:cNvPr name="TextBox 34" id="34"/>
          <p:cNvSpPr txBox="true"/>
          <p:nvPr/>
        </p:nvSpPr>
        <p:spPr>
          <a:xfrm rot="615202">
            <a:off x="15911715" y="2643389"/>
            <a:ext cx="653868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Drain (n+)</a:t>
            </a:r>
          </a:p>
        </p:txBody>
      </p:sp>
      <p:sp>
        <p:nvSpPr>
          <p:cNvPr name="TextBox 35" id="35"/>
          <p:cNvSpPr txBox="true"/>
          <p:nvPr/>
        </p:nvSpPr>
        <p:spPr>
          <a:xfrm rot="606344">
            <a:off x="15086240" y="2724688"/>
            <a:ext cx="773786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36" id="36"/>
          <p:cNvSpPr txBox="true"/>
          <p:nvPr/>
        </p:nvSpPr>
        <p:spPr>
          <a:xfrm rot="493778">
            <a:off x="15135776" y="1751581"/>
            <a:ext cx="668663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Metal - Cu</a:t>
            </a:r>
          </a:p>
        </p:txBody>
      </p:sp>
      <p:sp>
        <p:nvSpPr>
          <p:cNvPr name="TextBox 37" id="37"/>
          <p:cNvSpPr txBox="true"/>
          <p:nvPr/>
        </p:nvSpPr>
        <p:spPr>
          <a:xfrm rot="433730">
            <a:off x="14099568" y="2024015"/>
            <a:ext cx="656313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Metal - Cu</a:t>
            </a:r>
          </a:p>
        </p:txBody>
      </p:sp>
      <p:sp>
        <p:nvSpPr>
          <p:cNvPr name="TextBox 38" id="38"/>
          <p:cNvSpPr txBox="true"/>
          <p:nvPr/>
        </p:nvSpPr>
        <p:spPr>
          <a:xfrm rot="506799">
            <a:off x="16245273" y="2355450"/>
            <a:ext cx="669468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Metal - Cu</a:t>
            </a:r>
          </a:p>
        </p:txBody>
      </p:sp>
      <p:sp>
        <p:nvSpPr>
          <p:cNvPr name="TextBox 39" id="39"/>
          <p:cNvSpPr txBox="true"/>
          <p:nvPr/>
        </p:nvSpPr>
        <p:spPr>
          <a:xfrm rot="-4365884">
            <a:off x="15113304" y="912191"/>
            <a:ext cx="917747" cy="19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1"/>
              </a:lnSpc>
              <a:spcBef>
                <a:spcPct val="0"/>
              </a:spcBef>
            </a:pPr>
            <a:r>
              <a:rPr lang="en-US" b="true" sz="12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Photoresist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853055" y="5151631"/>
            <a:ext cx="5798836" cy="5141960"/>
            <a:chOff x="0" y="0"/>
            <a:chExt cx="7731781" cy="685594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501202" y="0"/>
              <a:ext cx="7230579" cy="6855946"/>
            </a:xfrm>
            <a:custGeom>
              <a:avLst/>
              <a:gdLst/>
              <a:ahLst/>
              <a:cxnLst/>
              <a:rect r="r" b="b" t="t" l="l"/>
              <a:pathLst>
                <a:path h="6855946" w="7230579">
                  <a:moveTo>
                    <a:pt x="0" y="0"/>
                  </a:moveTo>
                  <a:lnTo>
                    <a:pt x="7230579" y="0"/>
                  </a:lnTo>
                  <a:lnTo>
                    <a:pt x="7230579" y="6855946"/>
                  </a:lnTo>
                  <a:lnTo>
                    <a:pt x="0" y="6855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0150" t="0" r="-38349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-1284087">
              <a:off x="77960" y="3562168"/>
              <a:ext cx="846485" cy="587249"/>
            </a:xfrm>
            <a:custGeom>
              <a:avLst/>
              <a:gdLst/>
              <a:ahLst/>
              <a:cxnLst/>
              <a:rect r="r" b="b" t="t" l="l"/>
              <a:pathLst>
                <a:path h="587249" w="846485">
                  <a:moveTo>
                    <a:pt x="0" y="0"/>
                  </a:moveTo>
                  <a:lnTo>
                    <a:pt x="846485" y="0"/>
                  </a:lnTo>
                  <a:lnTo>
                    <a:pt x="846485" y="587249"/>
                  </a:lnTo>
                  <a:lnTo>
                    <a:pt x="0" y="587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955797">
            <a:off x="12450638" y="6680220"/>
            <a:ext cx="765347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Poly Silicon </a:t>
            </a:r>
          </a:p>
        </p:txBody>
      </p:sp>
      <p:sp>
        <p:nvSpPr>
          <p:cNvPr name="TextBox 44" id="44"/>
          <p:cNvSpPr txBox="true"/>
          <p:nvPr/>
        </p:nvSpPr>
        <p:spPr>
          <a:xfrm rot="1022572">
            <a:off x="11751311" y="7003304"/>
            <a:ext cx="749686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Source (n+)</a:t>
            </a:r>
          </a:p>
        </p:txBody>
      </p:sp>
      <p:sp>
        <p:nvSpPr>
          <p:cNvPr name="TextBox 45" id="45"/>
          <p:cNvSpPr txBox="true"/>
          <p:nvPr/>
        </p:nvSpPr>
        <p:spPr>
          <a:xfrm rot="1086879">
            <a:off x="13370091" y="7474899"/>
            <a:ext cx="653868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Drain (n+)</a:t>
            </a:r>
          </a:p>
        </p:txBody>
      </p:sp>
      <p:sp>
        <p:nvSpPr>
          <p:cNvPr name="TextBox 46" id="46"/>
          <p:cNvSpPr txBox="true"/>
          <p:nvPr/>
        </p:nvSpPr>
        <p:spPr>
          <a:xfrm rot="1054987">
            <a:off x="12508885" y="7459426"/>
            <a:ext cx="773786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Substrate</a:t>
            </a:r>
          </a:p>
        </p:txBody>
      </p:sp>
      <p:sp>
        <p:nvSpPr>
          <p:cNvPr name="TextBox 47" id="47"/>
          <p:cNvSpPr txBox="true"/>
          <p:nvPr/>
        </p:nvSpPr>
        <p:spPr>
          <a:xfrm rot="856792">
            <a:off x="12512855" y="6351999"/>
            <a:ext cx="668663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Metal - Cu</a:t>
            </a:r>
          </a:p>
        </p:txBody>
      </p:sp>
      <p:sp>
        <p:nvSpPr>
          <p:cNvPr name="TextBox 48" id="48"/>
          <p:cNvSpPr txBox="true"/>
          <p:nvPr/>
        </p:nvSpPr>
        <p:spPr>
          <a:xfrm rot="982826">
            <a:off x="11503905" y="6557686"/>
            <a:ext cx="656313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Metal - Cu</a:t>
            </a:r>
          </a:p>
        </p:txBody>
      </p:sp>
      <p:sp>
        <p:nvSpPr>
          <p:cNvPr name="TextBox 49" id="49"/>
          <p:cNvSpPr txBox="true"/>
          <p:nvPr/>
        </p:nvSpPr>
        <p:spPr>
          <a:xfrm rot="983185">
            <a:off x="13695256" y="7139590"/>
            <a:ext cx="669468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Metal - Cu</a:t>
            </a:r>
          </a:p>
        </p:txBody>
      </p:sp>
      <p:sp>
        <p:nvSpPr>
          <p:cNvPr name="TextBox 50" id="50"/>
          <p:cNvSpPr txBox="true"/>
          <p:nvPr/>
        </p:nvSpPr>
        <p:spPr>
          <a:xfrm rot="970789">
            <a:off x="12703544" y="6975268"/>
            <a:ext cx="334452" cy="17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  <a:spcBef>
                <a:spcPct val="0"/>
              </a:spcBef>
            </a:pPr>
            <a:r>
              <a:rPr lang="en-US" b="true" sz="1015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SiO₂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19/24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098929"/>
            <a:ext cx="9853055" cy="188071"/>
            <a:chOff x="0" y="0"/>
            <a:chExt cx="2496405" cy="47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96405" cy="47650"/>
            </a:xfrm>
            <a:custGeom>
              <a:avLst/>
              <a:gdLst/>
              <a:ahLst/>
              <a:cxnLst/>
              <a:rect r="r" b="b" t="t" l="l"/>
              <a:pathLst>
                <a:path h="47650" w="2496405">
                  <a:moveTo>
                    <a:pt x="0" y="0"/>
                  </a:moveTo>
                  <a:lnTo>
                    <a:pt x="2496405" y="0"/>
                  </a:lnTo>
                  <a:lnTo>
                    <a:pt x="2496405" y="47650"/>
                  </a:lnTo>
                  <a:lnTo>
                    <a:pt x="0" y="47650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96405" cy="85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53055" y="0"/>
            <a:ext cx="8434945" cy="167138"/>
            <a:chOff x="0" y="0"/>
            <a:chExt cx="2137108" cy="423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42347"/>
            </a:xfrm>
            <a:custGeom>
              <a:avLst/>
              <a:gdLst/>
              <a:ahLst/>
              <a:cxnLst/>
              <a:rect r="r" b="b" t="t" l="l"/>
              <a:pathLst>
                <a:path h="42347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42347"/>
                  </a:lnTo>
                  <a:lnTo>
                    <a:pt x="0" y="4234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80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3769" y="841759"/>
            <a:ext cx="373881" cy="3738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070527" y="4693860"/>
            <a:ext cx="3939736" cy="3422488"/>
          </a:xfrm>
          <a:custGeom>
            <a:avLst/>
            <a:gdLst/>
            <a:ahLst/>
            <a:cxnLst/>
            <a:rect r="r" b="b" t="t" l="l"/>
            <a:pathLst>
              <a:path h="3422488" w="3939736">
                <a:moveTo>
                  <a:pt x="0" y="0"/>
                </a:moveTo>
                <a:lnTo>
                  <a:pt x="3939736" y="0"/>
                </a:lnTo>
                <a:lnTo>
                  <a:pt x="3939736" y="3422488"/>
                </a:lnTo>
                <a:lnTo>
                  <a:pt x="0" y="3422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9069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9545" y="9105555"/>
            <a:ext cx="9473964" cy="47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59"/>
              </a:lnSpc>
            </a:pPr>
            <a:r>
              <a:rPr lang="en-US" sz="13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CMOS</a:t>
            </a:r>
            <a:r>
              <a:rPr lang="en-US" sz="13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 Cross section from wiki :</a:t>
            </a:r>
          </a:p>
          <a:p>
            <a:pPr algn="just">
              <a:lnSpc>
                <a:spcPts val="1959"/>
              </a:lnSpc>
            </a:pPr>
            <a:r>
              <a:rPr lang="en-US" sz="13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https://commons.wikimedia.org/wiki/File:Cmos_impurity_profile.PNG#/media/File:Cmos_impurity_profile.PNG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47899" y="8648700"/>
            <a:ext cx="364359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▲ CMOS Cross section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73619" y="8648700"/>
            <a:ext cx="146877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▲ NMOS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24603"/>
            <a:ext cx="15757446" cy="2863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276"/>
              </a:lnSpc>
            </a:pPr>
            <a:r>
              <a:rPr lang="en-US" sz="734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化學機械研磨</a:t>
            </a:r>
          </a:p>
          <a:p>
            <a:pPr algn="just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Chemical-Mechanical Polishing</a:t>
            </a:r>
          </a:p>
          <a:p>
            <a:pPr algn="just" marL="0" indent="0" lvl="0">
              <a:lnSpc>
                <a:spcPts val="4800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049895" y="2664090"/>
            <a:ext cx="3241602" cy="5889360"/>
          </a:xfrm>
          <a:custGeom>
            <a:avLst/>
            <a:gdLst/>
            <a:ahLst/>
            <a:cxnLst/>
            <a:rect r="r" b="b" t="t" l="l"/>
            <a:pathLst>
              <a:path h="5889360" w="3241602">
                <a:moveTo>
                  <a:pt x="0" y="0"/>
                </a:moveTo>
                <a:lnTo>
                  <a:pt x="3241602" y="0"/>
                </a:lnTo>
                <a:lnTo>
                  <a:pt x="3241602" y="5889360"/>
                </a:lnTo>
                <a:lnTo>
                  <a:pt x="0" y="58893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268298" y="4256758"/>
            <a:ext cx="7642146" cy="4296692"/>
            <a:chOff x="0" y="0"/>
            <a:chExt cx="10189528" cy="57289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89528" cy="5728922"/>
            </a:xfrm>
            <a:custGeom>
              <a:avLst/>
              <a:gdLst/>
              <a:ahLst/>
              <a:cxnLst/>
              <a:rect r="r" b="b" t="t" l="l"/>
              <a:pathLst>
                <a:path h="5728922" w="10189528">
                  <a:moveTo>
                    <a:pt x="0" y="0"/>
                  </a:moveTo>
                  <a:lnTo>
                    <a:pt x="10189528" y="0"/>
                  </a:lnTo>
                  <a:lnTo>
                    <a:pt x="10189528" y="5728922"/>
                  </a:lnTo>
                  <a:lnTo>
                    <a:pt x="0" y="5728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955797">
              <a:off x="4388398" y="2930490"/>
              <a:ext cx="930825" cy="202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89"/>
                </a:lnSpc>
                <a:spcBef>
                  <a:spcPct val="0"/>
                </a:spcBef>
              </a:pPr>
              <a:r>
                <a:rPr lang="en-US" b="true" sz="92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Poly Silicon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809571">
              <a:off x="3045399" y="3481139"/>
              <a:ext cx="915802" cy="202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89"/>
                </a:lnSpc>
                <a:spcBef>
                  <a:spcPct val="0"/>
                </a:spcBef>
              </a:pPr>
              <a:r>
                <a:rPr lang="en-US" b="true" sz="92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Source (n+)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920838">
              <a:off x="5822541" y="4195933"/>
              <a:ext cx="791125" cy="202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89"/>
                </a:lnSpc>
                <a:spcBef>
                  <a:spcPct val="0"/>
                </a:spcBef>
              </a:pPr>
              <a:r>
                <a:rPr lang="en-US" b="true" sz="92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Drain (n+)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910726">
              <a:off x="4390664" y="4210039"/>
              <a:ext cx="821340" cy="202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89"/>
                </a:lnSpc>
                <a:spcBef>
                  <a:spcPct val="0"/>
                </a:spcBef>
              </a:pPr>
              <a:r>
                <a:rPr lang="en-US" b="true" sz="92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Substrate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575517">
              <a:off x="4390190" y="2021904"/>
              <a:ext cx="809180" cy="202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89"/>
                </a:lnSpc>
                <a:spcBef>
                  <a:spcPct val="0"/>
                </a:spcBef>
              </a:pPr>
              <a:r>
                <a:rPr lang="en-US" b="true" sz="92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Metal - Cu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733972">
              <a:off x="2673649" y="2930340"/>
              <a:ext cx="819292" cy="202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89"/>
                </a:lnSpc>
                <a:spcBef>
                  <a:spcPct val="0"/>
                </a:spcBef>
              </a:pPr>
              <a:r>
                <a:rPr lang="en-US" b="true" sz="92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Metal - Cu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970789">
              <a:off x="4613618" y="3399796"/>
              <a:ext cx="375753" cy="202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89"/>
                </a:lnSpc>
                <a:spcBef>
                  <a:spcPct val="0"/>
                </a:spcBef>
              </a:pPr>
              <a:r>
                <a:rPr lang="en-US" b="true" sz="92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SiO₂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882157">
              <a:off x="6329355" y="3821078"/>
              <a:ext cx="819292" cy="202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89"/>
                </a:lnSpc>
                <a:spcBef>
                  <a:spcPct val="0"/>
                </a:spcBef>
              </a:pPr>
              <a:r>
                <a:rPr lang="en-US" b="true" sz="92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Metal - Cu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575517">
              <a:off x="4635304" y="2447042"/>
              <a:ext cx="330245" cy="202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89"/>
                </a:lnSpc>
                <a:spcBef>
                  <a:spcPct val="0"/>
                </a:spcBef>
              </a:pPr>
              <a:r>
                <a:rPr lang="en-US" b="true" sz="92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rPr>
                <a:t>W ?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89545" y="9592717"/>
            <a:ext cx="9473964" cy="47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59"/>
              </a:lnSpc>
            </a:pPr>
            <a:r>
              <a:rPr lang="en-US" sz="13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CMP</a:t>
            </a:r>
            <a:r>
              <a:rPr lang="en-US" sz="1399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 from wiki :</a:t>
            </a:r>
          </a:p>
          <a:p>
            <a:pPr algn="just">
              <a:lnSpc>
                <a:spcPts val="1959"/>
              </a:lnSpc>
            </a:pPr>
            <a:r>
              <a:rPr lang="en-US" sz="1399" u="sng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  <a:hlinkClick r:id="rId5" tooltip="https://zh.wikipedia.org/zh-tw/%E5%8C%96%E5%AD%A6%E6%9C%BA%E6%A2%B0%E5%B9%B3%E5%9D%A6%E5%8C%96#/media/File:Cmp_prinzip.jpg"/>
              </a:rPr>
              <a:t>https://commons.wikimedia.org/wiki/File:Cmos_impurity_profile.PNG#/media/File:Cmos_impurity_profile.PNG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259300" y="9680463"/>
            <a:ext cx="762375" cy="39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sz="2298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20/24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DAHR0TSPv8g</dc:identifier>
  <dcterms:modified xsi:type="dcterms:W3CDTF">2011-08-01T06:04:30Z</dcterms:modified>
  <cp:revision>1</cp:revision>
  <dc:title>半導體製程技術_(Security C)</dc:title>
</cp:coreProperties>
</file>